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443DC0-00E5-437F-9F55-9C2D7CDC0F0A}" v="1" dt="2026-04-15T09:40:22.0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708" y="2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slide" Target="slides/slide20.xml"/><Relationship Id="rId38" Type="http://schemas.openxmlformats.org/officeDocument/2006/relationships/slide" Target="slides/slide21.xml"/><Relationship Id="rId39" Type="http://schemas.openxmlformats.org/officeDocument/2006/relationships/slide" Target="slides/slide2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dhakrishnan Karnakumar" userId="a3d96535ab879513" providerId="LiveId" clId="{D0A16E96-5F2D-4F76-B535-027432E9B251}"/>
    <pc:docChg chg="modSld">
      <pc:chgData name="Radhakrishnan Karnakumar" userId="a3d96535ab879513" providerId="LiveId" clId="{D0A16E96-5F2D-4F76-B535-027432E9B251}" dt="2026-04-15T09:43:25.210" v="130" actId="6549"/>
      <pc:docMkLst>
        <pc:docMk/>
      </pc:docMkLst>
      <pc:sldChg chg="modSp mod">
        <pc:chgData name="Radhakrishnan Karnakumar" userId="a3d96535ab879513" providerId="LiveId" clId="{D0A16E96-5F2D-4F76-B535-027432E9B251}" dt="2026-04-15T09:40:43.900" v="104" actId="113"/>
        <pc:sldMkLst>
          <pc:docMk/>
          <pc:sldMk cId="0" sldId="257"/>
        </pc:sldMkLst>
        <pc:spChg chg="mod">
          <ac:chgData name="Radhakrishnan Karnakumar" userId="a3d96535ab879513" providerId="LiveId" clId="{D0A16E96-5F2D-4F76-B535-027432E9B251}" dt="2026-04-15T09:40:43.900" v="104" actId="113"/>
          <ac:spMkLst>
            <pc:docMk/>
            <pc:sldMk cId="0" sldId="257"/>
            <ac:spMk id="36" creationId="{00000000-0000-0000-0000-000000000000}"/>
          </ac:spMkLst>
        </pc:spChg>
      </pc:sldChg>
      <pc:sldChg chg="modSp mod">
        <pc:chgData name="Radhakrishnan Karnakumar" userId="a3d96535ab879513" providerId="LiveId" clId="{D0A16E96-5F2D-4F76-B535-027432E9B251}" dt="2026-04-15T09:39:31.139" v="86" actId="20577"/>
        <pc:sldMkLst>
          <pc:docMk/>
          <pc:sldMk cId="0" sldId="258"/>
        </pc:sldMkLst>
        <pc:spChg chg="mod">
          <ac:chgData name="Radhakrishnan Karnakumar" userId="a3d96535ab879513" providerId="LiveId" clId="{D0A16E96-5F2D-4F76-B535-027432E9B251}" dt="2026-04-15T09:39:31.139" v="86" actId="20577"/>
          <ac:spMkLst>
            <pc:docMk/>
            <pc:sldMk cId="0" sldId="258"/>
            <ac:spMk id="16" creationId="{00000000-0000-0000-0000-000000000000}"/>
          </ac:spMkLst>
        </pc:spChg>
        <pc:spChg chg="mod">
          <ac:chgData name="Radhakrishnan Karnakumar" userId="a3d96535ab879513" providerId="LiveId" clId="{D0A16E96-5F2D-4F76-B535-027432E9B251}" dt="2026-04-15T09:35:36.706" v="10" actId="20577"/>
          <ac:spMkLst>
            <pc:docMk/>
            <pc:sldMk cId="0" sldId="258"/>
            <ac:spMk id="20" creationId="{00000000-0000-0000-0000-000000000000}"/>
          </ac:spMkLst>
        </pc:spChg>
      </pc:sldChg>
      <pc:sldChg chg="modSp mod">
        <pc:chgData name="Radhakrishnan Karnakumar" userId="a3d96535ab879513" providerId="LiveId" clId="{D0A16E96-5F2D-4F76-B535-027432E9B251}" dt="2026-04-15T09:41:54.662" v="118" actId="20577"/>
        <pc:sldMkLst>
          <pc:docMk/>
          <pc:sldMk cId="0" sldId="259"/>
        </pc:sldMkLst>
        <pc:spChg chg="mod">
          <ac:chgData name="Radhakrishnan Karnakumar" userId="a3d96535ab879513" providerId="LiveId" clId="{D0A16E96-5F2D-4F76-B535-027432E9B251}" dt="2026-04-15T09:41:54.662" v="118" actId="20577"/>
          <ac:spMkLst>
            <pc:docMk/>
            <pc:sldMk cId="0" sldId="259"/>
            <ac:spMk id="20" creationId="{00000000-0000-0000-0000-000000000000}"/>
          </ac:spMkLst>
        </pc:spChg>
      </pc:sldChg>
      <pc:sldChg chg="modSp mod">
        <pc:chgData name="Radhakrishnan Karnakumar" userId="a3d96535ab879513" providerId="LiveId" clId="{D0A16E96-5F2D-4F76-B535-027432E9B251}" dt="2026-04-15T09:38:54.503" v="73" actId="20577"/>
        <pc:sldMkLst>
          <pc:docMk/>
          <pc:sldMk cId="0" sldId="260"/>
        </pc:sldMkLst>
        <pc:spChg chg="mod">
          <ac:chgData name="Radhakrishnan Karnakumar" userId="a3d96535ab879513" providerId="LiveId" clId="{D0A16E96-5F2D-4F76-B535-027432E9B251}" dt="2026-04-15T09:38:54.503" v="73" actId="20577"/>
          <ac:spMkLst>
            <pc:docMk/>
            <pc:sldMk cId="0" sldId="260"/>
            <ac:spMk id="16" creationId="{00000000-0000-0000-0000-000000000000}"/>
          </ac:spMkLst>
        </pc:spChg>
      </pc:sldChg>
      <pc:sldChg chg="modSp mod">
        <pc:chgData name="Radhakrishnan Karnakumar" userId="a3d96535ab879513" providerId="LiveId" clId="{D0A16E96-5F2D-4F76-B535-027432E9B251}" dt="2026-04-15T09:43:25.210" v="130" actId="6549"/>
        <pc:sldMkLst>
          <pc:docMk/>
          <pc:sldMk cId="0" sldId="262"/>
        </pc:sldMkLst>
        <pc:spChg chg="mod">
          <ac:chgData name="Radhakrishnan Karnakumar" userId="a3d96535ab879513" providerId="LiveId" clId="{D0A16E96-5F2D-4F76-B535-027432E9B251}" dt="2026-04-15T09:43:25.210" v="130" actId="6549"/>
          <ac:spMkLst>
            <pc:docMk/>
            <pc:sldMk cId="0" sldId="262"/>
            <ac:spMk id="16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457200" cy="685800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600200"/>
            <a:ext cx="7132320" cy="6400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3566160"/>
            <a:ext cx="7132320" cy="6400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ZENOPS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DE971"/>
                </a:solidFill>
                <a:latin typeface="Calibri"/>
              </a:rPr>
              <a:t>AI Co-Worker for Enterprise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718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8D4D5"/>
                </a:solidFill>
                <a:latin typeface="Calibri"/>
              </a:rPr>
              <a:t>Reads incoming requests — Decides the actions — Acts across your enterprise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4903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Autonomous  ·  Auditable  ·  Always-On  ·  24/7</a:t>
            </a:r>
          </a:p>
        </p:txBody>
      </p:sp>
      <p:sp>
        <p:nvSpPr>
          <p:cNvPr id="9" name="Oval 8"/>
          <p:cNvSpPr/>
          <p:nvPr/>
        </p:nvSpPr>
        <p:spPr>
          <a:xfrm>
            <a:off x="0" y="6080760"/>
            <a:ext cx="2031492" cy="50292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ServiceNow</a:t>
            </a:r>
          </a:p>
        </p:txBody>
      </p:sp>
      <p:sp>
        <p:nvSpPr>
          <p:cNvPr id="10" name="Oval 9"/>
          <p:cNvSpPr/>
          <p:nvPr/>
        </p:nvSpPr>
        <p:spPr>
          <a:xfrm>
            <a:off x="2031492" y="6080760"/>
            <a:ext cx="2031492" cy="50292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Salesforce</a:t>
            </a:r>
          </a:p>
        </p:txBody>
      </p:sp>
      <p:sp>
        <p:nvSpPr>
          <p:cNvPr id="11" name="Oval 10"/>
          <p:cNvSpPr/>
          <p:nvPr/>
        </p:nvSpPr>
        <p:spPr>
          <a:xfrm>
            <a:off x="4062984" y="6080760"/>
            <a:ext cx="2031492" cy="50292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SAP</a:t>
            </a:r>
          </a:p>
        </p:txBody>
      </p:sp>
      <p:sp>
        <p:nvSpPr>
          <p:cNvPr id="12" name="Oval 11"/>
          <p:cNvSpPr/>
          <p:nvPr/>
        </p:nvSpPr>
        <p:spPr>
          <a:xfrm>
            <a:off x="6094476" y="6080760"/>
            <a:ext cx="2031492" cy="502920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MuleSoft</a:t>
            </a:r>
          </a:p>
        </p:txBody>
      </p:sp>
      <p:sp>
        <p:nvSpPr>
          <p:cNvPr id="13" name="Oval 12"/>
          <p:cNvSpPr/>
          <p:nvPr/>
        </p:nvSpPr>
        <p:spPr>
          <a:xfrm>
            <a:off x="8125968" y="6080760"/>
            <a:ext cx="2031492" cy="50292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Custom MCP</a:t>
            </a:r>
          </a:p>
        </p:txBody>
      </p:sp>
      <p:sp>
        <p:nvSpPr>
          <p:cNvPr id="14" name="Oval 13"/>
          <p:cNvSpPr/>
          <p:nvPr/>
        </p:nvSpPr>
        <p:spPr>
          <a:xfrm>
            <a:off x="10157460" y="6080760"/>
            <a:ext cx="2031492" cy="502920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8D4D5"/>
                </a:solidFill>
                <a:latin typeface="Calibri"/>
              </a:rPr>
              <a:t>Confidential  |  2026  |  Internal Use Only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457200" cy="685800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600200"/>
            <a:ext cx="7132320" cy="6400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3566160"/>
            <a:ext cx="7132320" cy="6400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ZENOPS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231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DE971"/>
                </a:solidFill>
                <a:latin typeface="Calibri"/>
              </a:rPr>
              <a:t>AI Co-Worker for Enterprise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718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8D4D5"/>
                </a:solidFill>
                <a:latin typeface="Calibri"/>
              </a:rPr>
              <a:t>Reads incoming requests — Decides the actions — Acts across your enterprise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4903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Autonomous  ·  Auditable  ·  Always-On  ·  24/7</a:t>
            </a:r>
          </a:p>
        </p:txBody>
      </p:sp>
      <p:sp>
        <p:nvSpPr>
          <p:cNvPr id="9" name="Oval 8"/>
          <p:cNvSpPr/>
          <p:nvPr/>
        </p:nvSpPr>
        <p:spPr>
          <a:xfrm>
            <a:off x="0" y="6080760"/>
            <a:ext cx="2031492" cy="50292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ServiceNow</a:t>
            </a:r>
          </a:p>
        </p:txBody>
      </p:sp>
      <p:sp>
        <p:nvSpPr>
          <p:cNvPr id="10" name="Oval 9"/>
          <p:cNvSpPr/>
          <p:nvPr/>
        </p:nvSpPr>
        <p:spPr>
          <a:xfrm>
            <a:off x="2031492" y="6080760"/>
            <a:ext cx="2031492" cy="50292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Salesforce</a:t>
            </a:r>
          </a:p>
        </p:txBody>
      </p:sp>
      <p:sp>
        <p:nvSpPr>
          <p:cNvPr id="11" name="Oval 10"/>
          <p:cNvSpPr/>
          <p:nvPr/>
        </p:nvSpPr>
        <p:spPr>
          <a:xfrm>
            <a:off x="4062984" y="6080760"/>
            <a:ext cx="2031492" cy="50292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SAP</a:t>
            </a:r>
          </a:p>
        </p:txBody>
      </p:sp>
      <p:sp>
        <p:nvSpPr>
          <p:cNvPr id="12" name="Oval 11"/>
          <p:cNvSpPr/>
          <p:nvPr/>
        </p:nvSpPr>
        <p:spPr>
          <a:xfrm>
            <a:off x="6094476" y="6080760"/>
            <a:ext cx="2031492" cy="502920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MuleSoft</a:t>
            </a:r>
          </a:p>
        </p:txBody>
      </p:sp>
      <p:sp>
        <p:nvSpPr>
          <p:cNvPr id="13" name="Oval 12"/>
          <p:cNvSpPr/>
          <p:nvPr/>
        </p:nvSpPr>
        <p:spPr>
          <a:xfrm>
            <a:off x="8125968" y="6080760"/>
            <a:ext cx="2031492" cy="50292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Custom MCP</a:t>
            </a:r>
          </a:p>
        </p:txBody>
      </p:sp>
      <p:sp>
        <p:nvSpPr>
          <p:cNvPr id="14" name="Oval 13"/>
          <p:cNvSpPr/>
          <p:nvPr/>
        </p:nvSpPr>
        <p:spPr>
          <a:xfrm>
            <a:off x="10157460" y="6080760"/>
            <a:ext cx="2031492" cy="502920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Enterprise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8D4D5"/>
                </a:solidFill>
                <a:latin typeface="Calibri"/>
              </a:rPr>
              <a:t>Confidential  |  2026  | 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Seven sections — from problem through to commercial &amp; next steps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ZENOPS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" y="1143000"/>
            <a:ext cx="475488" cy="566928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30304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1704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  <a:latin typeface="Calibri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4475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The enterprise IT automation gap that costs billions every year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" y="1737360"/>
            <a:ext cx="11887200" cy="18288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7160" y="1892807"/>
            <a:ext cx="475488" cy="566928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30304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92023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  <a:latin typeface="Calibri"/>
              </a:rPr>
              <a:t>Why 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19456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Three market forces aligning in 2024–2026 that make this possible</a:t>
            </a:r>
          </a:p>
        </p:txBody>
      </p:sp>
      <p:sp>
        <p:nvSpPr>
          <p:cNvPr id="18" name="Oval 17"/>
          <p:cNvSpPr/>
          <p:nvPr/>
        </p:nvSpPr>
        <p:spPr>
          <a:xfrm>
            <a:off x="137160" y="2487168"/>
            <a:ext cx="11887200" cy="18288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7160" y="2642615"/>
            <a:ext cx="475488" cy="56692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30304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67004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  <a:latin typeface="Calibri"/>
              </a:rPr>
              <a:t>The ZENOPS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4436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What it does, how it works, and a real-world before/after</a:t>
            </a:r>
          </a:p>
        </p:txBody>
      </p:sp>
      <p:sp>
        <p:nvSpPr>
          <p:cNvPr id="22" name="Oval 21"/>
          <p:cNvSpPr/>
          <p:nvPr/>
        </p:nvSpPr>
        <p:spPr>
          <a:xfrm>
            <a:off x="137160" y="3236975"/>
            <a:ext cx="11887200" cy="18288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7160" y="3392424"/>
            <a:ext cx="475488" cy="566928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30304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4198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  <a:latin typeface="Calibri"/>
              </a:rPr>
              <a:t>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69417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Current demo state → target enterprise-grade architecture</a:t>
            </a:r>
          </a:p>
        </p:txBody>
      </p:sp>
      <p:sp>
        <p:nvSpPr>
          <p:cNvPr id="26" name="Oval 25"/>
          <p:cNvSpPr/>
          <p:nvPr/>
        </p:nvSpPr>
        <p:spPr>
          <a:xfrm>
            <a:off x="137160" y="3986784"/>
            <a:ext cx="11887200" cy="18288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7160" y="4142231"/>
            <a:ext cx="475488" cy="566928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30304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169663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  <a:latin typeface="Calibri"/>
              </a:rPr>
              <a:t>Business 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43983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ROI, competitive landscape, and pricing model</a:t>
            </a:r>
          </a:p>
        </p:txBody>
      </p:sp>
      <p:sp>
        <p:nvSpPr>
          <p:cNvPr id="30" name="Oval 29"/>
          <p:cNvSpPr/>
          <p:nvPr/>
        </p:nvSpPr>
        <p:spPr>
          <a:xfrm>
            <a:off x="137160" y="4736592"/>
            <a:ext cx="11887200" cy="18288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7160" y="4892040"/>
            <a:ext cx="475488" cy="566928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30304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9194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  <a:latin typeface="Calibri"/>
              </a:rPr>
              <a:t>Go-to-Market &amp; Roadmap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93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6–10 week path to first paid pilot</a:t>
            </a:r>
          </a:p>
        </p:txBody>
      </p:sp>
      <p:sp>
        <p:nvSpPr>
          <p:cNvPr id="34" name="Oval 33"/>
          <p:cNvSpPr/>
          <p:nvPr/>
        </p:nvSpPr>
        <p:spPr>
          <a:xfrm>
            <a:off x="137160" y="5486400"/>
            <a:ext cx="11887200" cy="18288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7160" y="5641848"/>
            <a:ext cx="475488" cy="56692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30304"/>
                </a:solidFill>
                <a:latin typeface="Calibri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692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  <a:latin typeface="Calibri"/>
              </a:rPr>
              <a:t>Next Steps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94360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Concrete actions to move from today to a scoped pilot</a:t>
            </a:r>
          </a:p>
        </p:txBody>
      </p:sp>
      <p:sp>
        <p:nvSpPr>
          <p:cNvPr id="38" name="Oval 37"/>
          <p:cNvSpPr/>
          <p:nvPr/>
        </p:nvSpPr>
        <p:spPr>
          <a:xfrm>
            <a:off x="137160" y="6236208"/>
            <a:ext cx="11887200" cy="18288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Seven sections — from problem through to commercial &amp; next steps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ZENOPS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" y="1143000"/>
            <a:ext cx="475488" cy="566928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30304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17043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  <a:latin typeface="Calibri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4475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The enterprise IT automation gap that costs billions every year</a:t>
            </a:r>
          </a:p>
        </p:txBody>
      </p:sp>
      <p:sp>
        <p:nvSpPr>
          <p:cNvPr id="14" name="Oval 13"/>
          <p:cNvSpPr/>
          <p:nvPr/>
        </p:nvSpPr>
        <p:spPr>
          <a:xfrm>
            <a:off x="137160" y="1737360"/>
            <a:ext cx="11887200" cy="18288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7160" y="1892807"/>
            <a:ext cx="475488" cy="566928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30304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92023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  <a:latin typeface="Calibri"/>
              </a:rPr>
              <a:t>Why 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19456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Three market forces aligning in 2024–2026 that make this possible</a:t>
            </a:r>
          </a:p>
        </p:txBody>
      </p:sp>
      <p:sp>
        <p:nvSpPr>
          <p:cNvPr id="18" name="Oval 17"/>
          <p:cNvSpPr/>
          <p:nvPr/>
        </p:nvSpPr>
        <p:spPr>
          <a:xfrm>
            <a:off x="137160" y="2487168"/>
            <a:ext cx="11887200" cy="18288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7160" y="2642615"/>
            <a:ext cx="475488" cy="56692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30304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67004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  <a:latin typeface="Calibri"/>
              </a:rPr>
              <a:t>The ZENOPS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94436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What it does, how it works, and a real-world before/after</a:t>
            </a:r>
          </a:p>
        </p:txBody>
      </p:sp>
      <p:sp>
        <p:nvSpPr>
          <p:cNvPr id="22" name="Oval 21"/>
          <p:cNvSpPr/>
          <p:nvPr/>
        </p:nvSpPr>
        <p:spPr>
          <a:xfrm>
            <a:off x="137160" y="3236975"/>
            <a:ext cx="11887200" cy="18288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7160" y="3392424"/>
            <a:ext cx="475488" cy="566928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30304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4198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  <a:latin typeface="Calibri"/>
              </a:rPr>
              <a:t>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694176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Current demo state → target enterprise-grade architecture</a:t>
            </a:r>
          </a:p>
        </p:txBody>
      </p:sp>
      <p:sp>
        <p:nvSpPr>
          <p:cNvPr id="26" name="Oval 25"/>
          <p:cNvSpPr/>
          <p:nvPr/>
        </p:nvSpPr>
        <p:spPr>
          <a:xfrm>
            <a:off x="137160" y="3986784"/>
            <a:ext cx="11887200" cy="18288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7160" y="4142231"/>
            <a:ext cx="475488" cy="566928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30304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169663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  <a:latin typeface="Calibri"/>
              </a:rPr>
              <a:t>Business 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443983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ROI, competitive landscape, and pricing model</a:t>
            </a:r>
          </a:p>
        </p:txBody>
      </p:sp>
      <p:sp>
        <p:nvSpPr>
          <p:cNvPr id="30" name="Oval 29"/>
          <p:cNvSpPr/>
          <p:nvPr/>
        </p:nvSpPr>
        <p:spPr>
          <a:xfrm>
            <a:off x="137160" y="4736592"/>
            <a:ext cx="11887200" cy="18288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7160" y="4892040"/>
            <a:ext cx="475488" cy="566928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30304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9194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  <a:latin typeface="Calibri"/>
              </a:rPr>
              <a:t>Go-to-Market &amp; Roadmap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9379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6–10 week path to first paid pilot</a:t>
            </a:r>
          </a:p>
        </p:txBody>
      </p:sp>
      <p:sp>
        <p:nvSpPr>
          <p:cNvPr id="34" name="Oval 33"/>
          <p:cNvSpPr/>
          <p:nvPr/>
        </p:nvSpPr>
        <p:spPr>
          <a:xfrm>
            <a:off x="137160" y="5486400"/>
            <a:ext cx="11887200" cy="18288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7160" y="5641848"/>
            <a:ext cx="475488" cy="56692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30304"/>
                </a:solidFill>
                <a:latin typeface="Calibri"/>
              </a:rP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692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30304"/>
                </a:solidFill>
                <a:latin typeface="Calibri"/>
              </a:rPr>
              <a:t>Next Steps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94360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6666"/>
                </a:solidFill>
                <a:latin typeface="Calibri"/>
              </a:rPr>
              <a:t>Concrete actions to move from today to a scoped pilot</a:t>
            </a:r>
          </a:p>
        </p:txBody>
      </p:sp>
      <p:sp>
        <p:nvSpPr>
          <p:cNvPr id="38" name="Oval 37"/>
          <p:cNvSpPr/>
          <p:nvPr/>
        </p:nvSpPr>
        <p:spPr>
          <a:xfrm>
            <a:off x="137160" y="6236208"/>
            <a:ext cx="11887200" cy="18288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457200" cy="685800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920240"/>
            <a:ext cx="7132320" cy="64008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3840480"/>
            <a:ext cx="7132320" cy="64008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01  —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7176"/>
                </a:solidFill>
                <a:latin typeface="Calibri"/>
              </a:rPr>
              <a:t>The Enterprise IT Automation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37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8D4D5"/>
                </a:solidFill>
                <a:latin typeface="Calibri"/>
              </a:rPr>
              <a:t>Every large company runs the same tired pattern — and it costs them millions every year.</a:t>
            </a:r>
          </a:p>
        </p:txBody>
      </p:sp>
      <p:sp>
        <p:nvSpPr>
          <p:cNvPr id="8" name="Oval 7"/>
          <p:cNvSpPr/>
          <p:nvPr/>
        </p:nvSpPr>
        <p:spPr>
          <a:xfrm>
            <a:off x="0" y="6080760"/>
            <a:ext cx="2031492" cy="50292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Repetitive Work</a:t>
            </a:r>
          </a:p>
        </p:txBody>
      </p:sp>
      <p:sp>
        <p:nvSpPr>
          <p:cNvPr id="9" name="Oval 8"/>
          <p:cNvSpPr/>
          <p:nvPr/>
        </p:nvSpPr>
        <p:spPr>
          <a:xfrm>
            <a:off x="2031492" y="6080760"/>
            <a:ext cx="2031492" cy="502920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Slow Resolution</a:t>
            </a:r>
          </a:p>
        </p:txBody>
      </p:sp>
      <p:sp>
        <p:nvSpPr>
          <p:cNvPr id="10" name="Oval 9"/>
          <p:cNvSpPr/>
          <p:nvPr/>
        </p:nvSpPr>
        <p:spPr>
          <a:xfrm>
            <a:off x="4062984" y="6080760"/>
            <a:ext cx="2031492" cy="50292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System Sprawl</a:t>
            </a:r>
          </a:p>
        </p:txBody>
      </p:sp>
      <p:sp>
        <p:nvSpPr>
          <p:cNvPr id="11" name="Oval 10"/>
          <p:cNvSpPr/>
          <p:nvPr/>
        </p:nvSpPr>
        <p:spPr>
          <a:xfrm>
            <a:off x="6094476" y="6080760"/>
            <a:ext cx="2031492" cy="50292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Off-Hours Gaps</a:t>
            </a:r>
          </a:p>
        </p:txBody>
      </p:sp>
      <p:sp>
        <p:nvSpPr>
          <p:cNvPr id="12" name="Oval 11"/>
          <p:cNvSpPr/>
          <p:nvPr/>
        </p:nvSpPr>
        <p:spPr>
          <a:xfrm>
            <a:off x="8125968" y="6080760"/>
            <a:ext cx="2031492" cy="50292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Audit Risk</a:t>
            </a:r>
          </a:p>
        </p:txBody>
      </p:sp>
      <p:sp>
        <p:nvSpPr>
          <p:cNvPr id="13" name="Oval 12"/>
          <p:cNvSpPr/>
          <p:nvPr/>
        </p:nvSpPr>
        <p:spPr>
          <a:xfrm>
            <a:off x="10157460" y="6080760"/>
            <a:ext cx="2031492" cy="502920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High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8D4D5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457200" cy="685800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920240"/>
            <a:ext cx="7132320" cy="64008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3840480"/>
            <a:ext cx="7132320" cy="64008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01  —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7176"/>
                </a:solidFill>
                <a:latin typeface="Calibri"/>
              </a:rPr>
              <a:t>The Enterprise IT Automation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37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8D4D5"/>
                </a:solidFill>
                <a:latin typeface="Calibri"/>
              </a:rPr>
              <a:t>Every large company runs the same tired pattern — and it costs them millions every year.</a:t>
            </a:r>
          </a:p>
        </p:txBody>
      </p:sp>
      <p:sp>
        <p:nvSpPr>
          <p:cNvPr id="8" name="Oval 7"/>
          <p:cNvSpPr/>
          <p:nvPr/>
        </p:nvSpPr>
        <p:spPr>
          <a:xfrm>
            <a:off x="0" y="6080760"/>
            <a:ext cx="2031492" cy="50292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Repetitive Work</a:t>
            </a:r>
          </a:p>
        </p:txBody>
      </p:sp>
      <p:sp>
        <p:nvSpPr>
          <p:cNvPr id="9" name="Oval 8"/>
          <p:cNvSpPr/>
          <p:nvPr/>
        </p:nvSpPr>
        <p:spPr>
          <a:xfrm>
            <a:off x="2031492" y="6080760"/>
            <a:ext cx="2031492" cy="502920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Slow Resolution</a:t>
            </a:r>
          </a:p>
        </p:txBody>
      </p:sp>
      <p:sp>
        <p:nvSpPr>
          <p:cNvPr id="10" name="Oval 9"/>
          <p:cNvSpPr/>
          <p:nvPr/>
        </p:nvSpPr>
        <p:spPr>
          <a:xfrm>
            <a:off x="4062984" y="6080760"/>
            <a:ext cx="2031492" cy="50292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System Sprawl</a:t>
            </a:r>
          </a:p>
        </p:txBody>
      </p:sp>
      <p:sp>
        <p:nvSpPr>
          <p:cNvPr id="11" name="Oval 10"/>
          <p:cNvSpPr/>
          <p:nvPr/>
        </p:nvSpPr>
        <p:spPr>
          <a:xfrm>
            <a:off x="6094476" y="6080760"/>
            <a:ext cx="2031492" cy="50292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Off-Hours Gaps</a:t>
            </a:r>
          </a:p>
        </p:txBody>
      </p:sp>
      <p:sp>
        <p:nvSpPr>
          <p:cNvPr id="12" name="Oval 11"/>
          <p:cNvSpPr/>
          <p:nvPr/>
        </p:nvSpPr>
        <p:spPr>
          <a:xfrm>
            <a:off x="8125968" y="6080760"/>
            <a:ext cx="2031492" cy="50292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Audit Risk</a:t>
            </a:r>
          </a:p>
        </p:txBody>
      </p:sp>
      <p:sp>
        <p:nvSpPr>
          <p:cNvPr id="13" name="Oval 12"/>
          <p:cNvSpPr/>
          <p:nvPr/>
        </p:nvSpPr>
        <p:spPr>
          <a:xfrm>
            <a:off x="10157460" y="6080760"/>
            <a:ext cx="2031492" cy="502920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High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8D4D5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Enterprise IT Pain Points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Five compounding problems that ZENOPS eliminates in one platform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01 Problem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" y="1115568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THE FIVE PAIN POINTS  —  with illustrative cost impact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" y="1417320"/>
            <a:ext cx="2286000" cy="91440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Repetitive Ticket Work</a:t>
            </a:r>
          </a:p>
        </p:txBody>
      </p:sp>
      <p:sp>
        <p:nvSpPr>
          <p:cNvPr id="13" name="Oval 12"/>
          <p:cNvSpPr/>
          <p:nvPr/>
        </p:nvSpPr>
        <p:spPr>
          <a:xfrm>
            <a:off x="2404872" y="1417320"/>
            <a:ext cx="9665208" cy="9144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6312" y="1472184"/>
            <a:ext cx="9482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70%+ of L1 agents' day is password resets, account creations, and cross-system copy-paste. Teams of 50–500 people doing the same rote work every day. At USD 35–60k/yr per FTE, this is a significant and quantifiable cost.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" y="2423160"/>
            <a:ext cx="2286000" cy="914400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Slow Resolution Times</a:t>
            </a:r>
          </a:p>
        </p:txBody>
      </p:sp>
      <p:sp>
        <p:nvSpPr>
          <p:cNvPr id="16" name="Oval 15"/>
          <p:cNvSpPr/>
          <p:nvPr/>
        </p:nvSpPr>
        <p:spPr>
          <a:xfrm>
            <a:off x="2404872" y="2423160"/>
            <a:ext cx="9665208" cy="914400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96312" y="2478024"/>
            <a:ext cx="9482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Employees wait 2+ hours for routine requests. Gartner: average employee loses ~30 min per IT ticket waiting. At 20,000 tickets/month across a 5,000-person company, that's 10,000 person-hours lost monthly.</a:t>
            </a:r>
          </a:p>
        </p:txBody>
      </p:sp>
      <p:sp>
        <p:nvSpPr>
          <p:cNvPr id="18" name="Oval 17"/>
          <p:cNvSpPr/>
          <p:nvPr/>
        </p:nvSpPr>
        <p:spPr>
          <a:xfrm>
            <a:off x="118872" y="3429000"/>
            <a:ext cx="2286000" cy="91440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System Sprawl</a:t>
            </a:r>
          </a:p>
        </p:txBody>
      </p:sp>
      <p:sp>
        <p:nvSpPr>
          <p:cNvPr id="19" name="Oval 18"/>
          <p:cNvSpPr/>
          <p:nvPr/>
        </p:nvSpPr>
        <p:spPr>
          <a:xfrm>
            <a:off x="2404872" y="3429000"/>
            <a:ext cx="9665208" cy="9144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96312" y="3483864"/>
            <a:ext cx="9482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The same data exists in 3–5 platforms and someone copies it by hand — ServiceNow to Salesforce to SAP. Every copy is an error risk. "Swivel-chair integration" tax is real and invisible on the P&amp;L.</a:t>
            </a:r>
          </a:p>
        </p:txBody>
      </p:sp>
      <p:sp>
        <p:nvSpPr>
          <p:cNvPr id="21" name="Oval 20"/>
          <p:cNvSpPr/>
          <p:nvPr/>
        </p:nvSpPr>
        <p:spPr>
          <a:xfrm>
            <a:off x="118872" y="4434840"/>
            <a:ext cx="2286000" cy="91440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Off-Hours Coverage Gaps</a:t>
            </a:r>
          </a:p>
        </p:txBody>
      </p:sp>
      <p:sp>
        <p:nvSpPr>
          <p:cNvPr id="22" name="Oval 21"/>
          <p:cNvSpPr/>
          <p:nvPr/>
        </p:nvSpPr>
        <p:spPr>
          <a:xfrm>
            <a:off x="2404872" y="4434840"/>
            <a:ext cx="9665208" cy="914400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96312" y="4489704"/>
            <a:ext cx="9482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A user in Singapore raises a critical ticket at 3 AM US time. Nothing moves until the US team wakes up. Global operations suffer and SLA metrics degrade despite the team doing their best.</a:t>
            </a:r>
          </a:p>
        </p:txBody>
      </p:sp>
      <p:sp>
        <p:nvSpPr>
          <p:cNvPr id="24" name="Oval 23"/>
          <p:cNvSpPr/>
          <p:nvPr/>
        </p:nvSpPr>
        <p:spPr>
          <a:xfrm>
            <a:off x="118872" y="5440680"/>
            <a:ext cx="2286000" cy="91440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Inconsistent Quality &amp; Audit Risk</a:t>
            </a:r>
          </a:p>
        </p:txBody>
      </p:sp>
      <p:sp>
        <p:nvSpPr>
          <p:cNvPr id="25" name="Oval 24"/>
          <p:cNvSpPr/>
          <p:nvPr/>
        </p:nvSpPr>
        <p:spPr>
          <a:xfrm>
            <a:off x="2404872" y="5440680"/>
            <a:ext cx="9665208" cy="9144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96312" y="5495544"/>
            <a:ext cx="9482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Different agents resolve the same issue differently. Access-change logs are incomplete. Auditors find gaps. Compliance posture is weaker than it should be — with no easy fix under the current model.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Enterprise IT Pain Points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Five compounding problems that ZENOPS eliminates in one platform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01 Problem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" y="1115568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THE FIVE PAIN POINTS  —  with illustrative cost impact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" y="1417320"/>
            <a:ext cx="2286000" cy="91440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Repetitive Ticket Work</a:t>
            </a:r>
          </a:p>
        </p:txBody>
      </p:sp>
      <p:sp>
        <p:nvSpPr>
          <p:cNvPr id="13" name="Oval 12"/>
          <p:cNvSpPr/>
          <p:nvPr/>
        </p:nvSpPr>
        <p:spPr>
          <a:xfrm>
            <a:off x="2404872" y="1417320"/>
            <a:ext cx="9665208" cy="9144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6312" y="1472184"/>
            <a:ext cx="9482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70%+ of L1 agents' day is password resets, account creations, and cross-system copy-paste. Teams of 50–500 people doing the same rote work every day. At USD 35–60k/yr per FTE, this is a significant and quantifiable cost.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" y="2423160"/>
            <a:ext cx="2286000" cy="914400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Slow Resolution Times</a:t>
            </a:r>
          </a:p>
        </p:txBody>
      </p:sp>
      <p:sp>
        <p:nvSpPr>
          <p:cNvPr id="16" name="Oval 15"/>
          <p:cNvSpPr/>
          <p:nvPr/>
        </p:nvSpPr>
        <p:spPr>
          <a:xfrm>
            <a:off x="2404872" y="2423160"/>
            <a:ext cx="9665208" cy="914400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96312" y="2478024"/>
            <a:ext cx="9482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Employees wait 2+ hours for routine requests. Gartner: average employee loses ~30 min per IT ticket waiting. At 20,000 tickets/month across a 5,000-person company, that's 10,000 person-hours lost monthly.</a:t>
            </a:r>
          </a:p>
        </p:txBody>
      </p:sp>
      <p:sp>
        <p:nvSpPr>
          <p:cNvPr id="18" name="Oval 17"/>
          <p:cNvSpPr/>
          <p:nvPr/>
        </p:nvSpPr>
        <p:spPr>
          <a:xfrm>
            <a:off x="118872" y="3429000"/>
            <a:ext cx="2286000" cy="91440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System Sprawl</a:t>
            </a:r>
          </a:p>
        </p:txBody>
      </p:sp>
      <p:sp>
        <p:nvSpPr>
          <p:cNvPr id="19" name="Oval 18"/>
          <p:cNvSpPr/>
          <p:nvPr/>
        </p:nvSpPr>
        <p:spPr>
          <a:xfrm>
            <a:off x="2404872" y="3429000"/>
            <a:ext cx="9665208" cy="9144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96312" y="3483864"/>
            <a:ext cx="9482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The same data exists in 3–5 platforms and someone copies it by hand — ServiceNow to Salesforce to SAP. Every copy is an error risk. "Swivel-chair integration" tax is real and invisible on the P&amp;L.</a:t>
            </a:r>
          </a:p>
        </p:txBody>
      </p:sp>
      <p:sp>
        <p:nvSpPr>
          <p:cNvPr id="21" name="Oval 20"/>
          <p:cNvSpPr/>
          <p:nvPr/>
        </p:nvSpPr>
        <p:spPr>
          <a:xfrm>
            <a:off x="118872" y="4434840"/>
            <a:ext cx="2286000" cy="91440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Off-Hours Coverage Gaps</a:t>
            </a:r>
          </a:p>
        </p:txBody>
      </p:sp>
      <p:sp>
        <p:nvSpPr>
          <p:cNvPr id="22" name="Oval 21"/>
          <p:cNvSpPr/>
          <p:nvPr/>
        </p:nvSpPr>
        <p:spPr>
          <a:xfrm>
            <a:off x="2404872" y="4434840"/>
            <a:ext cx="9665208" cy="914400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96312" y="4489704"/>
            <a:ext cx="9482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A user in Singapore raises a critical ticket at 3 AM US time. Nothing moves until the US team wakes up. Global operations suffer and SLA metrics degrade despite the team doing their best.</a:t>
            </a:r>
          </a:p>
        </p:txBody>
      </p:sp>
      <p:sp>
        <p:nvSpPr>
          <p:cNvPr id="24" name="Oval 23"/>
          <p:cNvSpPr/>
          <p:nvPr/>
        </p:nvSpPr>
        <p:spPr>
          <a:xfrm>
            <a:off x="118872" y="5440680"/>
            <a:ext cx="2286000" cy="91440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Inconsistent Quality &amp; Audit Risk</a:t>
            </a:r>
          </a:p>
        </p:txBody>
      </p:sp>
      <p:sp>
        <p:nvSpPr>
          <p:cNvPr id="25" name="Oval 24"/>
          <p:cNvSpPr/>
          <p:nvPr/>
        </p:nvSpPr>
        <p:spPr>
          <a:xfrm>
            <a:off x="2404872" y="5440680"/>
            <a:ext cx="9665208" cy="9144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96312" y="5495544"/>
            <a:ext cx="948232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Different agents resolve the same issue differently. Access-change logs are incomplete. Auditors find gaps. Compliance posture is weaker than it should be — with no easy fix under the current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Why Now — Three Forces Aligning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LLMs · MCP standard · Buyer mandate — all arrived together in 2024–2026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01 Problem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" y="1115568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THREE MARKET FORCES THAT MAKE ZENOPS POSSIBLE TODAY AT THE RIGHT PRICE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" y="1417320"/>
            <a:ext cx="3910583" cy="68580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30304"/>
                </a:solidFill>
                <a:latin typeface="Calibri"/>
              </a:rPr>
              <a:t>1  LLMs Crossed the
Reliability Threshold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" y="2103120"/>
            <a:ext cx="3910583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14" name="Oval 13"/>
          <p:cNvSpPr/>
          <p:nvPr/>
        </p:nvSpPr>
        <p:spPr>
          <a:xfrm>
            <a:off x="118872" y="2377439"/>
            <a:ext cx="3910583" cy="4297680"/>
          </a:xfrm>
          <a:prstGeom prst="ellipse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2432303"/>
            <a:ext cx="3727703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Large language models now reliably drive real business actions — not just answer questions.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They can call APIs, select tools, complete multi-step tasks, and handle ambiguity with high accuracy.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This crossed a threshold in 2024: the models are good enough to trust with consequential enterprise tasks.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Before 2024: LLMs could draft an email.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After 2024: LLMs can create a Salesforce account, open an SAP work order, and close the ServiceNow ticket.</a:t>
            </a:r>
          </a:p>
        </p:txBody>
      </p:sp>
      <p:sp>
        <p:nvSpPr>
          <p:cNvPr id="16" name="Oval 15"/>
          <p:cNvSpPr/>
          <p:nvPr/>
        </p:nvSpPr>
        <p:spPr>
          <a:xfrm>
            <a:off x="4102607" y="1417320"/>
            <a:ext cx="3910583" cy="68580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30304"/>
                </a:solidFill>
                <a:latin typeface="Calibri"/>
              </a:rPr>
              <a:t>2  Model Context Protocol
(MCP) — Open Standard</a:t>
            </a:r>
          </a:p>
        </p:txBody>
      </p:sp>
      <p:sp>
        <p:nvSpPr>
          <p:cNvPr id="17" name="Oval 16"/>
          <p:cNvSpPr/>
          <p:nvPr/>
        </p:nvSpPr>
        <p:spPr>
          <a:xfrm>
            <a:off x="4102607" y="2103120"/>
            <a:ext cx="3910583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18" name="Oval 17"/>
          <p:cNvSpPr/>
          <p:nvPr/>
        </p:nvSpPr>
        <p:spPr>
          <a:xfrm>
            <a:off x="4102607" y="2377439"/>
            <a:ext cx="3910583" cy="4297680"/>
          </a:xfrm>
          <a:prstGeom prst="ellipse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94047" y="2432303"/>
            <a:ext cx="3727703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Introduced by Anthropic in late 2024, MCP gives agents a common language to talk to enterprise systems.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Salesforce, GitHub, Atlassian, ServiceNow are publishing official MCP connectors right now.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We ride that wave instead of building 200 one-off integrations.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Every new vendor MCP connector = a new capability for ZENOPS at near-zero incremental cost.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MCP is to AI agents what REST was to web services — it is the plumbing that makes the ecosystem work.</a:t>
            </a:r>
          </a:p>
        </p:txBody>
      </p:sp>
      <p:sp>
        <p:nvSpPr>
          <p:cNvPr id="20" name="Oval 19"/>
          <p:cNvSpPr/>
          <p:nvPr/>
        </p:nvSpPr>
        <p:spPr>
          <a:xfrm>
            <a:off x="8086344" y="1417320"/>
            <a:ext cx="3910583" cy="68580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30304"/>
                </a:solidFill>
                <a:latin typeface="Calibri"/>
              </a:rPr>
              <a:t>3  Buyer Demand at
All-Time High</a:t>
            </a:r>
          </a:p>
        </p:txBody>
      </p:sp>
      <p:sp>
        <p:nvSpPr>
          <p:cNvPr id="21" name="Oval 20"/>
          <p:cNvSpPr/>
          <p:nvPr/>
        </p:nvSpPr>
        <p:spPr>
          <a:xfrm>
            <a:off x="8086344" y="2103120"/>
            <a:ext cx="3910583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22" name="Oval 21"/>
          <p:cNvSpPr/>
          <p:nvPr/>
        </p:nvSpPr>
        <p:spPr>
          <a:xfrm>
            <a:off x="8086344" y="2377439"/>
            <a:ext cx="3910583" cy="4297680"/>
          </a:xfrm>
          <a:prstGeom prst="ellipse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7784" y="2432303"/>
            <a:ext cx="3727703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Every major CIO survey in 2025–2026 lists "agentic AI for IT operations" as a top-three priority.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Boards are mandating AI ROI. "Do more with less" is the dominant IT leadership brief worldwide.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The question is no longer IF — it is WHO and WHEN.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ZENOPS is positioned to be the WHO for cross-platform IT operations.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Buying cycles are faster than ever: pilots can be approved in weeks, not quarters.</a:t>
            </a:r>
          </a:p>
        </p:txBody>
      </p:sp>
      <p:sp>
        <p:nvSpPr>
          <p:cNvPr id="24" name="Oval 23"/>
          <p:cNvSpPr/>
          <p:nvPr/>
        </p:nvSpPr>
        <p:spPr>
          <a:xfrm>
            <a:off x="118872" y="6446520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8DE971"/>
                </a:solidFill>
                <a:latin typeface="Calibri"/>
              </a:rPr>
              <a:t>→  These three forces together — for the first time — let an agent replace the human swivel-chair work across ALL enterprise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Why Now — Three Forces Aligning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LLMs · MCP standard · Buyer mandate — all arrived together in 2024–2026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01 Problem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" y="1115568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THREE MARKET FORCES THAT MAKE ZENOPS POSSIBLE TODAY AT THE RIGHT PRICE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" y="1417320"/>
            <a:ext cx="3910583" cy="68580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30304"/>
                </a:solidFill>
                <a:latin typeface="Calibri"/>
              </a:rPr>
              <a:t>1  LLMs Crossed the
Reliability Threshold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" y="2103120"/>
            <a:ext cx="3910583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14" name="Oval 13"/>
          <p:cNvSpPr/>
          <p:nvPr/>
        </p:nvSpPr>
        <p:spPr>
          <a:xfrm>
            <a:off x="118872" y="2377439"/>
            <a:ext cx="3910583" cy="4297680"/>
          </a:xfrm>
          <a:prstGeom prst="ellipse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2432303"/>
            <a:ext cx="3727703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Large language models now reliably drive real business actions — not just answer questions.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They can call APIs, select tools, complete multi-step tasks, and handle ambiguity with high accuracy.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This crossed a threshold in 2024: the models are good enough to trust with consequential enterprise tasks.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Before 2024: LLMs could draft an email.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After 2024: LLMs can create a Salesforce account, open an SAP work order, and close the ServiceNow ticket.</a:t>
            </a:r>
          </a:p>
        </p:txBody>
      </p:sp>
      <p:sp>
        <p:nvSpPr>
          <p:cNvPr id="16" name="Oval 15"/>
          <p:cNvSpPr/>
          <p:nvPr/>
        </p:nvSpPr>
        <p:spPr>
          <a:xfrm>
            <a:off x="4102607" y="1417320"/>
            <a:ext cx="3910583" cy="68580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30304"/>
                </a:solidFill>
                <a:latin typeface="Calibri"/>
              </a:rPr>
              <a:t>2  Model Context Protocol
(MCP) — Open Standard</a:t>
            </a:r>
          </a:p>
        </p:txBody>
      </p:sp>
      <p:sp>
        <p:nvSpPr>
          <p:cNvPr id="17" name="Oval 16"/>
          <p:cNvSpPr/>
          <p:nvPr/>
        </p:nvSpPr>
        <p:spPr>
          <a:xfrm>
            <a:off x="4102607" y="2103120"/>
            <a:ext cx="3910583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18" name="Oval 17"/>
          <p:cNvSpPr/>
          <p:nvPr/>
        </p:nvSpPr>
        <p:spPr>
          <a:xfrm>
            <a:off x="4102607" y="2377439"/>
            <a:ext cx="3910583" cy="4297680"/>
          </a:xfrm>
          <a:prstGeom prst="ellipse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94047" y="2432303"/>
            <a:ext cx="3727703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Introduced by Anthropic in late 2024, MCP gives agents a common language to talk to enterprise systems.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Salesforce, GitHub, Atlassian, ServiceNow are publishing official MCP connectors right now.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We ride that wave instead of building 200 one-off integrations.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Every new vendor MCP connector = a new capability for ZENOPS at near-zero incremental cost.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MCP is to AI agents what REST was to web services — it is the plumbing that makes the ecosystem work.</a:t>
            </a:r>
          </a:p>
        </p:txBody>
      </p:sp>
      <p:sp>
        <p:nvSpPr>
          <p:cNvPr id="20" name="Oval 19"/>
          <p:cNvSpPr/>
          <p:nvPr/>
        </p:nvSpPr>
        <p:spPr>
          <a:xfrm>
            <a:off x="8086344" y="1417320"/>
            <a:ext cx="3910583" cy="68580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30304"/>
                </a:solidFill>
                <a:latin typeface="Calibri"/>
              </a:rPr>
              <a:t>3  Buyer Demand at
All-Time High</a:t>
            </a:r>
          </a:p>
        </p:txBody>
      </p:sp>
      <p:sp>
        <p:nvSpPr>
          <p:cNvPr id="21" name="Oval 20"/>
          <p:cNvSpPr/>
          <p:nvPr/>
        </p:nvSpPr>
        <p:spPr>
          <a:xfrm>
            <a:off x="8086344" y="2103120"/>
            <a:ext cx="3910583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22" name="Oval 21"/>
          <p:cNvSpPr/>
          <p:nvPr/>
        </p:nvSpPr>
        <p:spPr>
          <a:xfrm>
            <a:off x="8086344" y="2377439"/>
            <a:ext cx="3910583" cy="4297680"/>
          </a:xfrm>
          <a:prstGeom prst="ellipse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7784" y="2432303"/>
            <a:ext cx="3727703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Every major CIO survey in 2025–2026 lists "agentic AI for IT operations" as a top-three priority.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Boards are mandating AI ROI. "Do more with less" is the dominant IT leadership brief worldwide.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The question is no longer IF — it is WHO and WHEN.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ZENOPS is positioned to be the WHO for cross-platform IT operations.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Buying cycles are faster than ever: pilots can be approved in weeks, not quarters.</a:t>
            </a:r>
          </a:p>
        </p:txBody>
      </p:sp>
      <p:sp>
        <p:nvSpPr>
          <p:cNvPr id="24" name="Oval 23"/>
          <p:cNvSpPr/>
          <p:nvPr/>
        </p:nvSpPr>
        <p:spPr>
          <a:xfrm>
            <a:off x="118872" y="6446520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8DE971"/>
                </a:solidFill>
                <a:latin typeface="Calibri"/>
              </a:rPr>
              <a:t>→  These three forces together — for the first time — let an agent replace the human swivel-chair work across ALL enterprise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457200" cy="685800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920240"/>
            <a:ext cx="7132320" cy="6400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3840480"/>
            <a:ext cx="7132320" cy="6400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02 + 03  —  THE ZENOPS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DE971"/>
                </a:solidFill>
                <a:latin typeface="Calibri"/>
              </a:rPr>
              <a:t>What It Is, How It Works, and the Real-World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37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8D4D5"/>
                </a:solidFill>
                <a:latin typeface="Calibri"/>
              </a:rPr>
              <a:t>An AI co-worker that reads requests in plain language, decides what to do, and acts across all your enterprise systems.</a:t>
            </a:r>
          </a:p>
        </p:txBody>
      </p:sp>
      <p:sp>
        <p:nvSpPr>
          <p:cNvPr id="8" name="Oval 7"/>
          <p:cNvSpPr/>
          <p:nvPr/>
        </p:nvSpPr>
        <p:spPr>
          <a:xfrm>
            <a:off x="0" y="6080760"/>
            <a:ext cx="2031492" cy="50292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READS</a:t>
            </a:r>
          </a:p>
        </p:txBody>
      </p:sp>
      <p:sp>
        <p:nvSpPr>
          <p:cNvPr id="9" name="Oval 8"/>
          <p:cNvSpPr/>
          <p:nvPr/>
        </p:nvSpPr>
        <p:spPr>
          <a:xfrm>
            <a:off x="2031492" y="6080760"/>
            <a:ext cx="2031492" cy="50292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DECIDES</a:t>
            </a:r>
          </a:p>
        </p:txBody>
      </p:sp>
      <p:sp>
        <p:nvSpPr>
          <p:cNvPr id="10" name="Oval 9"/>
          <p:cNvSpPr/>
          <p:nvPr/>
        </p:nvSpPr>
        <p:spPr>
          <a:xfrm>
            <a:off x="4062984" y="6080760"/>
            <a:ext cx="2031492" cy="50292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ACTS</a:t>
            </a:r>
          </a:p>
        </p:txBody>
      </p:sp>
      <p:sp>
        <p:nvSpPr>
          <p:cNvPr id="11" name="Oval 10"/>
          <p:cNvSpPr/>
          <p:nvPr/>
        </p:nvSpPr>
        <p:spPr>
          <a:xfrm>
            <a:off x="6094476" y="6080760"/>
            <a:ext cx="2031492" cy="502920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24/7</a:t>
            </a:r>
          </a:p>
        </p:txBody>
      </p:sp>
      <p:sp>
        <p:nvSpPr>
          <p:cNvPr id="12" name="Oval 11"/>
          <p:cNvSpPr/>
          <p:nvPr/>
        </p:nvSpPr>
        <p:spPr>
          <a:xfrm>
            <a:off x="8125968" y="6080760"/>
            <a:ext cx="2031492" cy="50292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Auditable</a:t>
            </a:r>
          </a:p>
        </p:txBody>
      </p:sp>
      <p:sp>
        <p:nvSpPr>
          <p:cNvPr id="13" name="Oval 12"/>
          <p:cNvSpPr/>
          <p:nvPr/>
        </p:nvSpPr>
        <p:spPr>
          <a:xfrm>
            <a:off x="10157460" y="6080760"/>
            <a:ext cx="2031492" cy="502920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Secure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8D4D5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457200" cy="685800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920240"/>
            <a:ext cx="7132320" cy="6400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3840480"/>
            <a:ext cx="7132320" cy="6400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02 + 03  —  THE ZENOPS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DE971"/>
                </a:solidFill>
                <a:latin typeface="Calibri"/>
              </a:rPr>
              <a:t>What It Is, How It Works, and the Real-World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37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8D4D5"/>
                </a:solidFill>
                <a:latin typeface="Calibri"/>
              </a:rPr>
              <a:t>An AI co-worker that reads requests in plain language, decides what to do, and acts across all your enterprise systems.</a:t>
            </a:r>
          </a:p>
        </p:txBody>
      </p:sp>
      <p:sp>
        <p:nvSpPr>
          <p:cNvPr id="8" name="Oval 7"/>
          <p:cNvSpPr/>
          <p:nvPr/>
        </p:nvSpPr>
        <p:spPr>
          <a:xfrm>
            <a:off x="0" y="6080760"/>
            <a:ext cx="2031492" cy="50292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READS</a:t>
            </a:r>
          </a:p>
        </p:txBody>
      </p:sp>
      <p:sp>
        <p:nvSpPr>
          <p:cNvPr id="9" name="Oval 8"/>
          <p:cNvSpPr/>
          <p:nvPr/>
        </p:nvSpPr>
        <p:spPr>
          <a:xfrm>
            <a:off x="2031492" y="6080760"/>
            <a:ext cx="2031492" cy="50292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DECIDES</a:t>
            </a:r>
          </a:p>
        </p:txBody>
      </p:sp>
      <p:sp>
        <p:nvSpPr>
          <p:cNvPr id="10" name="Oval 9"/>
          <p:cNvSpPr/>
          <p:nvPr/>
        </p:nvSpPr>
        <p:spPr>
          <a:xfrm>
            <a:off x="4062984" y="6080760"/>
            <a:ext cx="2031492" cy="50292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ACTS</a:t>
            </a:r>
          </a:p>
        </p:txBody>
      </p:sp>
      <p:sp>
        <p:nvSpPr>
          <p:cNvPr id="11" name="Oval 10"/>
          <p:cNvSpPr/>
          <p:nvPr/>
        </p:nvSpPr>
        <p:spPr>
          <a:xfrm>
            <a:off x="6094476" y="6080760"/>
            <a:ext cx="2031492" cy="502920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24/7</a:t>
            </a:r>
          </a:p>
        </p:txBody>
      </p:sp>
      <p:sp>
        <p:nvSpPr>
          <p:cNvPr id="12" name="Oval 11"/>
          <p:cNvSpPr/>
          <p:nvPr/>
        </p:nvSpPr>
        <p:spPr>
          <a:xfrm>
            <a:off x="8125968" y="6080760"/>
            <a:ext cx="2031492" cy="50292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Auditable</a:t>
            </a:r>
          </a:p>
        </p:txBody>
      </p:sp>
      <p:sp>
        <p:nvSpPr>
          <p:cNvPr id="13" name="Oval 12"/>
          <p:cNvSpPr/>
          <p:nvPr/>
        </p:nvSpPr>
        <p:spPr>
          <a:xfrm>
            <a:off x="10157460" y="6080760"/>
            <a:ext cx="2031492" cy="502920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Secure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8D4D5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What Is ZENOPS?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A new kind of employee: same system access, same permissions — never sleeps, never makes a typo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02 Solution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" y="1143000"/>
            <a:ext cx="3910583" cy="64008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30304"/>
                </a:solidFill>
                <a:latin typeface="Calibri"/>
              </a:rPr>
              <a:t>READS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" y="1783080"/>
            <a:ext cx="3910583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" y="2057400"/>
            <a:ext cx="3910583" cy="4526280"/>
          </a:xfrm>
          <a:prstGeom prst="ellipse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2112264"/>
            <a:ext cx="3727703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Incoming employee and customer requests in plain language: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"Reset my password"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"Onboard Priya Shah, joining 1 May, Sales, Mumbai"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"Create a new vendor — Acme Corp"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"Show me everything we know about this customer"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No special syntax. No ticketing forms. Just a plain-language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1440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30304"/>
                </a:solidFill>
                <a:latin typeface="Calibri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4102607" y="1143000"/>
            <a:ext cx="3910583" cy="64008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30304"/>
                </a:solidFill>
                <a:latin typeface="Calibri"/>
              </a:rPr>
              <a:t>DECIDES</a:t>
            </a:r>
          </a:p>
        </p:txBody>
      </p:sp>
      <p:sp>
        <p:nvSpPr>
          <p:cNvPr id="17" name="Oval 16"/>
          <p:cNvSpPr/>
          <p:nvPr/>
        </p:nvSpPr>
        <p:spPr>
          <a:xfrm>
            <a:off x="4102607" y="1783080"/>
            <a:ext cx="3910583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8" name="Oval 17"/>
          <p:cNvSpPr/>
          <p:nvPr/>
        </p:nvSpPr>
        <p:spPr>
          <a:xfrm>
            <a:off x="4102607" y="2057400"/>
            <a:ext cx="3910583" cy="4526280"/>
          </a:xfrm>
          <a:prstGeom prst="ellipse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94047" y="2112264"/>
            <a:ext cx="3727703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Classifies the request and selects the right actions: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Fast-path handler  →  deterministic, no LLM cost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(common patterns: password reset, account create)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AI path  →  LLM selects tools from the 54-tool catalog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(complex or novel requests)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Same logic a senior service-desk agent would apply — in milliseconds.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5176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30304"/>
                </a:solidFill>
                <a:latin typeface="Calibri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8086344" y="1143000"/>
            <a:ext cx="3910583" cy="64008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30304"/>
                </a:solidFill>
                <a:latin typeface="Calibri"/>
              </a:rPr>
              <a:t>ACTS</a:t>
            </a:r>
          </a:p>
        </p:txBody>
      </p:sp>
      <p:sp>
        <p:nvSpPr>
          <p:cNvPr id="22" name="Oval 21"/>
          <p:cNvSpPr/>
          <p:nvPr/>
        </p:nvSpPr>
        <p:spPr>
          <a:xfrm>
            <a:off x="8086344" y="1783080"/>
            <a:ext cx="3910583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23" name="Oval 22"/>
          <p:cNvSpPr/>
          <p:nvPr/>
        </p:nvSpPr>
        <p:spPr>
          <a:xfrm>
            <a:off x="8086344" y="2057400"/>
            <a:ext cx="3910583" cy="4526280"/>
          </a:xfrm>
          <a:prstGeom prst="ellipse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77784" y="2112264"/>
            <a:ext cx="3727703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Executes actions directly inside your enterprise systems: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sf_create_user        →  Salesforce CRM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sap_create_user        →  SAP HR record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sap_create_work_order  →  laptop provisioning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send_email             →  welcome email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sn_close_ticket        →  ticket closed &amp; logged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24/7 · in seconds · full audit trail · reversible.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What Is ZENOPS?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A new kind of employee: same system access, same permissions — never sleeps, never makes a typo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02 Solution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" y="1143000"/>
            <a:ext cx="3910583" cy="64008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30304"/>
                </a:solidFill>
                <a:latin typeface="Calibri"/>
              </a:rPr>
              <a:t>READS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" y="1783080"/>
            <a:ext cx="3910583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" y="2057400"/>
            <a:ext cx="3910583" cy="4526280"/>
          </a:xfrm>
          <a:prstGeom prst="ellipse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" y="2112264"/>
            <a:ext cx="3727703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Incoming employee and customer requests in plain language: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"Reset my password"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"Onboard Priya Shah, joining 1 May, Sales, Mumbai"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"Create a new vendor — Acme Corp"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"Show me everything we know about this customer"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No special syntax. No ticketing forms. Just a plain-language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1440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30304"/>
                </a:solidFill>
                <a:latin typeface="Calibri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4102607" y="1143000"/>
            <a:ext cx="3910583" cy="64008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30304"/>
                </a:solidFill>
                <a:latin typeface="Calibri"/>
              </a:rPr>
              <a:t>DECIDES</a:t>
            </a:r>
          </a:p>
        </p:txBody>
      </p:sp>
      <p:sp>
        <p:nvSpPr>
          <p:cNvPr id="17" name="Oval 16"/>
          <p:cNvSpPr/>
          <p:nvPr/>
        </p:nvSpPr>
        <p:spPr>
          <a:xfrm>
            <a:off x="4102607" y="1783080"/>
            <a:ext cx="3910583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8" name="Oval 17"/>
          <p:cNvSpPr/>
          <p:nvPr/>
        </p:nvSpPr>
        <p:spPr>
          <a:xfrm>
            <a:off x="4102607" y="2057400"/>
            <a:ext cx="3910583" cy="4526280"/>
          </a:xfrm>
          <a:prstGeom prst="ellipse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94047" y="2112264"/>
            <a:ext cx="3727703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Classifies the request and selects the right actions: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Fast-path handler  →  deterministic, no LLM cost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(common patterns: password reset, account create)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AI path  →  LLM selects tools from the 54-tool catalog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(complex or novel requests)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Same logic a senior service-desk agent would apply — in milliseconds.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5176" y="233172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30304"/>
                </a:solidFill>
                <a:latin typeface="Calibri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8086344" y="1143000"/>
            <a:ext cx="3910583" cy="64008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030304"/>
                </a:solidFill>
                <a:latin typeface="Calibri"/>
              </a:rPr>
              <a:t>ACTS</a:t>
            </a:r>
          </a:p>
        </p:txBody>
      </p:sp>
      <p:sp>
        <p:nvSpPr>
          <p:cNvPr id="22" name="Oval 21"/>
          <p:cNvSpPr/>
          <p:nvPr/>
        </p:nvSpPr>
        <p:spPr>
          <a:xfrm>
            <a:off x="8086344" y="1783080"/>
            <a:ext cx="3910583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23" name="Oval 22"/>
          <p:cNvSpPr/>
          <p:nvPr/>
        </p:nvSpPr>
        <p:spPr>
          <a:xfrm>
            <a:off x="8086344" y="2057400"/>
            <a:ext cx="3910583" cy="4526280"/>
          </a:xfrm>
          <a:prstGeom prst="ellipse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77784" y="2112264"/>
            <a:ext cx="3727703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Executes actions directly inside your enterprise systems: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sf_create_user        →  Salesforce CRM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sap_create_user        →  SAP HR record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sap_create_work_order  →  laptop provisioning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send_email             →  welcome email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sn_close_ticket        →  ticket closed &amp; logged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24/7 · in seconds · full audit trail · reversible.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How ZENOPS Works — Request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Step-by-step: from ticket submission to resolved action across enterprise systems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02 Solution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" y="1115568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END-TO-END REQUEST LIFECYCLE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" y="1417320"/>
            <a:ext cx="2743200" cy="658368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30304"/>
                </a:solidFill>
                <a:latin typeface="Calibri"/>
              </a:rPr>
              <a:t>Step 1  —  INBOUND</a:t>
            </a:r>
          </a:p>
        </p:txBody>
      </p:sp>
      <p:sp>
        <p:nvSpPr>
          <p:cNvPr id="13" name="Oval 12"/>
          <p:cNvSpPr/>
          <p:nvPr/>
        </p:nvSpPr>
        <p:spPr>
          <a:xfrm>
            <a:off x="2862072" y="1417320"/>
            <a:ext cx="9208008" cy="658368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3512" y="1472184"/>
            <a:ext cx="9025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User submits a request via ServiceNow, Client Portal, Email, or API webhook. ServiceNow auto-forwarder posts ticket to the Ticket Orchestrator (FastAPI, port 2486).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" y="2157984"/>
            <a:ext cx="2743200" cy="658368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30304"/>
                </a:solidFill>
                <a:latin typeface="Calibri"/>
              </a:rPr>
              <a:t>Step 2  —  CLASSIFY</a:t>
            </a:r>
          </a:p>
        </p:txBody>
      </p:sp>
      <p:sp>
        <p:nvSpPr>
          <p:cNvPr id="16" name="Oval 15"/>
          <p:cNvSpPr/>
          <p:nvPr/>
        </p:nvSpPr>
        <p:spPr>
          <a:xfrm>
            <a:off x="2862072" y="2157984"/>
            <a:ext cx="9208008" cy="658368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53512" y="2212848"/>
            <a:ext cx="9025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Ticket Orchestrator classifies the action type: PASSWORD_RESET · USER_CREATION · WORK_ORDER · CASE · CROSS_PLATFORM_LOOKUP · APPROVAL. Sets priority, stores in DB, marks status PENDING.</a:t>
            </a:r>
          </a:p>
        </p:txBody>
      </p:sp>
      <p:sp>
        <p:nvSpPr>
          <p:cNvPr id="18" name="Oval 17"/>
          <p:cNvSpPr/>
          <p:nvPr/>
        </p:nvSpPr>
        <p:spPr>
          <a:xfrm>
            <a:off x="118872" y="2898648"/>
            <a:ext cx="2743200" cy="658368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30304"/>
                </a:solidFill>
                <a:latin typeface="Calibri"/>
              </a:rPr>
              <a:t>Step 3  —  ROUTE</a:t>
            </a:r>
          </a:p>
        </p:txBody>
      </p:sp>
      <p:sp>
        <p:nvSpPr>
          <p:cNvPr id="19" name="Oval 18"/>
          <p:cNvSpPr/>
          <p:nvPr/>
        </p:nvSpPr>
        <p:spPr>
          <a:xfrm>
            <a:off x="2862072" y="2898648"/>
            <a:ext cx="9208008" cy="658368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53512" y="2953512"/>
            <a:ext cx="9025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NetworkOpsAgent continuous processor (polls every 10 s) picks up PENDING tickets. Evaluates: does a fast-path deterministic handler match? If YES → fast path. If NO → AI path.</a:t>
            </a:r>
          </a:p>
        </p:txBody>
      </p:sp>
      <p:sp>
        <p:nvSpPr>
          <p:cNvPr id="21" name="Oval 20"/>
          <p:cNvSpPr/>
          <p:nvPr/>
        </p:nvSpPr>
        <p:spPr>
          <a:xfrm>
            <a:off x="118872" y="3639312"/>
            <a:ext cx="2743200" cy="65836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30304"/>
                </a:solidFill>
                <a:latin typeface="Calibri"/>
              </a:rPr>
              <a:t>Step 4a  —  FAST PATH (60–80% of volume)</a:t>
            </a:r>
          </a:p>
        </p:txBody>
      </p:sp>
      <p:sp>
        <p:nvSpPr>
          <p:cNvPr id="22" name="Oval 21"/>
          <p:cNvSpPr/>
          <p:nvPr/>
        </p:nvSpPr>
        <p:spPr>
          <a:xfrm>
            <a:off x="2862072" y="3639312"/>
            <a:ext cx="9208008" cy="658368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53512" y="3694176"/>
            <a:ext cx="9025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Hand-coded handler executes the tool call sequence directly via MCP Hub. Zero LLM cost. Sub-second resolution. Common ticket types: password reset, account create, status lookup.</a:t>
            </a:r>
          </a:p>
        </p:txBody>
      </p:sp>
      <p:sp>
        <p:nvSpPr>
          <p:cNvPr id="24" name="Oval 23"/>
          <p:cNvSpPr/>
          <p:nvPr/>
        </p:nvSpPr>
        <p:spPr>
          <a:xfrm>
            <a:off x="118872" y="4379976"/>
            <a:ext cx="2743200" cy="658368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30304"/>
                </a:solidFill>
                <a:latin typeface="Calibri"/>
              </a:rPr>
              <a:t>Step 4b  —  AI PATH (complex/novel requests)</a:t>
            </a:r>
          </a:p>
        </p:txBody>
      </p:sp>
      <p:sp>
        <p:nvSpPr>
          <p:cNvPr id="25" name="Oval 24"/>
          <p:cNvSpPr/>
          <p:nvPr/>
        </p:nvSpPr>
        <p:spPr>
          <a:xfrm>
            <a:off x="2862072" y="4379976"/>
            <a:ext cx="9208008" cy="658368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53512" y="4434840"/>
            <a:ext cx="9025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Mistral / Claude receives the ticket text plus the full 54-tool catalog. LLM selects tools and arguments. Agent executes each tool call via MCP Hub. Result is returned and the LLM posts a closure note.</a:t>
            </a:r>
          </a:p>
        </p:txBody>
      </p:sp>
      <p:sp>
        <p:nvSpPr>
          <p:cNvPr id="27" name="Oval 26"/>
          <p:cNvSpPr/>
          <p:nvPr/>
        </p:nvSpPr>
        <p:spPr>
          <a:xfrm>
            <a:off x="118872" y="5120640"/>
            <a:ext cx="2743200" cy="658368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30304"/>
                </a:solidFill>
                <a:latin typeface="Calibri"/>
              </a:rPr>
              <a:t>Step 5  —  MCP EXECUTION</a:t>
            </a:r>
          </a:p>
        </p:txBody>
      </p:sp>
      <p:sp>
        <p:nvSpPr>
          <p:cNvPr id="28" name="Oval 27"/>
          <p:cNvSpPr/>
          <p:nvPr/>
        </p:nvSpPr>
        <p:spPr>
          <a:xfrm>
            <a:off x="2862072" y="5120640"/>
            <a:ext cx="9208008" cy="658368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53512" y="5175504"/>
            <a:ext cx="9025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MCP Unified Hub (54 tools, stdio transport today / HTTP+SSE in enterprise) receives tool calls. Each tool is a thin wrapper over the target system's REST API — Salesforce · ServiceNow · SAP · MuleSoft.</a:t>
            </a:r>
          </a:p>
        </p:txBody>
      </p:sp>
      <p:sp>
        <p:nvSpPr>
          <p:cNvPr id="30" name="Oval 29"/>
          <p:cNvSpPr/>
          <p:nvPr/>
        </p:nvSpPr>
        <p:spPr>
          <a:xfrm>
            <a:off x="118872" y="5861304"/>
            <a:ext cx="2743200" cy="658368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30304"/>
                </a:solidFill>
                <a:latin typeface="Calibri"/>
              </a:rPr>
              <a:t>Step 6  —  CLOSE &amp; AUDIT</a:t>
            </a:r>
          </a:p>
        </p:txBody>
      </p:sp>
      <p:sp>
        <p:nvSpPr>
          <p:cNvPr id="31" name="Oval 30"/>
          <p:cNvSpPr/>
          <p:nvPr/>
        </p:nvSpPr>
        <p:spPr>
          <a:xfrm>
            <a:off x="2862072" y="5861304"/>
            <a:ext cx="9208008" cy="658368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53512" y="5916168"/>
            <a:ext cx="9025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Agent posts result back to Orchestrator → status set RESOLVED. Source system (ServiceNow) receives the closure note via API. Full audit row written: ticket_id · tool · arguments · response · timestamp · agent_version.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How ZENOPS Works — Request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Step-by-step: from ticket submission to resolved action across enterprise systems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02 Solution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" y="1115568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END-TO-END REQUEST LIFECYCLE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" y="1417320"/>
            <a:ext cx="2743200" cy="658368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30304"/>
                </a:solidFill>
                <a:latin typeface="Calibri"/>
              </a:rPr>
              <a:t>Step 1  —  INBOUND</a:t>
            </a:r>
          </a:p>
        </p:txBody>
      </p:sp>
      <p:sp>
        <p:nvSpPr>
          <p:cNvPr id="13" name="Oval 12"/>
          <p:cNvSpPr/>
          <p:nvPr/>
        </p:nvSpPr>
        <p:spPr>
          <a:xfrm>
            <a:off x="2862072" y="1417320"/>
            <a:ext cx="9208008" cy="658368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3512" y="1472184"/>
            <a:ext cx="9025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User submits a request via ServiceNow, Client Portal, Email, or API webhook. ServiceNow auto-forwarder posts ticket to the Ticket Orchestrator (FastAPI, port 2486).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" y="2157984"/>
            <a:ext cx="2743200" cy="658368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30304"/>
                </a:solidFill>
                <a:latin typeface="Calibri"/>
              </a:rPr>
              <a:t>Step 2  —  CLASSIFY</a:t>
            </a:r>
          </a:p>
        </p:txBody>
      </p:sp>
      <p:sp>
        <p:nvSpPr>
          <p:cNvPr id="16" name="Oval 15"/>
          <p:cNvSpPr/>
          <p:nvPr/>
        </p:nvSpPr>
        <p:spPr>
          <a:xfrm>
            <a:off x="2862072" y="2157984"/>
            <a:ext cx="9208008" cy="658368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53512" y="2212848"/>
            <a:ext cx="9025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Ticket Orchestrator classifies the action type: PASSWORD_RESET · USER_CREATION · WORK_ORDER · CASE · CROSS_PLATFORM_LOOKUP · APPROVAL. Sets priority, stores in DB, marks status PENDING.</a:t>
            </a:r>
          </a:p>
        </p:txBody>
      </p:sp>
      <p:sp>
        <p:nvSpPr>
          <p:cNvPr id="18" name="Oval 17"/>
          <p:cNvSpPr/>
          <p:nvPr/>
        </p:nvSpPr>
        <p:spPr>
          <a:xfrm>
            <a:off x="118872" y="2898648"/>
            <a:ext cx="2743200" cy="658368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30304"/>
                </a:solidFill>
                <a:latin typeface="Calibri"/>
              </a:rPr>
              <a:t>Step 3  —  ROUTE</a:t>
            </a:r>
          </a:p>
        </p:txBody>
      </p:sp>
      <p:sp>
        <p:nvSpPr>
          <p:cNvPr id="19" name="Oval 18"/>
          <p:cNvSpPr/>
          <p:nvPr/>
        </p:nvSpPr>
        <p:spPr>
          <a:xfrm>
            <a:off x="2862072" y="2898648"/>
            <a:ext cx="9208008" cy="658368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53512" y="2953512"/>
            <a:ext cx="9025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NetworkOpsAgent continuous processor (polls every 10 s) picks up PENDING tickets. Evaluates: does a fast-path deterministic handler match? If YES → fast path. If NO → AI path.</a:t>
            </a:r>
          </a:p>
        </p:txBody>
      </p:sp>
      <p:sp>
        <p:nvSpPr>
          <p:cNvPr id="21" name="Oval 20"/>
          <p:cNvSpPr/>
          <p:nvPr/>
        </p:nvSpPr>
        <p:spPr>
          <a:xfrm>
            <a:off x="118872" y="3639312"/>
            <a:ext cx="2743200" cy="65836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30304"/>
                </a:solidFill>
                <a:latin typeface="Calibri"/>
              </a:rPr>
              <a:t>Step 4a  —  FAST PATH (60–80% of volume)</a:t>
            </a:r>
          </a:p>
        </p:txBody>
      </p:sp>
      <p:sp>
        <p:nvSpPr>
          <p:cNvPr id="22" name="Oval 21"/>
          <p:cNvSpPr/>
          <p:nvPr/>
        </p:nvSpPr>
        <p:spPr>
          <a:xfrm>
            <a:off x="2862072" y="3639312"/>
            <a:ext cx="9208008" cy="658368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53512" y="3694176"/>
            <a:ext cx="9025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Hand-coded handler executes the tool call sequence directly via MCP Hub. Zero LLM cost. Sub-second resolution. Common ticket types: password reset, account create, status lookup.</a:t>
            </a:r>
          </a:p>
        </p:txBody>
      </p:sp>
      <p:sp>
        <p:nvSpPr>
          <p:cNvPr id="24" name="Oval 23"/>
          <p:cNvSpPr/>
          <p:nvPr/>
        </p:nvSpPr>
        <p:spPr>
          <a:xfrm>
            <a:off x="118872" y="4379976"/>
            <a:ext cx="2743200" cy="658368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30304"/>
                </a:solidFill>
                <a:latin typeface="Calibri"/>
              </a:rPr>
              <a:t>Step 4b  —  AI PATH (complex/novel requests)</a:t>
            </a:r>
          </a:p>
        </p:txBody>
      </p:sp>
      <p:sp>
        <p:nvSpPr>
          <p:cNvPr id="25" name="Oval 24"/>
          <p:cNvSpPr/>
          <p:nvPr/>
        </p:nvSpPr>
        <p:spPr>
          <a:xfrm>
            <a:off x="2862072" y="4379976"/>
            <a:ext cx="9208008" cy="658368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53512" y="4434840"/>
            <a:ext cx="9025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Mistral / Claude receives the ticket text plus the full 54-tool catalog. LLM selects tools and arguments. Agent executes each tool call via MCP Hub. Result is returned and the LLM posts a closure note.</a:t>
            </a:r>
          </a:p>
        </p:txBody>
      </p:sp>
      <p:sp>
        <p:nvSpPr>
          <p:cNvPr id="27" name="Oval 26"/>
          <p:cNvSpPr/>
          <p:nvPr/>
        </p:nvSpPr>
        <p:spPr>
          <a:xfrm>
            <a:off x="118872" y="5120640"/>
            <a:ext cx="2743200" cy="658368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30304"/>
                </a:solidFill>
                <a:latin typeface="Calibri"/>
              </a:rPr>
              <a:t>Step 5  —  MCP EXECUTION</a:t>
            </a:r>
          </a:p>
        </p:txBody>
      </p:sp>
      <p:sp>
        <p:nvSpPr>
          <p:cNvPr id="28" name="Oval 27"/>
          <p:cNvSpPr/>
          <p:nvPr/>
        </p:nvSpPr>
        <p:spPr>
          <a:xfrm>
            <a:off x="2862072" y="5120640"/>
            <a:ext cx="9208008" cy="658368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53512" y="5175504"/>
            <a:ext cx="9025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MCP Unified Hub (54 tools, stdio transport today / HTTP+SSE in enterprise) receives tool calls. Each tool is a thin wrapper over the target system's REST API — Salesforce · ServiceNow · SAP · MuleSoft.</a:t>
            </a:r>
          </a:p>
        </p:txBody>
      </p:sp>
      <p:sp>
        <p:nvSpPr>
          <p:cNvPr id="30" name="Oval 29"/>
          <p:cNvSpPr/>
          <p:nvPr/>
        </p:nvSpPr>
        <p:spPr>
          <a:xfrm>
            <a:off x="118872" y="5861304"/>
            <a:ext cx="2743200" cy="658368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30304"/>
                </a:solidFill>
                <a:latin typeface="Calibri"/>
              </a:rPr>
              <a:t>Step 6  —  CLOSE &amp; AUDIT</a:t>
            </a:r>
          </a:p>
        </p:txBody>
      </p:sp>
      <p:sp>
        <p:nvSpPr>
          <p:cNvPr id="31" name="Oval 30"/>
          <p:cNvSpPr/>
          <p:nvPr/>
        </p:nvSpPr>
        <p:spPr>
          <a:xfrm>
            <a:off x="2862072" y="5861304"/>
            <a:ext cx="9208008" cy="658368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53512" y="5916168"/>
            <a:ext cx="90251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Agent posts result back to Orchestrator → status set RESOLVED. Source system (ServiceNow) receives the closure note via API. Full audit row written: ticket_id · tool · arguments · response · timestamp · agent_version.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Real-World Example: New-Hire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The same ticket — 2–6 hours of human effort vs 30 seconds of autonomous execution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02 Solution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" y="1115568"/>
            <a:ext cx="5897880" cy="27432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BEFORE ZENOPS  —  Manual Process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" y="1389888"/>
            <a:ext cx="5897880" cy="50749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444752"/>
            <a:ext cx="5715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1.  Manager files ticket in ServiceNow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2.  Queue wait:  30 minutes – 2 hours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3.  Agent logs into Salesforce →  creates user record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4.  Agent logs into SAP HR  →  creates employee record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5.  Agent opens SAP work order for laptop provisioning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6.  Agent posts KB link to new hire and sends welcome email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7.  Agent emails manager with completion confirmation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8.  Agent closes ticket manually in ServiceNow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⏱  Total elapsed time:   2 – 6 hours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👥  People involved:       2 – 3 agents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💸  Cost:                  ~1 FTE-hour of L1 agent time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❌  Audit trail:           incomplete / manual notes</a:t>
            </a:r>
          </a:p>
        </p:txBody>
      </p:sp>
      <p:sp>
        <p:nvSpPr>
          <p:cNvPr id="14" name="Oval 13"/>
          <p:cNvSpPr/>
          <p:nvPr/>
        </p:nvSpPr>
        <p:spPr>
          <a:xfrm>
            <a:off x="6172200" y="1115568"/>
            <a:ext cx="5897880" cy="27432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WITH ZENOPS  —  Autonomous Execution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1389888"/>
            <a:ext cx="5897880" cy="50749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444752"/>
            <a:ext cx="5715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1.  Manager files the same ticket in ServiceNow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2.  Orchestrator classifies:  USER_ONBOARDING  (instant)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3.  Agent reads ticket — plain language, no parsing rules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4.  MCP tool calls executed in sequence: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       sf_create_user         →  Salesforce record created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       sap_create_user        →  SAP HR record created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       sap_create_work_order  →  laptop work order raised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       send_email             →  welcome email dispatched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       sn_close_ticket        →  ticket closed &amp; logged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⏱  Total elapsed time:   ~30 seconds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👥  People involved:       0  (exceptions only)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✅  Audit trail:           complete — every tool call logged</a:t>
            </a:r>
          </a:p>
        </p:txBody>
      </p:sp>
      <p:sp>
        <p:nvSpPr>
          <p:cNvPr id="17" name="Oval 16"/>
          <p:cNvSpPr/>
          <p:nvPr/>
        </p:nvSpPr>
        <p:spPr>
          <a:xfrm>
            <a:off x="6062472" y="1115568"/>
            <a:ext cx="36576" cy="5349240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Real-World Example: New-Hire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The same ticket — 2–6 hours of human effort vs 30 seconds of autonomous execution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02 Solution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" y="1115568"/>
            <a:ext cx="5897880" cy="27432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BEFORE ZENOPS  —  Manual Process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" y="1389888"/>
            <a:ext cx="5897880" cy="50749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" y="1444752"/>
            <a:ext cx="5715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1.  Manager files ticket in ServiceNow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2.  Queue wait:  30 minutes – 2 hours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3.  Agent logs into Salesforce →  creates user record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4.  Agent logs into SAP HR  →  creates employee record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5.  Agent opens SAP work order for laptop provisioning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6.  Agent posts KB link to new hire and sends welcome email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7.  Agent emails manager with completion confirmation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8.  Agent closes ticket manually in ServiceNow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⏱  Total elapsed time:   2 – 6 hours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👥  People involved:       2 – 3 agents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💸  Cost:                  ~1 FTE-hour of L1 agent time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❌  Audit trail:           incomplete / manual notes</a:t>
            </a:r>
          </a:p>
        </p:txBody>
      </p:sp>
      <p:sp>
        <p:nvSpPr>
          <p:cNvPr id="14" name="Oval 13"/>
          <p:cNvSpPr/>
          <p:nvPr/>
        </p:nvSpPr>
        <p:spPr>
          <a:xfrm>
            <a:off x="6172200" y="1115568"/>
            <a:ext cx="5897880" cy="27432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WITH ZENOPS  —  Autonomous Execution</a:t>
            </a:r>
          </a:p>
        </p:txBody>
      </p:sp>
      <p:sp>
        <p:nvSpPr>
          <p:cNvPr id="15" name="Oval 14"/>
          <p:cNvSpPr/>
          <p:nvPr/>
        </p:nvSpPr>
        <p:spPr>
          <a:xfrm>
            <a:off x="6172200" y="1389888"/>
            <a:ext cx="5897880" cy="50749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444752"/>
            <a:ext cx="5715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1.  Manager files the same ticket in ServiceNow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2.  Orchestrator classifies:  USER_ONBOARDING  (instant)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3.  Agent reads ticket — plain language, no parsing rules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4.  MCP tool calls executed in sequence: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       sf_create_user         →  Salesforce record created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       sap_create_user        →  SAP HR record created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       sap_create_work_order  →  laptop work order raised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       send_email             →  welcome email dispatched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       sn_close_ticket        →  ticket closed &amp; logged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⏱  Total elapsed time:   ~30 seconds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👥  People involved:       0  (exceptions only)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✅  Audit trail:           complete — every tool call logged</a:t>
            </a:r>
          </a:p>
        </p:txBody>
      </p:sp>
      <p:sp>
        <p:nvSpPr>
          <p:cNvPr id="17" name="Oval 16"/>
          <p:cNvSpPr/>
          <p:nvPr/>
        </p:nvSpPr>
        <p:spPr>
          <a:xfrm>
            <a:off x="6062472" y="1115568"/>
            <a:ext cx="36576" cy="5349240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Use Cases ZENOPS Handles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54 tools across 4 enterprise systems — growing as the MCP ecosystem expands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02 Solution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" y="1115568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USE CASE CATEGORIES  —  current scope in the demo build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" y="1417320"/>
            <a:ext cx="2560320" cy="749808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Identity &amp; Access Management</a:t>
            </a:r>
          </a:p>
        </p:txBody>
      </p:sp>
      <p:sp>
        <p:nvSpPr>
          <p:cNvPr id="13" name="Oval 12"/>
          <p:cNvSpPr/>
          <p:nvPr/>
        </p:nvSpPr>
        <p:spPr>
          <a:xfrm>
            <a:off x="2679192" y="1417320"/>
            <a:ext cx="9390888" cy="749808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0632" y="1508760"/>
            <a:ext cx="9208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30304"/>
                </a:solidFill>
                <a:latin typeface="Calibri"/>
              </a:rPr>
              <a:t>Password resets  ·  Account creation  ·  Access request provisioning  ·  Role assignment  ·  User deactivation / offboarding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" y="2249424"/>
            <a:ext cx="2560320" cy="749808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Employee Lifecycle</a:t>
            </a:r>
          </a:p>
        </p:txBody>
      </p:sp>
      <p:sp>
        <p:nvSpPr>
          <p:cNvPr id="16" name="Oval 15"/>
          <p:cNvSpPr/>
          <p:nvPr/>
        </p:nvSpPr>
        <p:spPr>
          <a:xfrm>
            <a:off x="2679192" y="2249424"/>
            <a:ext cx="9390888" cy="749808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340864"/>
            <a:ext cx="9208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30304"/>
                </a:solidFill>
                <a:latin typeface="Calibri"/>
              </a:rPr>
              <a:t>New-hire onboarding (full cross-system stack)  ·  Role &amp; location transfers  ·  Equipment provisioning via SAP work orders</a:t>
            </a:r>
          </a:p>
        </p:txBody>
      </p:sp>
      <p:sp>
        <p:nvSpPr>
          <p:cNvPr id="18" name="Oval 17"/>
          <p:cNvSpPr/>
          <p:nvPr/>
        </p:nvSpPr>
        <p:spPr>
          <a:xfrm>
            <a:off x="118872" y="3081528"/>
            <a:ext cx="2560320" cy="74980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Customer &amp; Vendor Records</a:t>
            </a:r>
          </a:p>
        </p:txBody>
      </p:sp>
      <p:sp>
        <p:nvSpPr>
          <p:cNvPr id="19" name="Oval 18"/>
          <p:cNvSpPr/>
          <p:nvPr/>
        </p:nvSpPr>
        <p:spPr>
          <a:xfrm>
            <a:off x="2679192" y="3081528"/>
            <a:ext cx="9390888" cy="749808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70632" y="3172968"/>
            <a:ext cx="9208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30304"/>
                </a:solidFill>
                <a:latin typeface="Calibri"/>
              </a:rPr>
              <a:t>New contact / account creation across CRM + ERP  ·  Vendor onboarding  ·  Service case creation and intelligent routing</a:t>
            </a:r>
          </a:p>
        </p:txBody>
      </p:sp>
      <p:sp>
        <p:nvSpPr>
          <p:cNvPr id="21" name="Oval 20"/>
          <p:cNvSpPr/>
          <p:nvPr/>
        </p:nvSpPr>
        <p:spPr>
          <a:xfrm>
            <a:off x="118872" y="3913632"/>
            <a:ext cx="2560320" cy="749808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Approvals &amp; Change Management</a:t>
            </a:r>
          </a:p>
        </p:txBody>
      </p:sp>
      <p:sp>
        <p:nvSpPr>
          <p:cNvPr id="22" name="Oval 21"/>
          <p:cNvSpPr/>
          <p:nvPr/>
        </p:nvSpPr>
        <p:spPr>
          <a:xfrm>
            <a:off x="2679192" y="3913632"/>
            <a:ext cx="9390888" cy="749808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70632" y="4005072"/>
            <a:ext cx="9208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30304"/>
                </a:solidFill>
                <a:latin typeface="Calibri"/>
              </a:rPr>
              <a:t>Work order creation and approval  ·  Expense line routing  ·  Low-risk change management requests  ·  CAB-ready summaries</a:t>
            </a:r>
          </a:p>
        </p:txBody>
      </p:sp>
      <p:sp>
        <p:nvSpPr>
          <p:cNvPr id="24" name="Oval 23"/>
          <p:cNvSpPr/>
          <p:nvPr/>
        </p:nvSpPr>
        <p:spPr>
          <a:xfrm>
            <a:off x="118872" y="4745736"/>
            <a:ext cx="2560320" cy="749808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Cross-System Insight &amp; Reporting</a:t>
            </a:r>
          </a:p>
        </p:txBody>
      </p:sp>
      <p:sp>
        <p:nvSpPr>
          <p:cNvPr id="25" name="Oval 24"/>
          <p:cNvSpPr/>
          <p:nvPr/>
        </p:nvSpPr>
        <p:spPr>
          <a:xfrm>
            <a:off x="2679192" y="4745736"/>
            <a:ext cx="9390888" cy="749808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70632" y="4837176"/>
            <a:ext cx="9208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30304"/>
                </a:solidFill>
                <a:latin typeface="Calibri"/>
              </a:rPr>
              <a:t>360° customer view across Salesforce + ServiceNow  ·  Enterprise health dashboard  ·  Ticket triage and escalation routing</a:t>
            </a:r>
          </a:p>
        </p:txBody>
      </p:sp>
      <p:sp>
        <p:nvSpPr>
          <p:cNvPr id="27" name="Oval 26"/>
          <p:cNvSpPr/>
          <p:nvPr/>
        </p:nvSpPr>
        <p:spPr>
          <a:xfrm>
            <a:off x="118872" y="5577840"/>
            <a:ext cx="2560320" cy="749808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Integration &amp; Operations</a:t>
            </a:r>
          </a:p>
        </p:txBody>
      </p:sp>
      <p:sp>
        <p:nvSpPr>
          <p:cNvPr id="28" name="Oval 27"/>
          <p:cNvSpPr/>
          <p:nvPr/>
        </p:nvSpPr>
        <p:spPr>
          <a:xfrm>
            <a:off x="2679192" y="5577840"/>
            <a:ext cx="9390888" cy="749808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70632" y="5669279"/>
            <a:ext cx="9208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30304"/>
                </a:solidFill>
                <a:latin typeface="Calibri"/>
              </a:rPr>
              <a:t>MuleSoft route status checks  ·  Cross-platform data sync validation  ·  Scheduled batch operation triggers  ·  Health checks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Use Cases ZENOPS Handles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54 tools across 4 enterprise systems — growing as the MCP ecosystem expands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02 Solution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" y="1115568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USE CASE CATEGORIES  —  current scope in the demo build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" y="1417320"/>
            <a:ext cx="2560320" cy="749808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Identity &amp; Access Management</a:t>
            </a:r>
          </a:p>
        </p:txBody>
      </p:sp>
      <p:sp>
        <p:nvSpPr>
          <p:cNvPr id="13" name="Oval 12"/>
          <p:cNvSpPr/>
          <p:nvPr/>
        </p:nvSpPr>
        <p:spPr>
          <a:xfrm>
            <a:off x="2679192" y="1417320"/>
            <a:ext cx="9390888" cy="749808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0632" y="1508760"/>
            <a:ext cx="9208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30304"/>
                </a:solidFill>
                <a:latin typeface="Calibri"/>
              </a:rPr>
              <a:t>Password resets  ·  Account creation  ·  Access request provisioning  ·  Role assignment  ·  User deactivation / offboarding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" y="2249424"/>
            <a:ext cx="2560320" cy="749808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Employee Lifecycle</a:t>
            </a:r>
          </a:p>
        </p:txBody>
      </p:sp>
      <p:sp>
        <p:nvSpPr>
          <p:cNvPr id="16" name="Oval 15"/>
          <p:cNvSpPr/>
          <p:nvPr/>
        </p:nvSpPr>
        <p:spPr>
          <a:xfrm>
            <a:off x="2679192" y="2249424"/>
            <a:ext cx="9390888" cy="749808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2340864"/>
            <a:ext cx="9208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30304"/>
                </a:solidFill>
                <a:latin typeface="Calibri"/>
              </a:rPr>
              <a:t>New-hire onboarding (full cross-system stack)  ·  Role &amp; location transfers  ·  Equipment provisioning via SAP work orders</a:t>
            </a:r>
          </a:p>
        </p:txBody>
      </p:sp>
      <p:sp>
        <p:nvSpPr>
          <p:cNvPr id="18" name="Oval 17"/>
          <p:cNvSpPr/>
          <p:nvPr/>
        </p:nvSpPr>
        <p:spPr>
          <a:xfrm>
            <a:off x="118872" y="3081528"/>
            <a:ext cx="2560320" cy="74980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Customer &amp; Vendor Records</a:t>
            </a:r>
          </a:p>
        </p:txBody>
      </p:sp>
      <p:sp>
        <p:nvSpPr>
          <p:cNvPr id="19" name="Oval 18"/>
          <p:cNvSpPr/>
          <p:nvPr/>
        </p:nvSpPr>
        <p:spPr>
          <a:xfrm>
            <a:off x="2679192" y="3081528"/>
            <a:ext cx="9390888" cy="749808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70632" y="3172968"/>
            <a:ext cx="9208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30304"/>
                </a:solidFill>
                <a:latin typeface="Calibri"/>
              </a:rPr>
              <a:t>New contact / account creation across CRM + ERP  ·  Vendor onboarding  ·  Service case creation and intelligent routing</a:t>
            </a:r>
          </a:p>
        </p:txBody>
      </p:sp>
      <p:sp>
        <p:nvSpPr>
          <p:cNvPr id="21" name="Oval 20"/>
          <p:cNvSpPr/>
          <p:nvPr/>
        </p:nvSpPr>
        <p:spPr>
          <a:xfrm>
            <a:off x="118872" y="3913632"/>
            <a:ext cx="2560320" cy="749808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Approvals &amp; Change Management</a:t>
            </a:r>
          </a:p>
        </p:txBody>
      </p:sp>
      <p:sp>
        <p:nvSpPr>
          <p:cNvPr id="22" name="Oval 21"/>
          <p:cNvSpPr/>
          <p:nvPr/>
        </p:nvSpPr>
        <p:spPr>
          <a:xfrm>
            <a:off x="2679192" y="3913632"/>
            <a:ext cx="9390888" cy="749808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70632" y="4005072"/>
            <a:ext cx="9208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30304"/>
                </a:solidFill>
                <a:latin typeface="Calibri"/>
              </a:rPr>
              <a:t>Work order creation and approval  ·  Expense line routing  ·  Low-risk change management requests  ·  CAB-ready summaries</a:t>
            </a:r>
          </a:p>
        </p:txBody>
      </p:sp>
      <p:sp>
        <p:nvSpPr>
          <p:cNvPr id="24" name="Oval 23"/>
          <p:cNvSpPr/>
          <p:nvPr/>
        </p:nvSpPr>
        <p:spPr>
          <a:xfrm>
            <a:off x="118872" y="4745736"/>
            <a:ext cx="2560320" cy="749808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Cross-System Insight &amp; Reporting</a:t>
            </a:r>
          </a:p>
        </p:txBody>
      </p:sp>
      <p:sp>
        <p:nvSpPr>
          <p:cNvPr id="25" name="Oval 24"/>
          <p:cNvSpPr/>
          <p:nvPr/>
        </p:nvSpPr>
        <p:spPr>
          <a:xfrm>
            <a:off x="2679192" y="4745736"/>
            <a:ext cx="9390888" cy="749808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70632" y="4837176"/>
            <a:ext cx="9208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30304"/>
                </a:solidFill>
                <a:latin typeface="Calibri"/>
              </a:rPr>
              <a:t>360° customer view across Salesforce + ServiceNow  ·  Enterprise health dashboard  ·  Ticket triage and escalation routing</a:t>
            </a:r>
          </a:p>
        </p:txBody>
      </p:sp>
      <p:sp>
        <p:nvSpPr>
          <p:cNvPr id="27" name="Oval 26"/>
          <p:cNvSpPr/>
          <p:nvPr/>
        </p:nvSpPr>
        <p:spPr>
          <a:xfrm>
            <a:off x="118872" y="5577840"/>
            <a:ext cx="2560320" cy="749808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Integration &amp; Operations</a:t>
            </a:r>
          </a:p>
        </p:txBody>
      </p:sp>
      <p:sp>
        <p:nvSpPr>
          <p:cNvPr id="28" name="Oval 27"/>
          <p:cNvSpPr/>
          <p:nvPr/>
        </p:nvSpPr>
        <p:spPr>
          <a:xfrm>
            <a:off x="2679192" y="5577840"/>
            <a:ext cx="9390888" cy="749808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70632" y="5669279"/>
            <a:ext cx="92080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30304"/>
                </a:solidFill>
                <a:latin typeface="Calibri"/>
              </a:rPr>
              <a:t>MuleSoft route status checks  ·  Cross-platform data sync validation  ·  Scheduled batch operation triggers  ·  Health checks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457200" cy="685800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920240"/>
            <a:ext cx="7132320" cy="64008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3840480"/>
            <a:ext cx="7132320" cy="64008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04  — 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74D1EA"/>
                </a:solidFill>
                <a:latin typeface="Calibri"/>
              </a:rPr>
              <a:t>Current Demo State  →  Target Enterprise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37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8D4D5"/>
                </a:solidFill>
                <a:latin typeface="Calibri"/>
              </a:rPr>
              <a:t>MCP-native from day one. The gap to enterprise is multi-tenancy, remote transport, auth, and Kubernetes.</a:t>
            </a:r>
          </a:p>
        </p:txBody>
      </p:sp>
      <p:sp>
        <p:nvSpPr>
          <p:cNvPr id="8" name="Oval 7"/>
          <p:cNvSpPr/>
          <p:nvPr/>
        </p:nvSpPr>
        <p:spPr>
          <a:xfrm>
            <a:off x="0" y="6080760"/>
            <a:ext cx="2031492" cy="50292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Demo: Phase 0</a:t>
            </a:r>
          </a:p>
        </p:txBody>
      </p:sp>
      <p:sp>
        <p:nvSpPr>
          <p:cNvPr id="9" name="Oval 8"/>
          <p:cNvSpPr/>
          <p:nvPr/>
        </p:nvSpPr>
        <p:spPr>
          <a:xfrm>
            <a:off x="2031492" y="6080760"/>
            <a:ext cx="2031492" cy="50292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Phase 1: Security</a:t>
            </a:r>
          </a:p>
        </p:txBody>
      </p:sp>
      <p:sp>
        <p:nvSpPr>
          <p:cNvPr id="10" name="Oval 9"/>
          <p:cNvSpPr/>
          <p:nvPr/>
        </p:nvSpPr>
        <p:spPr>
          <a:xfrm>
            <a:off x="4062984" y="6080760"/>
            <a:ext cx="2031492" cy="502920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Phase 2: Foundation</a:t>
            </a:r>
          </a:p>
        </p:txBody>
      </p:sp>
      <p:sp>
        <p:nvSpPr>
          <p:cNvPr id="11" name="Oval 10"/>
          <p:cNvSpPr/>
          <p:nvPr/>
        </p:nvSpPr>
        <p:spPr>
          <a:xfrm>
            <a:off x="6094476" y="6080760"/>
            <a:ext cx="2031492" cy="50292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Phase 3: MCP Routing</a:t>
            </a:r>
          </a:p>
        </p:txBody>
      </p:sp>
      <p:sp>
        <p:nvSpPr>
          <p:cNvPr id="12" name="Oval 11"/>
          <p:cNvSpPr/>
          <p:nvPr/>
        </p:nvSpPr>
        <p:spPr>
          <a:xfrm>
            <a:off x="8125968" y="6080760"/>
            <a:ext cx="2031492" cy="50292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Phase 4: Real APIs</a:t>
            </a:r>
          </a:p>
        </p:txBody>
      </p:sp>
      <p:sp>
        <p:nvSpPr>
          <p:cNvPr id="13" name="Oval 12"/>
          <p:cNvSpPr/>
          <p:nvPr/>
        </p:nvSpPr>
        <p:spPr>
          <a:xfrm>
            <a:off x="10157460" y="6080760"/>
            <a:ext cx="2031492" cy="50292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Phase 5: Production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8D4D5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Current Architecture — Demo (Phase 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Single-tenant · Local Docker Compose · No auth · SQLite · stdio MCP transport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04 Architecture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" y="1115568"/>
            <a:ext cx="1463040" cy="987552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FRONTEND
CHANNELS</a:t>
            </a:r>
          </a:p>
        </p:txBody>
      </p:sp>
      <p:sp>
        <p:nvSpPr>
          <p:cNvPr id="12" name="Oval 11"/>
          <p:cNvSpPr/>
          <p:nvPr/>
        </p:nvSpPr>
        <p:spPr>
          <a:xfrm>
            <a:off x="1581912" y="1115568"/>
            <a:ext cx="10488168" cy="987552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73352" y="1207008"/>
            <a:ext cx="10305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Client Portal (React 18 + nginx, port 2005)  ·  ServiceNow Frontend (React, port 4780)  ·  Auto-forwarder pushes new tickets to the Orchestrator via 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103120"/>
            <a:ext cx="18288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66666"/>
                </a:solidFill>
                <a:latin typeface="Calibri"/>
              </a:rPr>
              <a:t>▼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" y="2185415"/>
            <a:ext cx="1463040" cy="987552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TICKET
ORCHESTRATOR</a:t>
            </a:r>
          </a:p>
        </p:txBody>
      </p:sp>
      <p:sp>
        <p:nvSpPr>
          <p:cNvPr id="16" name="Oval 15"/>
          <p:cNvSpPr/>
          <p:nvPr/>
        </p:nvSpPr>
        <p:spPr>
          <a:xfrm>
            <a:off x="1581912" y="2185415"/>
            <a:ext cx="10488168" cy="987552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73352" y="2276856"/>
            <a:ext cx="10305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FastAPI service (port 2486) · SQLite store · Classifies tickets by action_type (PASSWORD_RESET, USER_CREATION, WORK_ORDER, CASE, ...) · Routes to agent · Stores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3172968"/>
            <a:ext cx="18288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66666"/>
                </a:solidFill>
                <a:latin typeface="Calibri"/>
              </a:rPr>
              <a:t>▼</a:t>
            </a:r>
          </a:p>
        </p:txBody>
      </p:sp>
      <p:sp>
        <p:nvSpPr>
          <p:cNvPr id="19" name="Oval 18"/>
          <p:cNvSpPr/>
          <p:nvPr/>
        </p:nvSpPr>
        <p:spPr>
          <a:xfrm>
            <a:off x="118872" y="3255263"/>
            <a:ext cx="1463040" cy="987552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NETWORK OPS
AGENT</a:t>
            </a:r>
          </a:p>
        </p:txBody>
      </p:sp>
      <p:sp>
        <p:nvSpPr>
          <p:cNvPr id="20" name="Oval 19"/>
          <p:cNvSpPr/>
          <p:nvPr/>
        </p:nvSpPr>
        <p:spPr>
          <a:xfrm>
            <a:off x="1581912" y="3255263"/>
            <a:ext cx="10488168" cy="987552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73352" y="3346703"/>
            <a:ext cx="10305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FastAPI service (port 7532) · Mistral Agents API (cloud) · Continuous Processor polls Orchestrator every 10 s · Fast-path handlers (lines 768–1118) for common types · MCPHub client (stdio)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242816"/>
            <a:ext cx="18288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66666"/>
                </a:solidFill>
                <a:latin typeface="Calibri"/>
              </a:rPr>
              <a:t>▼</a:t>
            </a:r>
          </a:p>
        </p:txBody>
      </p:sp>
      <p:sp>
        <p:nvSpPr>
          <p:cNvPr id="23" name="Oval 22"/>
          <p:cNvSpPr/>
          <p:nvPr/>
        </p:nvSpPr>
        <p:spPr>
          <a:xfrm>
            <a:off x="118872" y="4325112"/>
            <a:ext cx="1463040" cy="987552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MCP UNIFIED
HUB</a:t>
            </a:r>
          </a:p>
        </p:txBody>
      </p:sp>
      <p:sp>
        <p:nvSpPr>
          <p:cNvPr id="24" name="Oval 23"/>
          <p:cNvSpPr/>
          <p:nvPr/>
        </p:nvSpPr>
        <p:spPr>
          <a:xfrm>
            <a:off x="1581912" y="4325112"/>
            <a:ext cx="10488168" cy="987552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73352" y="4416551"/>
            <a:ext cx="10305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mcp_unified.py · Single monolithic MCP server · 54 tools: Salesforce (8) · ServiceNow (10) · SAP (12) · MuleSoft (6) · Cross-platform (18) · stdio transport (agent + MCP must share the same host) · No auth between agent and MCP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5312664"/>
            <a:ext cx="182880" cy="8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66666"/>
                </a:solidFill>
                <a:latin typeface="Calibri"/>
              </a:rPr>
              <a:t>▼</a:t>
            </a:r>
          </a:p>
        </p:txBody>
      </p:sp>
      <p:sp>
        <p:nvSpPr>
          <p:cNvPr id="27" name="Oval 26"/>
          <p:cNvSpPr/>
          <p:nvPr/>
        </p:nvSpPr>
        <p:spPr>
          <a:xfrm>
            <a:off x="118872" y="5394959"/>
            <a:ext cx="1463040" cy="987552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ENTERPRISE
BACKENDS</a:t>
            </a:r>
          </a:p>
        </p:txBody>
      </p:sp>
      <p:sp>
        <p:nvSpPr>
          <p:cNvPr id="28" name="Oval 27"/>
          <p:cNvSpPr/>
          <p:nvPr/>
        </p:nvSpPr>
        <p:spPr>
          <a:xfrm>
            <a:off x="1581912" y="5394959"/>
            <a:ext cx="10488168" cy="987552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73352" y="5486399"/>
            <a:ext cx="103052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ServiceNow clone (port 4780 / db 4793)  ·  Salesforce clone (port 4799 / db 4791)  ·  SAP clone (port 4798 / db 4794)  ·  MuleSoft clone (port 4797 / db 4792)  ·  ⚠  ALL ARE LOCAL CLONES — no real Salesforce / SAP / ServiceNow traffic today</a:t>
            </a:r>
          </a:p>
        </p:txBody>
      </p:sp>
      <p:sp>
        <p:nvSpPr>
          <p:cNvPr id="30" name="Oval 29"/>
          <p:cNvSpPr/>
          <p:nvPr/>
        </p:nvSpPr>
        <p:spPr>
          <a:xfrm>
            <a:off x="118872" y="6446520"/>
            <a:ext cx="11951208" cy="27432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⚠  Known gaps: hardcoded credentials (admin123/changeme)  ·  CORS wildcard ["*"]  ·  no retries / circuit breaker  ·  no tests  ·  no observability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MCP Layer: Demo vs Enterprise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The protocol is the same — the gap is transport, auth, tenancy, and scale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04 Architecture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" y="1115568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MODEL CONTEXT PROTOCOL (MCP)  —  Anthropic open standard 2024  ·  already in production in our demo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" y="1417320"/>
            <a:ext cx="3017520" cy="347472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DIMENSION</a:t>
            </a:r>
          </a:p>
        </p:txBody>
      </p:sp>
      <p:sp>
        <p:nvSpPr>
          <p:cNvPr id="13" name="Oval 12"/>
          <p:cNvSpPr/>
          <p:nvPr/>
        </p:nvSpPr>
        <p:spPr>
          <a:xfrm>
            <a:off x="3136392" y="1417320"/>
            <a:ext cx="3977639" cy="347472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OUR DEMO STATE</a:t>
            </a:r>
          </a:p>
        </p:txBody>
      </p:sp>
      <p:sp>
        <p:nvSpPr>
          <p:cNvPr id="14" name="Oval 13"/>
          <p:cNvSpPr/>
          <p:nvPr/>
        </p:nvSpPr>
        <p:spPr>
          <a:xfrm>
            <a:off x="7114032" y="1417320"/>
            <a:ext cx="4956048" cy="347472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ENTERPRISE TARGET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" y="1764792"/>
            <a:ext cx="3017520" cy="548640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Transport</a:t>
            </a:r>
          </a:p>
        </p:txBody>
      </p:sp>
      <p:sp>
        <p:nvSpPr>
          <p:cNvPr id="16" name="Oval 15"/>
          <p:cNvSpPr/>
          <p:nvPr/>
        </p:nvSpPr>
        <p:spPr>
          <a:xfrm>
            <a:off x="3136392" y="1764792"/>
            <a:ext cx="3977639" cy="548640"/>
          </a:xfrm>
          <a:prstGeom prst="ellipse">
            <a:avLst/>
          </a:prstGeom>
          <a:solidFill>
            <a:srgbClr val="FFEE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27832" y="1837943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71C1C"/>
                </a:solidFill>
                <a:latin typeface="Calibri"/>
              </a:rPr>
              <a:t>stdio subprocess (local only)</a:t>
            </a:r>
          </a:p>
        </p:txBody>
      </p:sp>
      <p:sp>
        <p:nvSpPr>
          <p:cNvPr id="18" name="Oval 17"/>
          <p:cNvSpPr/>
          <p:nvPr/>
        </p:nvSpPr>
        <p:spPr>
          <a:xfrm>
            <a:off x="7114032" y="1764792"/>
            <a:ext cx="4956048" cy="548640"/>
          </a:xfrm>
          <a:prstGeom prst="ellipse">
            <a:avLst/>
          </a:prstGeom>
          <a:solidFill>
            <a:srgbClr val="EEFF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5472" y="1837943"/>
            <a:ext cx="4773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5E20"/>
                </a:solidFill>
                <a:latin typeface="Calibri"/>
              </a:rPr>
              <a:t>HTTP + SSE / Streamable HTTP · mTLS optional</a:t>
            </a:r>
          </a:p>
        </p:txBody>
      </p:sp>
      <p:sp>
        <p:nvSpPr>
          <p:cNvPr id="20" name="Oval 19"/>
          <p:cNvSpPr/>
          <p:nvPr/>
        </p:nvSpPr>
        <p:spPr>
          <a:xfrm>
            <a:off x="118872" y="2350008"/>
            <a:ext cx="3017520" cy="54864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Auth</a:t>
            </a:r>
          </a:p>
        </p:txBody>
      </p:sp>
      <p:sp>
        <p:nvSpPr>
          <p:cNvPr id="21" name="Oval 20"/>
          <p:cNvSpPr/>
          <p:nvPr/>
        </p:nvSpPr>
        <p:spPr>
          <a:xfrm>
            <a:off x="3136392" y="2350008"/>
            <a:ext cx="3977639" cy="548640"/>
          </a:xfrm>
          <a:prstGeom prst="ellipse">
            <a:avLst/>
          </a:prstGeom>
          <a:solidFill>
            <a:srgbClr val="FFEE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27832" y="2423160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71C1C"/>
                </a:solidFill>
                <a:latin typeface="Calibri"/>
              </a:rPr>
              <a:t>None — stdio = trusted child process</a:t>
            </a:r>
          </a:p>
        </p:txBody>
      </p:sp>
      <p:sp>
        <p:nvSpPr>
          <p:cNvPr id="23" name="Oval 22"/>
          <p:cNvSpPr/>
          <p:nvPr/>
        </p:nvSpPr>
        <p:spPr>
          <a:xfrm>
            <a:off x="7114032" y="2350008"/>
            <a:ext cx="4956048" cy="548640"/>
          </a:xfrm>
          <a:prstGeom prst="ellipse">
            <a:avLst/>
          </a:prstGeom>
          <a:solidFill>
            <a:srgbClr val="EEFF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05472" y="2423160"/>
            <a:ext cx="4773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5E20"/>
                </a:solidFill>
                <a:latin typeface="Calibri"/>
              </a:rPr>
              <a:t>OAuth 2.1 (client-credentials) · API key · per-tenant tokens</a:t>
            </a:r>
          </a:p>
        </p:txBody>
      </p:sp>
      <p:sp>
        <p:nvSpPr>
          <p:cNvPr id="25" name="Oval 24"/>
          <p:cNvSpPr/>
          <p:nvPr/>
        </p:nvSpPr>
        <p:spPr>
          <a:xfrm>
            <a:off x="118872" y="2935224"/>
            <a:ext cx="3017520" cy="548640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Multi-tenancy</a:t>
            </a:r>
          </a:p>
        </p:txBody>
      </p:sp>
      <p:sp>
        <p:nvSpPr>
          <p:cNvPr id="26" name="Oval 25"/>
          <p:cNvSpPr/>
          <p:nvPr/>
        </p:nvSpPr>
        <p:spPr>
          <a:xfrm>
            <a:off x="3136392" y="2935224"/>
            <a:ext cx="3977639" cy="548640"/>
          </a:xfrm>
          <a:prstGeom prst="ellipse">
            <a:avLst/>
          </a:prstGeom>
          <a:solidFill>
            <a:srgbClr val="FFEE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27832" y="3008376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71C1C"/>
                </a:solidFill>
                <a:latin typeface="Calibri"/>
              </a:rPr>
              <a:t>Single tenant — one customer only</a:t>
            </a:r>
          </a:p>
        </p:txBody>
      </p:sp>
      <p:sp>
        <p:nvSpPr>
          <p:cNvPr id="28" name="Oval 27"/>
          <p:cNvSpPr/>
          <p:nvPr/>
        </p:nvSpPr>
        <p:spPr>
          <a:xfrm>
            <a:off x="7114032" y="2935224"/>
            <a:ext cx="4956048" cy="548640"/>
          </a:xfrm>
          <a:prstGeom prst="ellipse">
            <a:avLst/>
          </a:prstGeom>
          <a:solidFill>
            <a:srgbClr val="EEFF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05472" y="3008376"/>
            <a:ext cx="4773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5E20"/>
                </a:solidFill>
                <a:latin typeface="Calibri"/>
              </a:rPr>
              <a:t>tenant_id on every record · row-level Postgres security</a:t>
            </a:r>
          </a:p>
        </p:txBody>
      </p:sp>
      <p:sp>
        <p:nvSpPr>
          <p:cNvPr id="30" name="Oval 29"/>
          <p:cNvSpPr/>
          <p:nvPr/>
        </p:nvSpPr>
        <p:spPr>
          <a:xfrm>
            <a:off x="118872" y="3520439"/>
            <a:ext cx="3017520" cy="54864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MCP Routing</a:t>
            </a:r>
          </a:p>
        </p:txBody>
      </p:sp>
      <p:sp>
        <p:nvSpPr>
          <p:cNvPr id="31" name="Oval 30"/>
          <p:cNvSpPr/>
          <p:nvPr/>
        </p:nvSpPr>
        <p:spPr>
          <a:xfrm>
            <a:off x="3136392" y="3520439"/>
            <a:ext cx="3977639" cy="548640"/>
          </a:xfrm>
          <a:prstGeom prst="ellipse">
            <a:avLst/>
          </a:prstGeom>
          <a:solidFill>
            <a:srgbClr val="FFEE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27832" y="3593591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71C1C"/>
                </a:solidFill>
                <a:latin typeface="Calibri"/>
              </a:rPr>
              <a:t>Hardcoded path to mcp_unified.py</a:t>
            </a:r>
          </a:p>
        </p:txBody>
      </p:sp>
      <p:sp>
        <p:nvSpPr>
          <p:cNvPr id="33" name="Oval 32"/>
          <p:cNvSpPr/>
          <p:nvPr/>
        </p:nvSpPr>
        <p:spPr>
          <a:xfrm>
            <a:off x="7114032" y="3520439"/>
            <a:ext cx="4956048" cy="548640"/>
          </a:xfrm>
          <a:prstGeom prst="ellipse">
            <a:avLst/>
          </a:prstGeom>
          <a:solidFill>
            <a:srgbClr val="EEFF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05472" y="3593591"/>
            <a:ext cx="4773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5E20"/>
                </a:solidFill>
                <a:latin typeface="Calibri"/>
              </a:rPr>
              <a:t>MCP Gateway: N servers · tool→server registry · conflict resolution</a:t>
            </a:r>
          </a:p>
        </p:txBody>
      </p:sp>
      <p:sp>
        <p:nvSpPr>
          <p:cNvPr id="35" name="Oval 34"/>
          <p:cNvSpPr/>
          <p:nvPr/>
        </p:nvSpPr>
        <p:spPr>
          <a:xfrm>
            <a:off x="118872" y="4105656"/>
            <a:ext cx="3017520" cy="548640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Tool Surface</a:t>
            </a:r>
          </a:p>
        </p:txBody>
      </p:sp>
      <p:sp>
        <p:nvSpPr>
          <p:cNvPr id="36" name="Oval 35"/>
          <p:cNvSpPr/>
          <p:nvPr/>
        </p:nvSpPr>
        <p:spPr>
          <a:xfrm>
            <a:off x="3136392" y="4105656"/>
            <a:ext cx="3977639" cy="548640"/>
          </a:xfrm>
          <a:prstGeom prst="ellipse">
            <a:avLst/>
          </a:prstGeom>
          <a:solidFill>
            <a:srgbClr val="FFEE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27832" y="4178808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71C1C"/>
                </a:solidFill>
                <a:latin typeface="Calibri"/>
              </a:rPr>
              <a:t>54 tools · static list in source code</a:t>
            </a:r>
          </a:p>
        </p:txBody>
      </p:sp>
      <p:sp>
        <p:nvSpPr>
          <p:cNvPr id="38" name="Oval 37"/>
          <p:cNvSpPr/>
          <p:nvPr/>
        </p:nvSpPr>
        <p:spPr>
          <a:xfrm>
            <a:off x="7114032" y="4105656"/>
            <a:ext cx="4956048" cy="548640"/>
          </a:xfrm>
          <a:prstGeom prst="ellipse">
            <a:avLst/>
          </a:prstGeom>
          <a:solidFill>
            <a:srgbClr val="EEFF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05472" y="4178808"/>
            <a:ext cx="4773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5E20"/>
                </a:solidFill>
                <a:latin typeface="Calibri"/>
              </a:rPr>
              <a:t>100s of tools · paginated list_tools · versioned manifests</a:t>
            </a:r>
          </a:p>
        </p:txBody>
      </p:sp>
      <p:sp>
        <p:nvSpPr>
          <p:cNvPr id="40" name="Oval 39"/>
          <p:cNvSpPr/>
          <p:nvPr/>
        </p:nvSpPr>
        <p:spPr>
          <a:xfrm>
            <a:off x="118872" y="4690872"/>
            <a:ext cx="3017520" cy="54864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Audit Log</a:t>
            </a:r>
          </a:p>
        </p:txBody>
      </p:sp>
      <p:sp>
        <p:nvSpPr>
          <p:cNvPr id="41" name="Oval 40"/>
          <p:cNvSpPr/>
          <p:nvPr/>
        </p:nvSpPr>
        <p:spPr>
          <a:xfrm>
            <a:off x="3136392" y="4690872"/>
            <a:ext cx="3977639" cy="548640"/>
          </a:xfrm>
          <a:prstGeom prst="ellipse">
            <a:avLst/>
          </a:prstGeom>
          <a:solidFill>
            <a:srgbClr val="FFEE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27832" y="4764024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71C1C"/>
                </a:solidFill>
                <a:latin typeface="Calibri"/>
              </a:rPr>
              <a:t>Basic Python logging only</a:t>
            </a:r>
          </a:p>
        </p:txBody>
      </p:sp>
      <p:sp>
        <p:nvSpPr>
          <p:cNvPr id="43" name="Oval 42"/>
          <p:cNvSpPr/>
          <p:nvPr/>
        </p:nvSpPr>
        <p:spPr>
          <a:xfrm>
            <a:off x="7114032" y="4690872"/>
            <a:ext cx="4956048" cy="548640"/>
          </a:xfrm>
          <a:prstGeom prst="ellipse">
            <a:avLst/>
          </a:prstGeom>
          <a:solidFill>
            <a:srgbClr val="EEFF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05472" y="4764024"/>
            <a:ext cx="4773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5E20"/>
                </a:solidFill>
                <a:latin typeface="Calibri"/>
              </a:rPr>
              <a:t>Append-only immutable log · tenant · request_id · tool call · response</a:t>
            </a:r>
          </a:p>
        </p:txBody>
      </p:sp>
      <p:sp>
        <p:nvSpPr>
          <p:cNvPr id="45" name="Oval 44"/>
          <p:cNvSpPr/>
          <p:nvPr/>
        </p:nvSpPr>
        <p:spPr>
          <a:xfrm>
            <a:off x="118872" y="5276088"/>
            <a:ext cx="3017520" cy="548640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Reliability</a:t>
            </a:r>
          </a:p>
        </p:txBody>
      </p:sp>
      <p:sp>
        <p:nvSpPr>
          <p:cNvPr id="46" name="Oval 45"/>
          <p:cNvSpPr/>
          <p:nvPr/>
        </p:nvSpPr>
        <p:spPr>
          <a:xfrm>
            <a:off x="3136392" y="5276088"/>
            <a:ext cx="3977639" cy="548640"/>
          </a:xfrm>
          <a:prstGeom prst="ellipse">
            <a:avLst/>
          </a:prstGeom>
          <a:solidFill>
            <a:srgbClr val="FFEE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27832" y="5349240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71C1C"/>
                </a:solidFill>
                <a:latin typeface="Calibri"/>
              </a:rPr>
              <a:t>No retries · no circuit breaker · no DLQ</a:t>
            </a:r>
          </a:p>
        </p:txBody>
      </p:sp>
      <p:sp>
        <p:nvSpPr>
          <p:cNvPr id="48" name="Oval 47"/>
          <p:cNvSpPr/>
          <p:nvPr/>
        </p:nvSpPr>
        <p:spPr>
          <a:xfrm>
            <a:off x="7114032" y="5276088"/>
            <a:ext cx="4956048" cy="548640"/>
          </a:xfrm>
          <a:prstGeom prst="ellipse">
            <a:avLst/>
          </a:prstGeom>
          <a:solidFill>
            <a:srgbClr val="EEFF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05472" y="5349240"/>
            <a:ext cx="4773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5E20"/>
                </a:solidFill>
                <a:latin typeface="Calibri"/>
              </a:rPr>
              <a:t>Tenacity retries · circuit breaker per MCP · DLQ for poison tickets</a:t>
            </a:r>
          </a:p>
        </p:txBody>
      </p:sp>
      <p:sp>
        <p:nvSpPr>
          <p:cNvPr id="50" name="Oval 49"/>
          <p:cNvSpPr/>
          <p:nvPr/>
        </p:nvSpPr>
        <p:spPr>
          <a:xfrm>
            <a:off x="118872" y="5861304"/>
            <a:ext cx="3017520" cy="54864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Scale</a:t>
            </a:r>
          </a:p>
        </p:txBody>
      </p:sp>
      <p:sp>
        <p:nvSpPr>
          <p:cNvPr id="51" name="Oval 50"/>
          <p:cNvSpPr/>
          <p:nvPr/>
        </p:nvSpPr>
        <p:spPr>
          <a:xfrm>
            <a:off x="3136392" y="5861304"/>
            <a:ext cx="3977639" cy="548640"/>
          </a:xfrm>
          <a:prstGeom prst="ellipse">
            <a:avLst/>
          </a:prstGeom>
          <a:solidFill>
            <a:srgbClr val="FFEE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27832" y="5934456"/>
            <a:ext cx="3794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71C1C"/>
                </a:solidFill>
                <a:latin typeface="Calibri"/>
              </a:rPr>
              <a:t>Local Docker Compose · single host</a:t>
            </a:r>
          </a:p>
        </p:txBody>
      </p:sp>
      <p:sp>
        <p:nvSpPr>
          <p:cNvPr id="53" name="Oval 52"/>
          <p:cNvSpPr/>
          <p:nvPr/>
        </p:nvSpPr>
        <p:spPr>
          <a:xfrm>
            <a:off x="7114032" y="5861304"/>
            <a:ext cx="4956048" cy="548640"/>
          </a:xfrm>
          <a:prstGeom prst="ellipse">
            <a:avLst/>
          </a:prstGeom>
          <a:solidFill>
            <a:srgbClr val="EEFF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05472" y="5934456"/>
            <a:ext cx="4773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5E20"/>
                </a:solidFill>
                <a:latin typeface="Calibri"/>
              </a:rPr>
              <a:t>Kubernetes · HPA · blue-green · multi-AZ · health probes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Target Enterprise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Multi-tenant · Kubernetes · OAuth 2.1 · MCP Gateway · OpenTelemetry · SOC 2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04 Architecture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" y="1115568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TARGET TOPOLOGY  —  SaaS default · Hybrid (agent in customer VPC) · Self-hosted (Helm chart)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" y="1417320"/>
            <a:ext cx="1463040" cy="91440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API
GATEWAY</a:t>
            </a:r>
          </a:p>
        </p:txBody>
      </p:sp>
      <p:sp>
        <p:nvSpPr>
          <p:cNvPr id="13" name="Oval 12"/>
          <p:cNvSpPr/>
          <p:nvPr/>
        </p:nvSpPr>
        <p:spPr>
          <a:xfrm>
            <a:off x="1581912" y="1417320"/>
            <a:ext cx="10488168" cy="9144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73352" y="1490472"/>
            <a:ext cx="1030528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Kong  ·  TLS termination  ·  WAF  ·  JWT verification  ·  Rate limiting per tenant  ·  OpenTelemetry traces on every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331720"/>
            <a:ext cx="1828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66666"/>
                </a:solidFill>
                <a:latin typeface="Calibri"/>
              </a:rPr>
              <a:t>▼</a:t>
            </a:r>
          </a:p>
        </p:txBody>
      </p:sp>
      <p:sp>
        <p:nvSpPr>
          <p:cNvPr id="16" name="Oval 15"/>
          <p:cNvSpPr/>
          <p:nvPr/>
        </p:nvSpPr>
        <p:spPr>
          <a:xfrm>
            <a:off x="118872" y="2423160"/>
            <a:ext cx="1463040" cy="91440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CONTROL
PLANE</a:t>
            </a:r>
          </a:p>
        </p:txBody>
      </p:sp>
      <p:sp>
        <p:nvSpPr>
          <p:cNvPr id="17" name="Oval 16"/>
          <p:cNvSpPr/>
          <p:nvPr/>
        </p:nvSpPr>
        <p:spPr>
          <a:xfrm>
            <a:off x="1581912" y="2423160"/>
            <a:ext cx="10488168" cy="914400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73352" y="2496312"/>
            <a:ext cx="1030528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Ticket Orchestrator (PostgreSQL + Redis)  ·  Tenant Admin UI (React)  ·  Webhook Ingress (ServiceNow forwarder)  ·  Event bus (Redis Streams / NATS): ticket.created · classified · completed · failed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3337560"/>
            <a:ext cx="1828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66666"/>
                </a:solidFill>
                <a:latin typeface="Calibri"/>
              </a:rPr>
              <a:t>▼</a:t>
            </a:r>
          </a:p>
        </p:txBody>
      </p:sp>
      <p:sp>
        <p:nvSpPr>
          <p:cNvPr id="20" name="Oval 19"/>
          <p:cNvSpPr/>
          <p:nvPr/>
        </p:nvSpPr>
        <p:spPr>
          <a:xfrm>
            <a:off x="118872" y="3429000"/>
            <a:ext cx="1463040" cy="91440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AGENT
WORKERS</a:t>
            </a:r>
          </a:p>
        </p:txBody>
      </p:sp>
      <p:sp>
        <p:nvSpPr>
          <p:cNvPr id="21" name="Oval 20"/>
          <p:cNvSpPr/>
          <p:nvPr/>
        </p:nvSpPr>
        <p:spPr>
          <a:xfrm>
            <a:off x="1581912" y="3429000"/>
            <a:ext cx="10488168" cy="9144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73352" y="3502152"/>
            <a:ext cx="1030528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k8s Deployment · HPA (auto-scale by ticket queue depth) · Fast-path handlers · LLM path (Claude / Mistral / OpenAI — configurable per tenant) · MCPManager (multi-server) loads tenant MCP set at session start from Secrets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343400"/>
            <a:ext cx="1828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66666"/>
                </a:solidFill>
                <a:latin typeface="Calibri"/>
              </a:rPr>
              <a:t>▼</a:t>
            </a:r>
          </a:p>
        </p:txBody>
      </p:sp>
      <p:sp>
        <p:nvSpPr>
          <p:cNvPr id="24" name="Oval 23"/>
          <p:cNvSpPr/>
          <p:nvPr/>
        </p:nvSpPr>
        <p:spPr>
          <a:xfrm>
            <a:off x="118872" y="4434840"/>
            <a:ext cx="1463040" cy="914400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MCP
GATEWAY</a:t>
            </a:r>
          </a:p>
        </p:txBody>
      </p:sp>
      <p:sp>
        <p:nvSpPr>
          <p:cNvPr id="25" name="Oval 24"/>
          <p:cNvSpPr/>
          <p:nvPr/>
        </p:nvSpPr>
        <p:spPr>
          <a:xfrm>
            <a:off x="1581912" y="4434840"/>
            <a:ext cx="10488168" cy="914400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73352" y="4507992"/>
            <a:ext cx="1030528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New service — extends current mcp_manager.py · Routes by tenant_id + tool_name · Injects per-tenant OAuth 2.1 tokens from Vault / AWS SM · Circuit breaker per MCP · Retries with back-off · DLQ for poison messages · Full audit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5349240"/>
            <a:ext cx="18288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66666"/>
                </a:solidFill>
                <a:latin typeface="Calibri"/>
              </a:rPr>
              <a:t>▼</a:t>
            </a:r>
          </a:p>
        </p:txBody>
      </p:sp>
      <p:sp>
        <p:nvSpPr>
          <p:cNvPr id="28" name="Oval 27"/>
          <p:cNvSpPr/>
          <p:nvPr/>
        </p:nvSpPr>
        <p:spPr>
          <a:xfrm>
            <a:off x="118872" y="5440680"/>
            <a:ext cx="1463040" cy="91440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ENTERPRISE
MCPs</a:t>
            </a:r>
          </a:p>
        </p:txBody>
      </p:sp>
      <p:sp>
        <p:nvSpPr>
          <p:cNvPr id="29" name="Oval 28"/>
          <p:cNvSpPr/>
          <p:nvPr/>
        </p:nvSpPr>
        <p:spPr>
          <a:xfrm>
            <a:off x="1581912" y="5440680"/>
            <a:ext cx="10488168" cy="9144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73352" y="5513832"/>
            <a:ext cx="1030528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ServiceNow MCP (official)  ·  Salesforce MCP (official)  ·  SAP S/4 MCP (custom thin wrapper over SAP REST APIs)  ·  GitHub · Atlassian · Microsoft Graph MCP connectors as needed per customer</a:t>
            </a:r>
          </a:p>
        </p:txBody>
      </p:sp>
      <p:sp>
        <p:nvSpPr>
          <p:cNvPr id="31" name="Oval 30"/>
          <p:cNvSpPr/>
          <p:nvPr/>
        </p:nvSpPr>
        <p:spPr>
          <a:xfrm>
            <a:off x="118872" y="6446520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 i="0">
                <a:solidFill>
                  <a:srgbClr val="8DE971"/>
                </a:solidFill>
                <a:latin typeface="Calibri"/>
              </a:rPr>
              <a:t>Cross-cutting: Secrets Manager (Vault/AWS SM)  ·  OpenTelemetry → Tempo + Prometheus + Loki  ·  Postgres audit log  ·  S3 object store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457200" cy="685800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1920240"/>
            <a:ext cx="7132320" cy="64008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3840480"/>
            <a:ext cx="7132320" cy="64008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05  — 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D96DC"/>
                </a:solidFill>
                <a:latin typeface="Calibri"/>
              </a:rPr>
              <a:t>ROI · Competition · 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37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8D4D5"/>
                </a:solidFill>
                <a:latin typeface="Calibri"/>
              </a:rPr>
              <a:t>Numbers a CFO will sign off on in under 10 minutes. Payback period under 6 months.</a:t>
            </a:r>
          </a:p>
        </p:txBody>
      </p:sp>
      <p:sp>
        <p:nvSpPr>
          <p:cNvPr id="8" name="Oval 7"/>
          <p:cNvSpPr/>
          <p:nvPr/>
        </p:nvSpPr>
        <p:spPr>
          <a:xfrm>
            <a:off x="0" y="5897880"/>
            <a:ext cx="2031492" cy="68580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50–70%
auto-resolve</a:t>
            </a:r>
          </a:p>
        </p:txBody>
      </p:sp>
      <p:sp>
        <p:nvSpPr>
          <p:cNvPr id="9" name="Oval 8"/>
          <p:cNvSpPr/>
          <p:nvPr/>
        </p:nvSpPr>
        <p:spPr>
          <a:xfrm>
            <a:off x="2031492" y="5897880"/>
            <a:ext cx="2031492" cy="68580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USD 600k–900k
saved/yr</a:t>
            </a:r>
          </a:p>
        </p:txBody>
      </p:sp>
      <p:sp>
        <p:nvSpPr>
          <p:cNvPr id="10" name="Oval 9"/>
          <p:cNvSpPr/>
          <p:nvPr/>
        </p:nvSpPr>
        <p:spPr>
          <a:xfrm>
            <a:off x="4062984" y="5897880"/>
            <a:ext cx="2031492" cy="68580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&lt;30 sec
resolution</a:t>
            </a:r>
          </a:p>
        </p:txBody>
      </p:sp>
      <p:sp>
        <p:nvSpPr>
          <p:cNvPr id="11" name="Oval 10"/>
          <p:cNvSpPr/>
          <p:nvPr/>
        </p:nvSpPr>
        <p:spPr>
          <a:xfrm>
            <a:off x="6094476" y="5897880"/>
            <a:ext cx="2031492" cy="685800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&lt;6 months
payback</a:t>
            </a:r>
          </a:p>
        </p:txBody>
      </p:sp>
      <p:sp>
        <p:nvSpPr>
          <p:cNvPr id="12" name="Oval 11"/>
          <p:cNvSpPr/>
          <p:nvPr/>
        </p:nvSpPr>
        <p:spPr>
          <a:xfrm>
            <a:off x="8125968" y="5897880"/>
            <a:ext cx="2031492" cy="68580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70–80%
gross margin</a:t>
            </a:r>
          </a:p>
        </p:txBody>
      </p:sp>
      <p:sp>
        <p:nvSpPr>
          <p:cNvPr id="13" name="Oval 12"/>
          <p:cNvSpPr/>
          <p:nvPr/>
        </p:nvSpPr>
        <p:spPr>
          <a:xfrm>
            <a:off x="10157460" y="5897880"/>
            <a:ext cx="2031492" cy="685800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SOC 2
Type 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8D4D5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Every category leaves a gap — cross-system IT orchestration — that ZENOPS fills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05 Business Case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" y="1115568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COMPETITIVE POSITIONING  —  why each alternative falls short for cross-system enterprise IT ops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" y="1417320"/>
            <a:ext cx="1828800" cy="347472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13" name="Oval 12"/>
          <p:cNvSpPr/>
          <p:nvPr/>
        </p:nvSpPr>
        <p:spPr>
          <a:xfrm>
            <a:off x="1947672" y="1417320"/>
            <a:ext cx="2286000" cy="347472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VENDOR</a:t>
            </a:r>
          </a:p>
        </p:txBody>
      </p:sp>
      <p:sp>
        <p:nvSpPr>
          <p:cNvPr id="14" name="Oval 13"/>
          <p:cNvSpPr/>
          <p:nvPr/>
        </p:nvSpPr>
        <p:spPr>
          <a:xfrm>
            <a:off x="4233672" y="1417320"/>
            <a:ext cx="2286000" cy="347472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THEIR GAP</a:t>
            </a:r>
          </a:p>
        </p:txBody>
      </p:sp>
      <p:sp>
        <p:nvSpPr>
          <p:cNvPr id="15" name="Oval 14"/>
          <p:cNvSpPr/>
          <p:nvPr/>
        </p:nvSpPr>
        <p:spPr>
          <a:xfrm>
            <a:off x="6519672" y="1417320"/>
            <a:ext cx="5550408" cy="347472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ZENOPS ADVANTAGE</a:t>
            </a:r>
          </a:p>
        </p:txBody>
      </p:sp>
      <p:sp>
        <p:nvSpPr>
          <p:cNvPr id="16" name="Oval 15"/>
          <p:cNvSpPr/>
          <p:nvPr/>
        </p:nvSpPr>
        <p:spPr>
          <a:xfrm>
            <a:off x="118872" y="1764792"/>
            <a:ext cx="1828800" cy="1115568"/>
          </a:xfrm>
          <a:prstGeom prst="ellipse">
            <a:avLst/>
          </a:prstGeom>
          <a:solidFill>
            <a:srgbClr val="74D1EA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Big Platform AI
(Now Assist, Copilot, Einstein)</a:t>
            </a:r>
          </a:p>
        </p:txBody>
      </p:sp>
      <p:sp>
        <p:nvSpPr>
          <p:cNvPr id="17" name="Oval 16"/>
          <p:cNvSpPr/>
          <p:nvPr/>
        </p:nvSpPr>
        <p:spPr>
          <a:xfrm>
            <a:off x="1947672" y="1764792"/>
            <a:ext cx="2286000" cy="1115568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39112" y="1837943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Microsoft, Salesforce,
ServiceNow themselves</a:t>
            </a:r>
          </a:p>
        </p:txBody>
      </p:sp>
      <p:sp>
        <p:nvSpPr>
          <p:cNvPr id="19" name="Oval 18"/>
          <p:cNvSpPr/>
          <p:nvPr/>
        </p:nvSpPr>
        <p:spPr>
          <a:xfrm>
            <a:off x="4233672" y="1764792"/>
            <a:ext cx="2286000" cy="1115568"/>
          </a:xfrm>
          <a:prstGeom prst="ellipse">
            <a:avLst/>
          </a:prstGeom>
          <a:solidFill>
            <a:srgbClr val="FFEE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1810512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71C1C"/>
                </a:solidFill>
                <a:latin typeface="Calibri"/>
              </a:rPr>
              <a:t>✗ Works only inside their own platform
✗ No cross-system orchestration
✗ Each vendor incentivised to keep you in their walled garden</a:t>
            </a:r>
          </a:p>
        </p:txBody>
      </p:sp>
      <p:sp>
        <p:nvSpPr>
          <p:cNvPr id="21" name="Oval 20"/>
          <p:cNvSpPr/>
          <p:nvPr/>
        </p:nvSpPr>
        <p:spPr>
          <a:xfrm>
            <a:off x="6519672" y="1764792"/>
            <a:ext cx="5550408" cy="1115568"/>
          </a:xfrm>
          <a:prstGeom prst="ellipse">
            <a:avLst/>
          </a:prstGeom>
          <a:solidFill>
            <a:srgbClr val="EEFF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1810512"/>
            <a:ext cx="5367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5E20"/>
                </a:solidFill>
                <a:latin typeface="Calibri"/>
              </a:rPr>
              <a:t>✓ Works ACROSS all platforms simultaneously
✓ Vendor-agnostic — additive, not rip-and-replace
✓ Bridges the gaps no single vendor will ever fix</a:t>
            </a:r>
          </a:p>
        </p:txBody>
      </p:sp>
      <p:sp>
        <p:nvSpPr>
          <p:cNvPr id="23" name="Oval 22"/>
          <p:cNvSpPr/>
          <p:nvPr/>
        </p:nvSpPr>
        <p:spPr>
          <a:xfrm>
            <a:off x="118872" y="2953512"/>
            <a:ext cx="1828800" cy="1115568"/>
          </a:xfrm>
          <a:prstGeom prst="ellipse">
            <a:avLst/>
          </a:prstGeom>
          <a:solidFill>
            <a:srgbClr val="AD96DC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RPA
(UiPath, AA, Blue Prism)</a:t>
            </a:r>
          </a:p>
        </p:txBody>
      </p:sp>
      <p:sp>
        <p:nvSpPr>
          <p:cNvPr id="24" name="Oval 23"/>
          <p:cNvSpPr/>
          <p:nvPr/>
        </p:nvSpPr>
        <p:spPr>
          <a:xfrm>
            <a:off x="1947672" y="2953512"/>
            <a:ext cx="2286000" cy="1115568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39112" y="3026664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Long-established
enterprise RPA</a:t>
            </a:r>
          </a:p>
        </p:txBody>
      </p:sp>
      <p:sp>
        <p:nvSpPr>
          <p:cNvPr id="26" name="Oval 25"/>
          <p:cNvSpPr/>
          <p:nvPr/>
        </p:nvSpPr>
        <p:spPr>
          <a:xfrm>
            <a:off x="4233672" y="2953512"/>
            <a:ext cx="2286000" cy="1115568"/>
          </a:xfrm>
          <a:prstGeom prst="ellipse">
            <a:avLst/>
          </a:prstGeom>
          <a:solidFill>
            <a:srgbClr val="FFEE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5112" y="2999232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71C1C"/>
                </a:solidFill>
                <a:latin typeface="Calibri"/>
              </a:rPr>
              <a:t>✗ Brittle UI scripts — break on any screen change
✗ No natural language understanding
✗ High maintenance burden at scale</a:t>
            </a:r>
          </a:p>
        </p:txBody>
      </p:sp>
      <p:sp>
        <p:nvSpPr>
          <p:cNvPr id="28" name="Oval 27"/>
          <p:cNvSpPr/>
          <p:nvPr/>
        </p:nvSpPr>
        <p:spPr>
          <a:xfrm>
            <a:off x="6519672" y="2953512"/>
            <a:ext cx="5550408" cy="1115568"/>
          </a:xfrm>
          <a:prstGeom prst="ellipse">
            <a:avLst/>
          </a:prstGeom>
          <a:solidFill>
            <a:srgbClr val="EEFF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2999232"/>
            <a:ext cx="5367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5E20"/>
                </a:solidFill>
                <a:latin typeface="Calibri"/>
              </a:rPr>
              <a:t>✓ API-native + AI reasoning — adapts to change
✓ Handles requests it has never seen before
✓ MCP standard vs fragile screen-scrapers</a:t>
            </a:r>
          </a:p>
        </p:txBody>
      </p:sp>
      <p:sp>
        <p:nvSpPr>
          <p:cNvPr id="30" name="Oval 29"/>
          <p:cNvSpPr/>
          <p:nvPr/>
        </p:nvSpPr>
        <p:spPr>
          <a:xfrm>
            <a:off x="118872" y="4142232"/>
            <a:ext cx="1828800" cy="1115568"/>
          </a:xfrm>
          <a:prstGeom prst="ellipse">
            <a:avLst/>
          </a:prstGeom>
          <a:solidFill>
            <a:srgbClr val="8DE971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AI Agent Startups
(Sierra, Decagon, Kore.ai)</a:t>
            </a:r>
          </a:p>
        </p:txBody>
      </p:sp>
      <p:sp>
        <p:nvSpPr>
          <p:cNvPr id="31" name="Oval 30"/>
          <p:cNvSpPr/>
          <p:nvPr/>
        </p:nvSpPr>
        <p:spPr>
          <a:xfrm>
            <a:off x="1947672" y="4142232"/>
            <a:ext cx="2286000" cy="1115568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39112" y="4215384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Customer-support
focused agents</a:t>
            </a:r>
          </a:p>
        </p:txBody>
      </p:sp>
      <p:sp>
        <p:nvSpPr>
          <p:cNvPr id="33" name="Oval 32"/>
          <p:cNvSpPr/>
          <p:nvPr/>
        </p:nvSpPr>
        <p:spPr>
          <a:xfrm>
            <a:off x="4233672" y="4142232"/>
            <a:ext cx="2286000" cy="1115568"/>
          </a:xfrm>
          <a:prstGeom prst="ellipse">
            <a:avLst/>
          </a:prstGeom>
          <a:solidFill>
            <a:srgbClr val="FFEE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25112" y="4187952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71C1C"/>
                </a:solidFill>
                <a:latin typeface="Calibri"/>
              </a:rPr>
              <a:t>✗ Customer-facing chatbots, not IT ops
✗ Limited internal system integration depth
✗ Different buyer (customer success vs CIO)</a:t>
            </a:r>
          </a:p>
        </p:txBody>
      </p:sp>
      <p:sp>
        <p:nvSpPr>
          <p:cNvPr id="35" name="Oval 34"/>
          <p:cNvSpPr/>
          <p:nvPr/>
        </p:nvSpPr>
        <p:spPr>
          <a:xfrm>
            <a:off x="6519672" y="4142232"/>
            <a:ext cx="5550408" cy="1115568"/>
          </a:xfrm>
          <a:prstGeom prst="ellipse">
            <a:avLst/>
          </a:prstGeom>
          <a:solidFill>
            <a:srgbClr val="EEFF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11112" y="4187952"/>
            <a:ext cx="5367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5E20"/>
                </a:solidFill>
                <a:latin typeface="Calibri"/>
              </a:rPr>
              <a:t>✓ Internal IT/ops buyer: CIO and Head of IT Ops
✓ Multi-system orchestration (ServiceNow + SAP + Salesforce)
✓ Enterprise audit trail and compliance posture</a:t>
            </a:r>
          </a:p>
        </p:txBody>
      </p:sp>
      <p:sp>
        <p:nvSpPr>
          <p:cNvPr id="37" name="Oval 36"/>
          <p:cNvSpPr/>
          <p:nvPr/>
        </p:nvSpPr>
        <p:spPr>
          <a:xfrm>
            <a:off x="118872" y="5330952"/>
            <a:ext cx="1828800" cy="1115568"/>
          </a:xfrm>
          <a:prstGeom prst="ellipse">
            <a:avLst/>
          </a:prstGeom>
          <a:solidFill>
            <a:srgbClr val="ECF166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030304"/>
                </a:solidFill>
                <a:latin typeface="Calibri"/>
              </a:rPr>
              <a:t>Custom In-House Build</a:t>
            </a:r>
          </a:p>
        </p:txBody>
      </p:sp>
      <p:sp>
        <p:nvSpPr>
          <p:cNvPr id="38" name="Oval 37"/>
          <p:cNvSpPr/>
          <p:nvPr/>
        </p:nvSpPr>
        <p:spPr>
          <a:xfrm>
            <a:off x="1947672" y="5330952"/>
            <a:ext cx="2286000" cy="1115568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39112" y="5404104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Large enterprises
trying to self-build</a:t>
            </a:r>
          </a:p>
        </p:txBody>
      </p:sp>
      <p:sp>
        <p:nvSpPr>
          <p:cNvPr id="40" name="Oval 39"/>
          <p:cNvSpPr/>
          <p:nvPr/>
        </p:nvSpPr>
        <p:spPr>
          <a:xfrm>
            <a:off x="4233672" y="5330952"/>
            <a:ext cx="2286000" cy="1115568"/>
          </a:xfrm>
          <a:prstGeom prst="ellipse">
            <a:avLst/>
          </a:prstGeom>
          <a:solidFill>
            <a:srgbClr val="FFEE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25112" y="5376672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71C1C"/>
                </a:solidFill>
                <a:latin typeface="Calibri"/>
              </a:rPr>
              <a:t>✗ 12–18 months build time
✗ 10-person engineering team required
✗ Ongoing maintenance and on-call burden</a:t>
            </a:r>
          </a:p>
        </p:txBody>
      </p:sp>
      <p:sp>
        <p:nvSpPr>
          <p:cNvPr id="42" name="Oval 41"/>
          <p:cNvSpPr/>
          <p:nvPr/>
        </p:nvSpPr>
        <p:spPr>
          <a:xfrm>
            <a:off x="6519672" y="5330952"/>
            <a:ext cx="5550408" cy="1115568"/>
          </a:xfrm>
          <a:prstGeom prst="ellipse">
            <a:avLst/>
          </a:prstGeom>
          <a:solidFill>
            <a:srgbClr val="EEFF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11112" y="5376672"/>
            <a:ext cx="5367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5E20"/>
                </a:solidFill>
                <a:latin typeface="Calibri"/>
              </a:rPr>
              <a:t>✓ Pilot in 2–4 weeks — production in 6–10 weeks
✓ MCP standard: plug in vendor connectors as they publish
✓ Shared SaaS platform costs across all customers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ROI — The Numbers a CFO Will Recognise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Representative profile: 5,000 employees · 20,000 tickets/month · 30 service-desk FTEs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05 Business Case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" y="1115568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QUANTIFIED ANNUAL IMPACT  —  5,000-employee enterprise, 20k tickets/month, 30 service-desk FTEs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" y="1417320"/>
            <a:ext cx="3383280" cy="36576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3" name="Oval 12"/>
          <p:cNvSpPr/>
          <p:nvPr/>
        </p:nvSpPr>
        <p:spPr>
          <a:xfrm>
            <a:off x="3502152" y="1417320"/>
            <a:ext cx="2194560" cy="36576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14" name="Oval 13"/>
          <p:cNvSpPr/>
          <p:nvPr/>
        </p:nvSpPr>
        <p:spPr>
          <a:xfrm>
            <a:off x="5696712" y="1417320"/>
            <a:ext cx="2468880" cy="36576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30304"/>
                </a:solidFill>
                <a:latin typeface="Calibri"/>
              </a:rPr>
              <a:t>WITH ZENOPS</a:t>
            </a:r>
          </a:p>
        </p:txBody>
      </p:sp>
      <p:sp>
        <p:nvSpPr>
          <p:cNvPr id="15" name="Oval 14"/>
          <p:cNvSpPr/>
          <p:nvPr/>
        </p:nvSpPr>
        <p:spPr>
          <a:xfrm>
            <a:off x="8165592" y="1417320"/>
            <a:ext cx="3904487" cy="36576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ANNUAL IMPACT</a:t>
            </a:r>
          </a:p>
        </p:txBody>
      </p:sp>
      <p:sp>
        <p:nvSpPr>
          <p:cNvPr id="16" name="Oval 15"/>
          <p:cNvSpPr/>
          <p:nvPr/>
        </p:nvSpPr>
        <p:spPr>
          <a:xfrm>
            <a:off x="118872" y="1783080"/>
            <a:ext cx="3383280" cy="685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030304"/>
                </a:solidFill>
                <a:latin typeface="Calibri"/>
              </a:rPr>
              <a:t>Tickets auto-resolved</a:t>
            </a:r>
          </a:p>
        </p:txBody>
      </p:sp>
      <p:sp>
        <p:nvSpPr>
          <p:cNvPr id="17" name="Oval 16"/>
          <p:cNvSpPr/>
          <p:nvPr/>
        </p:nvSpPr>
        <p:spPr>
          <a:xfrm>
            <a:off x="3502152" y="1783080"/>
            <a:ext cx="2194560" cy="685800"/>
          </a:xfrm>
          <a:prstGeom prst="ellipse">
            <a:avLst/>
          </a:prstGeom>
          <a:solidFill>
            <a:srgbClr val="FFEE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187451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71C1C"/>
                </a:solidFill>
                <a:latin typeface="Calibri"/>
              </a:rPr>
              <a:t>0%</a:t>
            </a:r>
          </a:p>
        </p:txBody>
      </p:sp>
      <p:sp>
        <p:nvSpPr>
          <p:cNvPr id="19" name="Oval 18"/>
          <p:cNvSpPr/>
          <p:nvPr/>
        </p:nvSpPr>
        <p:spPr>
          <a:xfrm>
            <a:off x="5696712" y="1783080"/>
            <a:ext cx="2468880" cy="685800"/>
          </a:xfrm>
          <a:prstGeom prst="ellipse">
            <a:avLst/>
          </a:prstGeom>
          <a:solidFill>
            <a:srgbClr val="EEFF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8152" y="187451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5E20"/>
                </a:solidFill>
                <a:latin typeface="Calibri"/>
              </a:rPr>
              <a:t>50 – 70%</a:t>
            </a:r>
          </a:p>
        </p:txBody>
      </p:sp>
      <p:sp>
        <p:nvSpPr>
          <p:cNvPr id="21" name="Oval 20"/>
          <p:cNvSpPr/>
          <p:nvPr/>
        </p:nvSpPr>
        <p:spPr>
          <a:xfrm>
            <a:off x="8165592" y="1783080"/>
            <a:ext cx="3904487" cy="685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1" y="1874519"/>
            <a:ext cx="3721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Material productivity uplift across the whole workforce</a:t>
            </a:r>
          </a:p>
        </p:txBody>
      </p:sp>
      <p:sp>
        <p:nvSpPr>
          <p:cNvPr id="23" name="Oval 22"/>
          <p:cNvSpPr/>
          <p:nvPr/>
        </p:nvSpPr>
        <p:spPr>
          <a:xfrm>
            <a:off x="118872" y="2551176"/>
            <a:ext cx="3383280" cy="685800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030304"/>
                </a:solidFill>
                <a:latin typeface="Calibri"/>
              </a:rPr>
              <a:t>Avg. resolution time — routine</a:t>
            </a:r>
          </a:p>
        </p:txBody>
      </p:sp>
      <p:sp>
        <p:nvSpPr>
          <p:cNvPr id="24" name="Oval 23"/>
          <p:cNvSpPr/>
          <p:nvPr/>
        </p:nvSpPr>
        <p:spPr>
          <a:xfrm>
            <a:off x="3502152" y="2551176"/>
            <a:ext cx="2194560" cy="685800"/>
          </a:xfrm>
          <a:prstGeom prst="ellipse">
            <a:avLst/>
          </a:prstGeom>
          <a:solidFill>
            <a:srgbClr val="FFEE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3592" y="2642616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71C1C"/>
                </a:solidFill>
                <a:latin typeface="Calibri"/>
              </a:rPr>
              <a:t>2 hours</a:t>
            </a:r>
          </a:p>
        </p:txBody>
      </p:sp>
      <p:sp>
        <p:nvSpPr>
          <p:cNvPr id="26" name="Oval 25"/>
          <p:cNvSpPr/>
          <p:nvPr/>
        </p:nvSpPr>
        <p:spPr>
          <a:xfrm>
            <a:off x="5696712" y="2551176"/>
            <a:ext cx="2468880" cy="685800"/>
          </a:xfrm>
          <a:prstGeom prst="ellipse">
            <a:avLst/>
          </a:prstGeom>
          <a:solidFill>
            <a:srgbClr val="EEFF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88152" y="2642616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5E20"/>
                </a:solidFill>
                <a:latin typeface="Calibri"/>
              </a:rPr>
              <a:t>&lt; 1 minute</a:t>
            </a:r>
          </a:p>
        </p:txBody>
      </p:sp>
      <p:sp>
        <p:nvSpPr>
          <p:cNvPr id="28" name="Oval 27"/>
          <p:cNvSpPr/>
          <p:nvPr/>
        </p:nvSpPr>
        <p:spPr>
          <a:xfrm>
            <a:off x="8165592" y="2551176"/>
            <a:ext cx="3904487" cy="685800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7031" y="2642616"/>
            <a:ext cx="3721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Faster employees and customers — SLA dramatically improved</a:t>
            </a:r>
          </a:p>
        </p:txBody>
      </p:sp>
      <p:sp>
        <p:nvSpPr>
          <p:cNvPr id="30" name="Oval 29"/>
          <p:cNvSpPr/>
          <p:nvPr/>
        </p:nvSpPr>
        <p:spPr>
          <a:xfrm>
            <a:off x="118872" y="3319272"/>
            <a:ext cx="3383280" cy="685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030304"/>
                </a:solidFill>
                <a:latin typeface="Calibri"/>
              </a:rPr>
              <a:t>Service-desk headcount required</a:t>
            </a:r>
          </a:p>
        </p:txBody>
      </p:sp>
      <p:sp>
        <p:nvSpPr>
          <p:cNvPr id="31" name="Oval 30"/>
          <p:cNvSpPr/>
          <p:nvPr/>
        </p:nvSpPr>
        <p:spPr>
          <a:xfrm>
            <a:off x="3502152" y="3319272"/>
            <a:ext cx="2194560" cy="685800"/>
          </a:xfrm>
          <a:prstGeom prst="ellipse">
            <a:avLst/>
          </a:prstGeom>
          <a:solidFill>
            <a:srgbClr val="FFEE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93592" y="341071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71C1C"/>
                </a:solidFill>
                <a:latin typeface="Calibri"/>
              </a:rPr>
              <a:t>30 FTE</a:t>
            </a:r>
          </a:p>
        </p:txBody>
      </p:sp>
      <p:sp>
        <p:nvSpPr>
          <p:cNvPr id="33" name="Oval 32"/>
          <p:cNvSpPr/>
          <p:nvPr/>
        </p:nvSpPr>
        <p:spPr>
          <a:xfrm>
            <a:off x="5696712" y="3319272"/>
            <a:ext cx="2468880" cy="685800"/>
          </a:xfrm>
          <a:prstGeom prst="ellipse">
            <a:avLst/>
          </a:prstGeom>
          <a:solidFill>
            <a:srgbClr val="EEFF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88152" y="3410712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5E20"/>
                </a:solidFill>
                <a:latin typeface="Calibri"/>
              </a:rPr>
              <a:t>12 – 18 FTE</a:t>
            </a:r>
          </a:p>
        </p:txBody>
      </p:sp>
      <p:sp>
        <p:nvSpPr>
          <p:cNvPr id="35" name="Oval 34"/>
          <p:cNvSpPr/>
          <p:nvPr/>
        </p:nvSpPr>
        <p:spPr>
          <a:xfrm>
            <a:off x="8165592" y="3319272"/>
            <a:ext cx="3904487" cy="685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57031" y="3410712"/>
            <a:ext cx="3721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USD 600,000 – 900,000 saved per year in salary alone</a:t>
            </a:r>
          </a:p>
        </p:txBody>
      </p:sp>
      <p:sp>
        <p:nvSpPr>
          <p:cNvPr id="37" name="Oval 36"/>
          <p:cNvSpPr/>
          <p:nvPr/>
        </p:nvSpPr>
        <p:spPr>
          <a:xfrm>
            <a:off x="118872" y="4087368"/>
            <a:ext cx="3383280" cy="685800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030304"/>
                </a:solidFill>
                <a:latin typeface="Calibri"/>
              </a:rPr>
              <a:t>After-hours ticket coverage</a:t>
            </a:r>
          </a:p>
        </p:txBody>
      </p:sp>
      <p:sp>
        <p:nvSpPr>
          <p:cNvPr id="38" name="Oval 37"/>
          <p:cNvSpPr/>
          <p:nvPr/>
        </p:nvSpPr>
        <p:spPr>
          <a:xfrm>
            <a:off x="3502152" y="4087368"/>
            <a:ext cx="2194560" cy="685800"/>
          </a:xfrm>
          <a:prstGeom prst="ellipse">
            <a:avLst/>
          </a:prstGeom>
          <a:solidFill>
            <a:srgbClr val="FFEE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93592" y="4178807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71C1C"/>
                </a:solidFill>
                <a:latin typeface="Calibri"/>
              </a:rPr>
              <a:t>Manual on-call gaps</a:t>
            </a:r>
          </a:p>
        </p:txBody>
      </p:sp>
      <p:sp>
        <p:nvSpPr>
          <p:cNvPr id="40" name="Oval 39"/>
          <p:cNvSpPr/>
          <p:nvPr/>
        </p:nvSpPr>
        <p:spPr>
          <a:xfrm>
            <a:off x="5696712" y="4087368"/>
            <a:ext cx="2468880" cy="685800"/>
          </a:xfrm>
          <a:prstGeom prst="ellipse">
            <a:avLst/>
          </a:prstGeom>
          <a:solidFill>
            <a:srgbClr val="EEFF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88152" y="4178807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5E20"/>
                </a:solidFill>
                <a:latin typeface="Calibri"/>
              </a:rPr>
              <a:t>24/7 automated</a:t>
            </a:r>
          </a:p>
        </p:txBody>
      </p:sp>
      <p:sp>
        <p:nvSpPr>
          <p:cNvPr id="42" name="Oval 41"/>
          <p:cNvSpPr/>
          <p:nvPr/>
        </p:nvSpPr>
        <p:spPr>
          <a:xfrm>
            <a:off x="8165592" y="4087368"/>
            <a:ext cx="3904487" cy="685800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57031" y="4178807"/>
            <a:ext cx="3721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Better SLA, lower agent attrition, happier global employees</a:t>
            </a:r>
          </a:p>
        </p:txBody>
      </p:sp>
      <p:sp>
        <p:nvSpPr>
          <p:cNvPr id="44" name="Oval 43"/>
          <p:cNvSpPr/>
          <p:nvPr/>
        </p:nvSpPr>
        <p:spPr>
          <a:xfrm>
            <a:off x="118872" y="4855464"/>
            <a:ext cx="3383280" cy="685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030304"/>
                </a:solidFill>
                <a:latin typeface="Calibri"/>
              </a:rPr>
              <a:t>Audit posture on access changes</a:t>
            </a:r>
          </a:p>
        </p:txBody>
      </p:sp>
      <p:sp>
        <p:nvSpPr>
          <p:cNvPr id="45" name="Oval 44"/>
          <p:cNvSpPr/>
          <p:nvPr/>
        </p:nvSpPr>
        <p:spPr>
          <a:xfrm>
            <a:off x="3502152" y="4855464"/>
            <a:ext cx="2194560" cy="685800"/>
          </a:xfrm>
          <a:prstGeom prst="ellipse">
            <a:avLst/>
          </a:prstGeom>
          <a:solidFill>
            <a:srgbClr val="FFEE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93592" y="4946903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71C1C"/>
                </a:solidFill>
                <a:latin typeface="Calibri"/>
              </a:rPr>
              <a:t>Frequent gaps</a:t>
            </a:r>
          </a:p>
        </p:txBody>
      </p:sp>
      <p:sp>
        <p:nvSpPr>
          <p:cNvPr id="47" name="Oval 46"/>
          <p:cNvSpPr/>
          <p:nvPr/>
        </p:nvSpPr>
        <p:spPr>
          <a:xfrm>
            <a:off x="5696712" y="4855464"/>
            <a:ext cx="2468880" cy="685800"/>
          </a:xfrm>
          <a:prstGeom prst="ellipse">
            <a:avLst/>
          </a:prstGeom>
          <a:solidFill>
            <a:srgbClr val="EEFF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88152" y="4946903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5E20"/>
                </a:solidFill>
                <a:latin typeface="Calibri"/>
              </a:rPr>
              <a:t>Full audit log</a:t>
            </a:r>
          </a:p>
        </p:txBody>
      </p:sp>
      <p:sp>
        <p:nvSpPr>
          <p:cNvPr id="49" name="Oval 48"/>
          <p:cNvSpPr/>
          <p:nvPr/>
        </p:nvSpPr>
        <p:spPr>
          <a:xfrm>
            <a:off x="8165592" y="4855464"/>
            <a:ext cx="3904487" cy="68580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57031" y="4946903"/>
            <a:ext cx="3721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Compliance risk reduced — every action logged with who/what/when</a:t>
            </a:r>
          </a:p>
        </p:txBody>
      </p:sp>
      <p:sp>
        <p:nvSpPr>
          <p:cNvPr id="51" name="Oval 50"/>
          <p:cNvSpPr/>
          <p:nvPr/>
        </p:nvSpPr>
        <p:spPr>
          <a:xfrm>
            <a:off x="118872" y="5623560"/>
            <a:ext cx="3383280" cy="685800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 i="0">
                <a:solidFill>
                  <a:srgbClr val="030304"/>
                </a:solidFill>
                <a:latin typeface="Calibri"/>
              </a:rPr>
              <a:t>Payback period at list pricing</a:t>
            </a:r>
          </a:p>
        </p:txBody>
      </p:sp>
      <p:sp>
        <p:nvSpPr>
          <p:cNvPr id="52" name="Oval 51"/>
          <p:cNvSpPr/>
          <p:nvPr/>
        </p:nvSpPr>
        <p:spPr>
          <a:xfrm>
            <a:off x="3502152" y="5623560"/>
            <a:ext cx="2194560" cy="685800"/>
          </a:xfrm>
          <a:prstGeom prst="ellipse">
            <a:avLst/>
          </a:prstGeom>
          <a:solidFill>
            <a:srgbClr val="FFEE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93592" y="5715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71C1C"/>
                </a:solidFill>
                <a:latin typeface="Calibri"/>
              </a:rPr>
              <a:t>—</a:t>
            </a:r>
          </a:p>
        </p:txBody>
      </p:sp>
      <p:sp>
        <p:nvSpPr>
          <p:cNvPr id="54" name="Oval 53"/>
          <p:cNvSpPr/>
          <p:nvPr/>
        </p:nvSpPr>
        <p:spPr>
          <a:xfrm>
            <a:off x="5696712" y="5623560"/>
            <a:ext cx="2468880" cy="685800"/>
          </a:xfrm>
          <a:prstGeom prst="ellipse">
            <a:avLst/>
          </a:prstGeom>
          <a:solidFill>
            <a:srgbClr val="EEFFEE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88152" y="5715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5E20"/>
                </a:solidFill>
                <a:latin typeface="Calibri"/>
              </a:rPr>
              <a:t>&lt; 6 months</a:t>
            </a:r>
          </a:p>
        </p:txBody>
      </p:sp>
      <p:sp>
        <p:nvSpPr>
          <p:cNvPr id="56" name="Oval 55"/>
          <p:cNvSpPr/>
          <p:nvPr/>
        </p:nvSpPr>
        <p:spPr>
          <a:xfrm>
            <a:off x="8165592" y="5623560"/>
            <a:ext cx="3904487" cy="685800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57031" y="5715000"/>
            <a:ext cx="37216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CFO-friendly ROI with quantifiable cost avoidance from month one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Pricing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Two-part: fixed platform fee + usage fee that scales with value delivered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05 Business Case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" y="1115568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PLATFORM FEE (annual)  —  covers agent runtime · admin UI · audit · standard connectors · tiered by company size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" y="1417320"/>
            <a:ext cx="3910583" cy="438912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30304"/>
                </a:solidFill>
                <a:latin typeface="Calibri"/>
              </a:rPr>
              <a:t>STARTER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" y="1856231"/>
            <a:ext cx="3910583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 i="0">
                <a:solidFill>
                  <a:srgbClr val="74D1EA"/>
                </a:solidFill>
                <a:latin typeface="Calibri"/>
              </a:rPr>
              <a:t>Up to 1,000 employees</a:t>
            </a:r>
          </a:p>
        </p:txBody>
      </p:sp>
      <p:sp>
        <p:nvSpPr>
          <p:cNvPr id="14" name="Oval 13"/>
          <p:cNvSpPr/>
          <p:nvPr/>
        </p:nvSpPr>
        <p:spPr>
          <a:xfrm>
            <a:off x="118872" y="2130552"/>
            <a:ext cx="3910583" cy="59436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USD 36,000 / year
(USD 3,000 / month)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" y="2724912"/>
            <a:ext cx="3910583" cy="260604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2779776"/>
            <a:ext cx="372770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• Standard connectors (ServiceNow + one CRM/ERP)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• Core ticket types included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• Email support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• Up to 5,000 auto-resolved tickets/month included</a:t>
            </a:r>
          </a:p>
        </p:txBody>
      </p:sp>
      <p:sp>
        <p:nvSpPr>
          <p:cNvPr id="17" name="Oval 16"/>
          <p:cNvSpPr/>
          <p:nvPr/>
        </p:nvSpPr>
        <p:spPr>
          <a:xfrm>
            <a:off x="4102607" y="1417320"/>
            <a:ext cx="3910583" cy="438912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30304"/>
                </a:solidFill>
                <a:latin typeface="Calibri"/>
              </a:rPr>
              <a:t>GROWTH</a:t>
            </a:r>
          </a:p>
        </p:txBody>
      </p:sp>
      <p:sp>
        <p:nvSpPr>
          <p:cNvPr id="18" name="Oval 17"/>
          <p:cNvSpPr/>
          <p:nvPr/>
        </p:nvSpPr>
        <p:spPr>
          <a:xfrm>
            <a:off x="4102607" y="1856231"/>
            <a:ext cx="3910583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 i="0">
                <a:solidFill>
                  <a:srgbClr val="AD96DC"/>
                </a:solidFill>
                <a:latin typeface="Calibri"/>
              </a:rPr>
              <a:t>1,000 – 10,000 employees</a:t>
            </a:r>
          </a:p>
        </p:txBody>
      </p:sp>
      <p:sp>
        <p:nvSpPr>
          <p:cNvPr id="19" name="Oval 18"/>
          <p:cNvSpPr/>
          <p:nvPr/>
        </p:nvSpPr>
        <p:spPr>
          <a:xfrm>
            <a:off x="4102607" y="2130552"/>
            <a:ext cx="3910583" cy="59436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USD 120,000 / year
(USD 10,000 / month)</a:t>
            </a:r>
          </a:p>
        </p:txBody>
      </p:sp>
      <p:sp>
        <p:nvSpPr>
          <p:cNvPr id="20" name="Oval 19"/>
          <p:cNvSpPr/>
          <p:nvPr/>
        </p:nvSpPr>
        <p:spPr>
          <a:xfrm>
            <a:off x="4102607" y="2724912"/>
            <a:ext cx="3910583" cy="2606040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94047" y="2779776"/>
            <a:ext cx="372770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• All standard connectors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• Custom fast-path rule configuration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• Dedicated Customer Success Manager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• Up to 25,000 auto-resolved tickets/month included</a:t>
            </a:r>
          </a:p>
        </p:txBody>
      </p:sp>
      <p:sp>
        <p:nvSpPr>
          <p:cNvPr id="22" name="Oval 21"/>
          <p:cNvSpPr/>
          <p:nvPr/>
        </p:nvSpPr>
        <p:spPr>
          <a:xfrm>
            <a:off x="8086344" y="1417320"/>
            <a:ext cx="3910583" cy="438912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 i="0">
                <a:solidFill>
                  <a:srgbClr val="030304"/>
                </a:solidFill>
                <a:latin typeface="Calibri"/>
              </a:rPr>
              <a:t>ENTERPRISE</a:t>
            </a:r>
          </a:p>
        </p:txBody>
      </p:sp>
      <p:sp>
        <p:nvSpPr>
          <p:cNvPr id="23" name="Oval 22"/>
          <p:cNvSpPr/>
          <p:nvPr/>
        </p:nvSpPr>
        <p:spPr>
          <a:xfrm>
            <a:off x="8086344" y="1856231"/>
            <a:ext cx="3910583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 i="0">
                <a:solidFill>
                  <a:srgbClr val="8DE971"/>
                </a:solidFill>
                <a:latin typeface="Calibri"/>
              </a:rPr>
              <a:t>10,000+ employees</a:t>
            </a:r>
          </a:p>
        </p:txBody>
      </p:sp>
      <p:sp>
        <p:nvSpPr>
          <p:cNvPr id="24" name="Oval 23"/>
          <p:cNvSpPr/>
          <p:nvPr/>
        </p:nvSpPr>
        <p:spPr>
          <a:xfrm>
            <a:off x="8086344" y="2130552"/>
            <a:ext cx="3910583" cy="59436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USD 300,000+ / year
(custom)</a:t>
            </a:r>
          </a:p>
        </p:txBody>
      </p:sp>
      <p:sp>
        <p:nvSpPr>
          <p:cNvPr id="25" name="Oval 24"/>
          <p:cNvSpPr/>
          <p:nvPr/>
        </p:nvSpPr>
        <p:spPr>
          <a:xfrm>
            <a:off x="8086344" y="2724912"/>
            <a:ext cx="3910583" cy="260604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7784" y="2779776"/>
            <a:ext cx="372770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• Custom MCP integrations built to spec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• Hybrid VPC deployment option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• SLA guarantee (99.9%) + on-call</a:t>
            </a:r>
          </a:p>
          <a:p>
            <a:pPr algn="l"/>
            <a:r>
              <a:rPr sz="1000" b="0" i="0">
                <a:solidFill>
                  <a:srgbClr val="030304"/>
                </a:solidFill>
                <a:latin typeface="Calibri"/>
              </a:rPr>
              <a:t>• Unlimited tickets · SOC 2 Type I</a:t>
            </a:r>
          </a:p>
        </p:txBody>
      </p:sp>
      <p:sp>
        <p:nvSpPr>
          <p:cNvPr id="27" name="Oval 26"/>
          <p:cNvSpPr/>
          <p:nvPr/>
        </p:nvSpPr>
        <p:spPr>
          <a:xfrm>
            <a:off x="118872" y="5376672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8DE971"/>
                </a:solidFill>
                <a:latin typeface="Calibri"/>
              </a:rPr>
              <a:t>USAGE FEE  —  USD 0.10 – 0.30 per auto-resolved ticket above tier quota  (you pay more only when we resolve more tickets for you)</a:t>
            </a:r>
          </a:p>
        </p:txBody>
      </p:sp>
      <p:sp>
        <p:nvSpPr>
          <p:cNvPr id="28" name="Oval 27"/>
          <p:cNvSpPr/>
          <p:nvPr/>
        </p:nvSpPr>
        <p:spPr>
          <a:xfrm>
            <a:off x="118872" y="5678424"/>
            <a:ext cx="11951208" cy="548640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5733288"/>
            <a:ext cx="11768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30304"/>
                </a:solidFill>
                <a:latin typeface="Calibri"/>
              </a:rPr>
              <a:t>Professional Services (one-time):  USD 25,000 – 100,000 per engagement  —  integration setup · custom connector build · fast-path automation tuning</a:t>
            </a:r>
          </a:p>
        </p:txBody>
      </p:sp>
      <p:sp>
        <p:nvSpPr>
          <p:cNvPr id="30" name="Oval 29"/>
          <p:cNvSpPr/>
          <p:nvPr/>
        </p:nvSpPr>
        <p:spPr>
          <a:xfrm>
            <a:off x="118872" y="6254496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 i="0">
                <a:solidFill>
                  <a:srgbClr val="D8D4D5"/>
                </a:solidFill>
                <a:latin typeface="Calibri"/>
              </a:rPr>
              <a:t>Target gross margin: 70 – 80%  ·  LLM cost mitigated by fast-path covering 60–80% of volume at zero LLM cost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Go-to-Market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Pilot-first · Partner-led · Land and expand — starting in India and the Middle East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06 GTM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" y="1115568"/>
            <a:ext cx="6263640" cy="27432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030304"/>
                </a:solidFill>
                <a:latin typeface="Calibri"/>
              </a:rPr>
              <a:t>PHASE 1 (NOW):  India &amp; Middle East  —  fastest buying cycles, strongest network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1115568"/>
            <a:ext cx="5669280" cy="27432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PHASE 2 (Month 6+):  North America &amp; Europe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" y="1417320"/>
            <a:ext cx="3910583" cy="56692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30304"/>
                </a:solidFill>
                <a:latin typeface="Calibri"/>
              </a:rPr>
              <a:t>Design Partners
(First 6 Months)</a:t>
            </a:r>
          </a:p>
        </p:txBody>
      </p:sp>
      <p:sp>
        <p:nvSpPr>
          <p:cNvPr id="14" name="Oval 13"/>
          <p:cNvSpPr/>
          <p:nvPr/>
        </p:nvSpPr>
        <p:spPr>
          <a:xfrm>
            <a:off x="118872" y="1984248"/>
            <a:ext cx="3910583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15" name="Oval 14"/>
          <p:cNvSpPr/>
          <p:nvPr/>
        </p:nvSpPr>
        <p:spPr>
          <a:xfrm>
            <a:off x="118872" y="2258568"/>
            <a:ext cx="3910583" cy="4315968"/>
          </a:xfrm>
          <a:prstGeom prst="ellipse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" y="2313432"/>
            <a:ext cx="3727703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2 design partners — 1 financial services, 1 manufacturing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Heavy discount in exchange for: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• Case studies with named ROI figures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• Reference calls for new prospects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• Roadmap input (shapes our backlog)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Goal: one public ROI number we can sell against for Series A.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Target payback story: "saved USD 750k in Year 1, paid back in 4 months"</a:t>
            </a:r>
          </a:p>
        </p:txBody>
      </p:sp>
      <p:sp>
        <p:nvSpPr>
          <p:cNvPr id="17" name="Oval 16"/>
          <p:cNvSpPr/>
          <p:nvPr/>
        </p:nvSpPr>
        <p:spPr>
          <a:xfrm>
            <a:off x="4102607" y="1417320"/>
            <a:ext cx="3910583" cy="566928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30304"/>
                </a:solidFill>
                <a:latin typeface="Calibri"/>
              </a:rPr>
              <a:t>Partner-Led
Sales Channel</a:t>
            </a:r>
          </a:p>
        </p:txBody>
      </p:sp>
      <p:sp>
        <p:nvSpPr>
          <p:cNvPr id="18" name="Oval 17"/>
          <p:cNvSpPr/>
          <p:nvPr/>
        </p:nvSpPr>
        <p:spPr>
          <a:xfrm>
            <a:off x="4102607" y="1984248"/>
            <a:ext cx="3910583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19" name="Oval 18"/>
          <p:cNvSpPr/>
          <p:nvPr/>
        </p:nvSpPr>
        <p:spPr>
          <a:xfrm>
            <a:off x="4102607" y="2258568"/>
            <a:ext cx="3910583" cy="4315968"/>
          </a:xfrm>
          <a:prstGeom prst="ellipse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7" y="2313432"/>
            <a:ext cx="3727703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ServiceNow Store · Salesforce AppExchange · SAP Marketplace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Partner marketplace listing provides: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• Procurement-friendly path (no new vendor approval)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• CIO air cover ("endorsed by ServiceNow")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• Inbound lead flow from marketplace search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Presence at: Dreamforce · ServiceNow World Forum · SAP Sapphire</a:t>
            </a:r>
          </a:p>
        </p:txBody>
      </p:sp>
      <p:sp>
        <p:nvSpPr>
          <p:cNvPr id="21" name="Oval 20"/>
          <p:cNvSpPr/>
          <p:nvPr/>
        </p:nvSpPr>
        <p:spPr>
          <a:xfrm>
            <a:off x="8086344" y="1417320"/>
            <a:ext cx="3910583" cy="566928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30304"/>
                </a:solidFill>
                <a:latin typeface="Calibri"/>
              </a:rPr>
              <a:t>Pilot-First
Conversion Model</a:t>
            </a:r>
          </a:p>
        </p:txBody>
      </p:sp>
      <p:sp>
        <p:nvSpPr>
          <p:cNvPr id="22" name="Oval 21"/>
          <p:cNvSpPr/>
          <p:nvPr/>
        </p:nvSpPr>
        <p:spPr>
          <a:xfrm>
            <a:off x="8086344" y="1984248"/>
            <a:ext cx="3910583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23" name="Oval 22"/>
          <p:cNvSpPr/>
          <p:nvPr/>
        </p:nvSpPr>
        <p:spPr>
          <a:xfrm>
            <a:off x="8086344" y="2258568"/>
            <a:ext cx="3910583" cy="4315968"/>
          </a:xfrm>
          <a:prstGeom prst="ellipse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77784" y="2313432"/>
            <a:ext cx="3727703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6-week paid pilot scoped to ONE use case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(e.g., password resets + onboarding only)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Process: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1.  Agree ROI target upfront (e.g., 50% auto-resolve)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2.  Run pilot against real ServiceNow instance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3.  Hit the target → convert to annual contract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Land &amp; expand: each new use case = config, not code</a:t>
            </a:r>
          </a:p>
        </p:txBody>
      </p:sp>
      <p:sp>
        <p:nvSpPr>
          <p:cNvPr id="25" name="Oval 24"/>
          <p:cNvSpPr/>
          <p:nvPr/>
        </p:nvSpPr>
        <p:spPr>
          <a:xfrm>
            <a:off x="118872" y="6327648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 i="0">
                <a:solidFill>
                  <a:srgbClr val="8DE971"/>
                </a:solidFill>
                <a:latin typeface="Calibri"/>
              </a:rPr>
              <a:t>Sales Motion:  CIO / Head of IT Ops (top-down buyer)  ←  Service-desk manager (daily champion)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6–10 Week Engineering Roadmap to First Paid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Additive build — nothing thrown away; each phase is independently deployable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06 GTM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" y="1115568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PHASED ROADMAP  —  Phase 0 decisions first; client-ready at end of Phase 6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" y="1417320"/>
            <a:ext cx="1652451" cy="658368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Ph 0
Wk 0
Lock Decisions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" y="2075688"/>
            <a:ext cx="1652451" cy="352044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2130552"/>
            <a:ext cx="1524435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LLM choice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Deployment model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First 2 real integrations</a:t>
            </a:r>
          </a:p>
        </p:txBody>
      </p:sp>
      <p:sp>
        <p:nvSpPr>
          <p:cNvPr id="15" name="Oval 14"/>
          <p:cNvSpPr/>
          <p:nvPr/>
        </p:nvSpPr>
        <p:spPr>
          <a:xfrm>
            <a:off x="1826187" y="1417320"/>
            <a:ext cx="1652451" cy="658368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Ph 1
Wk 1
Security</a:t>
            </a:r>
          </a:p>
        </p:txBody>
      </p:sp>
      <p:sp>
        <p:nvSpPr>
          <p:cNvPr id="16" name="Oval 15"/>
          <p:cNvSpPr/>
          <p:nvPr/>
        </p:nvSpPr>
        <p:spPr>
          <a:xfrm>
            <a:off x="1826187" y="2075688"/>
            <a:ext cx="1652451" cy="3520440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90195" y="2130552"/>
            <a:ext cx="1524435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Remove hardcoded creds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JWT auth all endpoints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Secrets Manager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Argon2 passwords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Fix CORS</a:t>
            </a:r>
          </a:p>
        </p:txBody>
      </p:sp>
      <p:sp>
        <p:nvSpPr>
          <p:cNvPr id="18" name="Oval 17"/>
          <p:cNvSpPr/>
          <p:nvPr/>
        </p:nvSpPr>
        <p:spPr>
          <a:xfrm>
            <a:off x="3533502" y="1417320"/>
            <a:ext cx="1652451" cy="658368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Ph 2
Wk 2–3
Foundation</a:t>
            </a:r>
          </a:p>
        </p:txBody>
      </p:sp>
      <p:sp>
        <p:nvSpPr>
          <p:cNvPr id="19" name="Oval 18"/>
          <p:cNvSpPr/>
          <p:nvPr/>
        </p:nvSpPr>
        <p:spPr>
          <a:xfrm>
            <a:off x="3533502" y="2075688"/>
            <a:ext cx="1652451" cy="352044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7510" y="2130552"/>
            <a:ext cx="1524435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SQLite → PostgreSQL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Alembic migrations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Multi-tenancy primitives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OTel tracing</a:t>
            </a:r>
          </a:p>
        </p:txBody>
      </p:sp>
      <p:sp>
        <p:nvSpPr>
          <p:cNvPr id="21" name="Oval 20"/>
          <p:cNvSpPr/>
          <p:nvPr/>
        </p:nvSpPr>
        <p:spPr>
          <a:xfrm>
            <a:off x="5240818" y="1417320"/>
            <a:ext cx="1652451" cy="658368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Ph 3
Wk 3–5
MCP Routing</a:t>
            </a:r>
          </a:p>
        </p:txBody>
      </p:sp>
      <p:sp>
        <p:nvSpPr>
          <p:cNvPr id="22" name="Oval 21"/>
          <p:cNvSpPr/>
          <p:nvPr/>
        </p:nvSpPr>
        <p:spPr>
          <a:xfrm>
            <a:off x="5240818" y="2075688"/>
            <a:ext cx="1652451" cy="3520440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4826" y="2130552"/>
            <a:ext cx="1524435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MCPHub → MCPManager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HTTP+SSE transport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Tool registry (DB)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Per-tenant vault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Circuit breaker + DLQ</a:t>
            </a:r>
          </a:p>
        </p:txBody>
      </p:sp>
      <p:sp>
        <p:nvSpPr>
          <p:cNvPr id="24" name="Oval 23"/>
          <p:cNvSpPr/>
          <p:nvPr/>
        </p:nvSpPr>
        <p:spPr>
          <a:xfrm>
            <a:off x="6948133" y="1417320"/>
            <a:ext cx="1652451" cy="658368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Ph 4
Wk 5–7
Real APIs</a:t>
            </a:r>
          </a:p>
        </p:txBody>
      </p:sp>
      <p:sp>
        <p:nvSpPr>
          <p:cNvPr id="25" name="Oval 24"/>
          <p:cNvSpPr/>
          <p:nvPr/>
        </p:nvSpPr>
        <p:spPr>
          <a:xfrm>
            <a:off x="6948133" y="2075688"/>
            <a:ext cx="1652451" cy="352044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2141" y="2130552"/>
            <a:ext cx="1524435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Replace ServiceNow clone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Replace Salesforce / SAP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Validate on customer sandbox</a:t>
            </a:r>
          </a:p>
        </p:txBody>
      </p:sp>
      <p:sp>
        <p:nvSpPr>
          <p:cNvPr id="27" name="Oval 26"/>
          <p:cNvSpPr/>
          <p:nvPr/>
        </p:nvSpPr>
        <p:spPr>
          <a:xfrm>
            <a:off x="8655449" y="1417320"/>
            <a:ext cx="1652451" cy="65836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Ph 5
Wk 7–9
Production</a:t>
            </a:r>
          </a:p>
        </p:txBody>
      </p:sp>
      <p:sp>
        <p:nvSpPr>
          <p:cNvPr id="28" name="Oval 27"/>
          <p:cNvSpPr/>
          <p:nvPr/>
        </p:nvSpPr>
        <p:spPr>
          <a:xfrm>
            <a:off x="8655449" y="2075688"/>
            <a:ext cx="1652451" cy="3520440"/>
          </a:xfrm>
          <a:prstGeom prst="ellipse">
            <a:avLst/>
          </a:prstGeom>
          <a:solidFill>
            <a:srgbClr val="F4F2F3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9457" y="2130552"/>
            <a:ext cx="1524435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Kubernetes + Helm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HPA + blue-green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SLOs + alerting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Admin UI</a:t>
            </a:r>
          </a:p>
        </p:txBody>
      </p:sp>
      <p:sp>
        <p:nvSpPr>
          <p:cNvPr id="30" name="Oval 29"/>
          <p:cNvSpPr/>
          <p:nvPr/>
        </p:nvSpPr>
        <p:spPr>
          <a:xfrm>
            <a:off x="10362764" y="1417320"/>
            <a:ext cx="1652451" cy="658368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Ph 6
Wk 9–10
GTM</a:t>
            </a:r>
          </a:p>
        </p:txBody>
      </p:sp>
      <p:sp>
        <p:nvSpPr>
          <p:cNvPr id="31" name="Oval 30"/>
          <p:cNvSpPr/>
          <p:nvPr/>
        </p:nvSpPr>
        <p:spPr>
          <a:xfrm>
            <a:off x="10362764" y="2075688"/>
            <a:ext cx="1652451" cy="3520440"/>
          </a:xfrm>
          <a:prstGeom prst="ellipse">
            <a:avLst/>
          </a:prstGeom>
          <a:solidFill>
            <a:srgbClr val="FFFFFF"/>
          </a:solidFill>
          <a:ln w="6350">
            <a:solidFill>
              <a:srgbClr val="D8D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6772" y="2130552"/>
            <a:ext cx="1524435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SOC 2 Type I evidence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DPA + security pack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Pricing tiers live</a:t>
            </a:r>
          </a:p>
          <a:p>
            <a:pPr algn="l"/>
            <a:r>
              <a:rPr sz="850" b="0" i="0">
                <a:solidFill>
                  <a:srgbClr val="030304"/>
                </a:solidFill>
                <a:latin typeface="Calibri"/>
              </a:rPr>
              <a:t>• Design partner pilot live</a:t>
            </a:r>
          </a:p>
        </p:txBody>
      </p:sp>
      <p:sp>
        <p:nvSpPr>
          <p:cNvPr id="33" name="Oval 32"/>
          <p:cNvSpPr/>
          <p:nvPr/>
        </p:nvSpPr>
        <p:spPr>
          <a:xfrm>
            <a:off x="118872" y="5623560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KEY MILESTONES  —  what customers see at each stage</a:t>
            </a:r>
          </a:p>
        </p:txBody>
      </p:sp>
      <p:sp>
        <p:nvSpPr>
          <p:cNvPr id="34" name="Oval 33"/>
          <p:cNvSpPr/>
          <p:nvPr/>
        </p:nvSpPr>
        <p:spPr>
          <a:xfrm>
            <a:off x="118872" y="5925312"/>
            <a:ext cx="1627632" cy="54864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 i="0">
                <a:solidFill>
                  <a:srgbClr val="030304"/>
                </a:solidFill>
                <a:latin typeface="Calibri"/>
              </a:rPr>
              <a:t>M1: Prod-ready core</a:t>
            </a:r>
          </a:p>
        </p:txBody>
      </p:sp>
      <p:sp>
        <p:nvSpPr>
          <p:cNvPr id="35" name="Oval 34"/>
          <p:cNvSpPr/>
          <p:nvPr/>
        </p:nvSpPr>
        <p:spPr>
          <a:xfrm>
            <a:off x="1828800" y="5925312"/>
            <a:ext cx="1627632" cy="548640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 i="0">
                <a:solidFill>
                  <a:srgbClr val="030304"/>
                </a:solidFill>
                <a:latin typeface="Calibri"/>
              </a:rPr>
              <a:t>M2: First real integration</a:t>
            </a:r>
          </a:p>
        </p:txBody>
      </p:sp>
      <p:sp>
        <p:nvSpPr>
          <p:cNvPr id="36" name="Oval 35"/>
          <p:cNvSpPr/>
          <p:nvPr/>
        </p:nvSpPr>
        <p:spPr>
          <a:xfrm>
            <a:off x="3538728" y="5925312"/>
            <a:ext cx="1627632" cy="548640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 i="0">
                <a:solidFill>
                  <a:srgbClr val="030304"/>
                </a:solidFill>
                <a:latin typeface="Calibri"/>
              </a:rPr>
              <a:t>M3: Paid pilot live</a:t>
            </a:r>
          </a:p>
        </p:txBody>
      </p:sp>
      <p:sp>
        <p:nvSpPr>
          <p:cNvPr id="37" name="Oval 36"/>
          <p:cNvSpPr/>
          <p:nvPr/>
        </p:nvSpPr>
        <p:spPr>
          <a:xfrm>
            <a:off x="5248656" y="5925312"/>
            <a:ext cx="1627632" cy="548640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 i="0">
                <a:solidFill>
                  <a:srgbClr val="030304"/>
                </a:solidFill>
                <a:latin typeface="Calibri"/>
              </a:rPr>
              <a:t>M4: Public case study</a:t>
            </a:r>
          </a:p>
        </p:txBody>
      </p:sp>
      <p:sp>
        <p:nvSpPr>
          <p:cNvPr id="38" name="Oval 37"/>
          <p:cNvSpPr/>
          <p:nvPr/>
        </p:nvSpPr>
        <p:spPr>
          <a:xfrm>
            <a:off x="6958584" y="5925312"/>
            <a:ext cx="1627632" cy="548640"/>
          </a:xfrm>
          <a:prstGeom prst="ellipse">
            <a:avLst/>
          </a:prstGeom>
          <a:solidFill>
            <a:srgbClr val="FF71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 i="0">
                <a:solidFill>
                  <a:srgbClr val="030304"/>
                </a:solidFill>
                <a:latin typeface="Calibri"/>
              </a:rPr>
              <a:t>M5: SOC 2 Type I</a:t>
            </a:r>
          </a:p>
        </p:txBody>
      </p:sp>
      <p:sp>
        <p:nvSpPr>
          <p:cNvPr id="39" name="Oval 38"/>
          <p:cNvSpPr/>
          <p:nvPr/>
        </p:nvSpPr>
        <p:spPr>
          <a:xfrm>
            <a:off x="8668512" y="5925312"/>
            <a:ext cx="1627632" cy="54864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 i="0">
                <a:solidFill>
                  <a:srgbClr val="030304"/>
                </a:solidFill>
                <a:latin typeface="Calibri"/>
              </a:rPr>
              <a:t>M6: Marketplace listed</a:t>
            </a:r>
          </a:p>
        </p:txBody>
      </p:sp>
      <p:sp>
        <p:nvSpPr>
          <p:cNvPr id="40" name="Oval 39"/>
          <p:cNvSpPr/>
          <p:nvPr/>
        </p:nvSpPr>
        <p:spPr>
          <a:xfrm>
            <a:off x="10378440" y="5925312"/>
            <a:ext cx="1627632" cy="548640"/>
          </a:xfrm>
          <a:prstGeom prst="ellipse">
            <a:avLst/>
          </a:prstGeom>
          <a:solidFill>
            <a:srgbClr val="D8D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 i="0">
                <a:solidFill>
                  <a:srgbClr val="030304"/>
                </a:solidFill>
                <a:latin typeface="Calibri"/>
              </a:rPr>
              <a:t>M7: 10 paying customers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12188952" cy="100584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0"/>
            <a:ext cx="64008" cy="100584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" y="91440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594360"/>
            <a:ext cx="9326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DE971"/>
                </a:solidFill>
                <a:latin typeface="Calibri"/>
              </a:rPr>
              <a:t>Four concrete actions to move from this conversation to a scoped paid pilot</a:t>
            </a:r>
          </a:p>
        </p:txBody>
      </p:sp>
      <p:sp>
        <p:nvSpPr>
          <p:cNvPr id="6" name="Oval 5"/>
          <p:cNvSpPr/>
          <p:nvPr/>
        </p:nvSpPr>
        <p:spPr>
          <a:xfrm>
            <a:off x="12124944" y="0"/>
            <a:ext cx="64008" cy="658368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63072" y="109728"/>
            <a:ext cx="1188720" cy="20116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 i="0">
                <a:solidFill>
                  <a:srgbClr val="030304"/>
                </a:solidFill>
                <a:latin typeface="Calibri"/>
              </a:rPr>
              <a:t>07 Next Steps</a:t>
            </a:r>
          </a:p>
        </p:txBody>
      </p:sp>
      <p:sp>
        <p:nvSpPr>
          <p:cNvPr id="8" name="Oval 7"/>
          <p:cNvSpPr/>
          <p:nvPr/>
        </p:nvSpPr>
        <p:spPr>
          <a:xfrm>
            <a:off x="0" y="6583680"/>
            <a:ext cx="121889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ZENOPS  |  AI Co-Worker for Enterprise Operations  |  Confidential  |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601968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4F2F3"/>
                </a:solidFill>
                <a:latin typeface="Calibri"/>
              </a:rPr>
              <a:t>2026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" y="1115568"/>
            <a:ext cx="11951208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RECOMMENDED ACTIONS  —  in sequence, targeting a pilot start within 4 weeks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" y="1417320"/>
            <a:ext cx="5902452" cy="47548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30304"/>
                </a:solidFill>
                <a:latin typeface="Calibri"/>
              </a:rPr>
              <a:t>01  Schedule Live Demo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" y="1892808"/>
            <a:ext cx="59024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14" name="Oval 13"/>
          <p:cNvSpPr/>
          <p:nvPr/>
        </p:nvSpPr>
        <p:spPr>
          <a:xfrm>
            <a:off x="118872" y="2167128"/>
            <a:ext cx="5902452" cy="2011680"/>
          </a:xfrm>
          <a:prstGeom prst="ellipse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" y="2221992"/>
            <a:ext cx="57195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30-minute live demonstration of the end-to-end flow against our realistic cloned systems.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What you will see: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• Password reset ticket → resolved in ServiceNow + SAP in seconds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• New-hire onboarding across Salesforce + SAP + ServiceNow in ~30 seconds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• Cross-system lookup ("show me everything about this customer")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• Audit log review — every tool call timestamped and reviewable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Typically 30 minutes including Q&amp;A.</a:t>
            </a:r>
          </a:p>
        </p:txBody>
      </p:sp>
      <p:sp>
        <p:nvSpPr>
          <p:cNvPr id="16" name="Oval 15"/>
          <p:cNvSpPr/>
          <p:nvPr/>
        </p:nvSpPr>
        <p:spPr>
          <a:xfrm>
            <a:off x="6094476" y="1417320"/>
            <a:ext cx="5902452" cy="475488"/>
          </a:xfrm>
          <a:prstGeom prst="ellipse">
            <a:avLst/>
          </a:prstGeom>
          <a:solidFill>
            <a:srgbClr val="AD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30304"/>
                </a:solidFill>
                <a:latin typeface="Calibri"/>
              </a:rPr>
              <a:t>02  Define Pilot Scope</a:t>
            </a:r>
          </a:p>
        </p:txBody>
      </p:sp>
      <p:sp>
        <p:nvSpPr>
          <p:cNvPr id="17" name="Oval 16"/>
          <p:cNvSpPr/>
          <p:nvPr/>
        </p:nvSpPr>
        <p:spPr>
          <a:xfrm>
            <a:off x="6094476" y="1892808"/>
            <a:ext cx="59024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18" name="Oval 17"/>
          <p:cNvSpPr/>
          <p:nvPr/>
        </p:nvSpPr>
        <p:spPr>
          <a:xfrm>
            <a:off x="6094476" y="2167128"/>
            <a:ext cx="5902452" cy="2011680"/>
          </a:xfrm>
          <a:prstGeom prst="ellipse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5916" y="2221992"/>
            <a:ext cx="57195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Technical discovery call with your service-desk manager and IT architect.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Outcomes: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• Identify top 3 ticket types to automate (e.g., password reset + onboarding)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• Map your ServiceNow instance and target CRM/ERP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• Confirm deployment model (SaaS vs hybrid VPC)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• Agree pilot success metrics and ROI target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Feeds directly into a scoped 6-week pilot proposal.</a:t>
            </a:r>
          </a:p>
        </p:txBody>
      </p:sp>
      <p:sp>
        <p:nvSpPr>
          <p:cNvPr id="20" name="Oval 19"/>
          <p:cNvSpPr/>
          <p:nvPr/>
        </p:nvSpPr>
        <p:spPr>
          <a:xfrm>
            <a:off x="118872" y="3977639"/>
            <a:ext cx="5902452" cy="475488"/>
          </a:xfrm>
          <a:prstGeom prst="ellipse">
            <a:avLst/>
          </a:prstGeom>
          <a:solidFill>
            <a:srgbClr val="74D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30304"/>
                </a:solidFill>
                <a:latin typeface="Calibri"/>
              </a:rPr>
              <a:t>03  Commercial Alignment</a:t>
            </a:r>
          </a:p>
        </p:txBody>
      </p:sp>
      <p:sp>
        <p:nvSpPr>
          <p:cNvPr id="21" name="Oval 20"/>
          <p:cNvSpPr/>
          <p:nvPr/>
        </p:nvSpPr>
        <p:spPr>
          <a:xfrm>
            <a:off x="118872" y="4453127"/>
            <a:ext cx="59024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22" name="Oval 21"/>
          <p:cNvSpPr/>
          <p:nvPr/>
        </p:nvSpPr>
        <p:spPr>
          <a:xfrm>
            <a:off x="118872" y="4727447"/>
            <a:ext cx="5902452" cy="2011680"/>
          </a:xfrm>
          <a:prstGeom prst="ellipse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4782311"/>
            <a:ext cx="57195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Share pilot pricing and contract template (standard DPA + MSA).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We provide: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• Pre-filled security questionnaire (SOC 2 in progress)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• Data processing agreement (standard template)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• Pilot commercial proposal with agreed ROI target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• Reference to design partner if you want a peer reference call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Target: commercial agreement signed within 2 weeks of scoping call.</a:t>
            </a:r>
          </a:p>
        </p:txBody>
      </p:sp>
      <p:sp>
        <p:nvSpPr>
          <p:cNvPr id="24" name="Oval 23"/>
          <p:cNvSpPr/>
          <p:nvPr/>
        </p:nvSpPr>
        <p:spPr>
          <a:xfrm>
            <a:off x="6094476" y="3977639"/>
            <a:ext cx="5902452" cy="475488"/>
          </a:xfrm>
          <a:prstGeom prst="ellipse">
            <a:avLst/>
          </a:prstGeom>
          <a:solidFill>
            <a:srgbClr val="ECF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30304"/>
                </a:solidFill>
                <a:latin typeface="Calibri"/>
              </a:rPr>
              <a:t>04  Pilot Kick-off</a:t>
            </a:r>
          </a:p>
        </p:txBody>
      </p:sp>
      <p:sp>
        <p:nvSpPr>
          <p:cNvPr id="25" name="Oval 24"/>
          <p:cNvSpPr/>
          <p:nvPr/>
        </p:nvSpPr>
        <p:spPr>
          <a:xfrm>
            <a:off x="6094476" y="4453127"/>
            <a:ext cx="5902452" cy="274320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26" name="Oval 25"/>
          <p:cNvSpPr/>
          <p:nvPr/>
        </p:nvSpPr>
        <p:spPr>
          <a:xfrm>
            <a:off x="6094476" y="4727447"/>
            <a:ext cx="5902452" cy="2011680"/>
          </a:xfrm>
          <a:prstGeom prst="ellipse">
            <a:avLst/>
          </a:prstGeom>
          <a:solidFill>
            <a:srgbClr val="F4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5916" y="4782311"/>
            <a:ext cx="571957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6-week paid pilot — scoped to the agreed use cases.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Week 1–2:  Integration setup (real ServiceNow + target system)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Week 3–4:  Agent configured, fast-path rules tuned, UAT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Week 5–6:  Production traffic on agreed ticket types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/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At the end of Week 6: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→ Measured ROI vs agreed target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→ Go/no-go decision on annual contract</a:t>
            </a:r>
          </a:p>
          <a:p>
            <a:pPr algn="l"/>
            <a:r>
              <a:rPr sz="900" b="0" i="0">
                <a:solidFill>
                  <a:srgbClr val="030304"/>
                </a:solidFill>
                <a:latin typeface="Calibri"/>
              </a:rPr>
              <a:t>  → If go: expand to additional use cases</a:t>
            </a:r>
          </a:p>
        </p:txBody>
      </p:sp>
      <p:sp>
        <p:nvSpPr>
          <p:cNvPr id="28" name="Oval 27"/>
          <p:cNvSpPr/>
          <p:nvPr/>
        </p:nvSpPr>
        <p:spPr>
          <a:xfrm>
            <a:off x="118872" y="6400800"/>
            <a:ext cx="11951208" cy="155448"/>
          </a:xfrm>
          <a:prstGeom prst="ellipse">
            <a:avLst/>
          </a:prstGeom>
          <a:solidFill>
            <a:srgbClr val="030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 i="0">
                <a:solidFill>
                  <a:srgbClr val="8DE971"/>
                </a:solidFill>
                <a:latin typeface="Calibri"/>
              </a:rPr>
              <a:t>Contact:  karnaradha80@gmail.com  ·  zenops.ai  ·  India &amp; Middle East — Phase 1 focus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30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0" y="0"/>
            <a:ext cx="457200" cy="685800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2286000"/>
            <a:ext cx="7132320" cy="6400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4114800"/>
            <a:ext cx="7132320" cy="64008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423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1546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DE971"/>
                </a:solidFill>
                <a:latin typeface="Calibri"/>
              </a:rPr>
              <a:t>ZENOPS — AI Co-Worker for Enterprise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4903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Autonomous  ·  Auditable  ·  Always-On  ·  24/7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51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8D4D5"/>
                </a:solidFill>
                <a:latin typeface="Calibri"/>
              </a:rPr>
              <a:t>Confidential — Internal Use Only — April 2026</a:t>
            </a:r>
          </a:p>
        </p:txBody>
      </p:sp>
      <p:sp>
        <p:nvSpPr>
          <p:cNvPr id="9" name="Oval 8"/>
          <p:cNvSpPr/>
          <p:nvPr/>
        </p:nvSpPr>
        <p:spPr>
          <a:xfrm>
            <a:off x="0" y="6080760"/>
            <a:ext cx="12188952" cy="502920"/>
          </a:xfrm>
          <a:prstGeom prst="ellipse">
            <a:avLst/>
          </a:prstGeom>
          <a:solidFill>
            <a:srgbClr val="8DE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030304"/>
                </a:solidFill>
                <a:latin typeface="Calibri"/>
              </a:rPr>
              <a:t>karnaradha80@gmail.com  ·  zenops.ai  ·  India &amp; Middle East — Phase 1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60196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8D4D5"/>
                </a:solidFill>
                <a:latin typeface="Calibri"/>
              </a:rPr>
              <a:t>ZENOPS  |  Confidential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2117</Words>
  <Application>Microsoft Office PowerPoint</Application>
  <PresentationFormat>Custom</PresentationFormat>
  <Paragraphs>447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Radhakrishnan Karnakumar</cp:lastModifiedBy>
  <cp:revision>3</cp:revision>
  <dcterms:created xsi:type="dcterms:W3CDTF">2013-01-27T09:14:16Z</dcterms:created>
  <dcterms:modified xsi:type="dcterms:W3CDTF">2026-04-15T09:43:31Z</dcterms:modified>
  <cp:category/>
</cp:coreProperties>
</file>