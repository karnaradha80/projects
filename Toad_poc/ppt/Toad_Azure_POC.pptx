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3" r:id="rId3"/>
    <p:sldId id="257" r:id="rId4"/>
    <p:sldId id="258" r:id="rId5"/>
    <p:sldId id="259" r:id="rId6"/>
    <p:sldId id="260" r:id="rId7"/>
    <p:sldId id="261" r:id="rId8"/>
    <p:sldId id="262" r:id="rId9"/>
    <p:sldId id="264" r:id="rId10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393" y="4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Picture 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0"/>
            <a:ext cx="5056632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7498079" cy="6858000"/>
          </a:xfrm>
          <a:prstGeom prst="rect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7498079" cy="64008"/>
          </a:xfrm>
          <a:prstGeom prst="rect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Picture 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1280160" cy="12801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1828800"/>
            <a:ext cx="6858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dirty="0">
                <a:solidFill>
                  <a:srgbClr val="FFFFFF"/>
                </a:solidFill>
                <a:latin typeface="Arial"/>
              </a:rPr>
              <a:t>TOAD</a:t>
            </a:r>
            <a:r>
              <a:rPr lang="en-GB" sz="3600" b="1" dirty="0">
                <a:solidFill>
                  <a:srgbClr val="FFFFFF"/>
                </a:solidFill>
                <a:latin typeface="Arial"/>
              </a:rPr>
              <a:t> Data IO</a:t>
            </a:r>
            <a:r>
              <a:rPr sz="3600" b="1" dirty="0">
                <a:solidFill>
                  <a:srgbClr val="FFFFFF"/>
                </a:solidFill>
                <a:latin typeface="Arial"/>
              </a:rPr>
              <a:t> TO AZURE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56032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8DE971"/>
                </a:solidFill>
                <a:latin typeface="Arial"/>
              </a:rPr>
              <a:t>MIGRATION POC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474720"/>
            <a:ext cx="6583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8E5E6"/>
                </a:solidFill>
                <a:latin typeface="Arial"/>
              </a:rPr>
              <a:t>End-to-end proof of concept: replacing Toad automation
with Azure Data Factory, Azure Functions &amp; Blob Storage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383280"/>
            <a:ext cx="3200400" cy="36576"/>
          </a:xfrm>
          <a:prstGeom prst="rect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62179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5E6"/>
                </a:solidFill>
                <a:latin typeface="Arial"/>
              </a:rPr>
              <a:t>May 2026  |  NxZen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A2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Picture 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37160"/>
            <a:ext cx="1097280" cy="1097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3040" y="18288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Arial"/>
              </a:rPr>
              <a:t>Migration Process 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77724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DE971"/>
                </a:solidFill>
                <a:latin typeface="Arial"/>
              </a:rPr>
              <a:t>From Toad XML reports to cloud-native automated delivery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6537960"/>
            <a:ext cx="1170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>
                <a:solidFill>
                  <a:srgbClr val="E8E5E6"/>
                </a:solidFill>
                <a:latin typeface="Arial"/>
              </a:rPr>
              <a:t>NxZen  |  Toad to Azure Migration POC  |  Confidential  | 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6492240"/>
            <a:ext cx="11704320" cy="18288"/>
          </a:xfrm>
          <a:prstGeom prst="rect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4068" y="1444752"/>
            <a:ext cx="2514600" cy="1234440"/>
          </a:xfrm>
          <a:prstGeom prst="rect">
            <a:avLst/>
          </a:prstGeom>
          <a:solidFill>
            <a:srgbClr val="2A2A2C"/>
          </a:solidFill>
          <a:ln w="15240">
            <a:solidFill>
              <a:srgbClr val="8DE9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4068" y="1444752"/>
            <a:ext cx="2514600" cy="64008"/>
          </a:xfrm>
          <a:prstGeom prst="rect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5508" y="1536192"/>
            <a:ext cx="530352" cy="219456"/>
          </a:xfrm>
          <a:prstGeom prst="rect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5508" y="1527048"/>
            <a:ext cx="5303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30304"/>
                </a:solidFill>
                <a:latin typeface="Arial"/>
              </a:rPr>
              <a:t>Step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" y="1792224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Arial"/>
              </a:rPr>
              <a:t>Receive Toad XML Reports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" y="210312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E8E5E6"/>
                </a:solidFill>
                <a:latin typeface="Arial"/>
              </a:rPr>
              <a:t>• 200+ report definitions in XML format</a:t>
            </a:r>
          </a:p>
          <a:p>
            <a:r>
              <a:rPr sz="800">
                <a:solidFill>
                  <a:srgbClr val="E8E5E6"/>
                </a:solidFill>
                <a:latin typeface="Arial"/>
              </a:rPr>
              <a:t>• Each holds SQL query, schedule, user list &amp; output format</a:t>
            </a:r>
          </a:p>
          <a:p>
            <a:r>
              <a:rPr sz="800">
                <a:solidFill>
                  <a:srgbClr val="E8E5E6"/>
                </a:solidFill>
                <a:latin typeface="Arial"/>
              </a:rPr>
              <a:t>• UTF-16 encoded — sanitised before use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6140" y="1444752"/>
            <a:ext cx="2514600" cy="1234440"/>
          </a:xfrm>
          <a:prstGeom prst="rect">
            <a:avLst/>
          </a:prstGeom>
          <a:solidFill>
            <a:srgbClr val="2A2A2C"/>
          </a:solidFill>
          <a:ln w="15240">
            <a:solidFill>
              <a:srgbClr val="74D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406140" y="1444752"/>
            <a:ext cx="2514600" cy="64008"/>
          </a:xfrm>
          <a:prstGeom prst="rect">
            <a:avLst/>
          </a:prstGeom>
          <a:solidFill>
            <a:srgbClr val="74D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497580" y="1536192"/>
            <a:ext cx="530352" cy="219456"/>
          </a:xfrm>
          <a:prstGeom prst="rect">
            <a:avLst/>
          </a:prstGeom>
          <a:solidFill>
            <a:srgbClr val="74D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497580" y="1527048"/>
            <a:ext cx="5303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30304"/>
                </a:solidFill>
                <a:latin typeface="Arial"/>
              </a:rPr>
              <a:t>Step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97580" y="1792224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Arial"/>
              </a:rPr>
              <a:t>Sanitize &amp; Extract to Flat File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97580" y="210312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E8E5E6"/>
                </a:solidFill>
                <a:latin typeface="Arial"/>
              </a:rPr>
              <a:t>• Microsoft Presidio NLP removes sensitive data</a:t>
            </a:r>
          </a:p>
          <a:p>
            <a:r>
              <a:rPr sz="800">
                <a:solidFill>
                  <a:srgbClr val="E8E5E6"/>
                </a:solidFill>
                <a:latin typeface="Arial"/>
              </a:rPr>
              <a:t>• Actual + mockup data stored — one flat file per report</a:t>
            </a:r>
          </a:p>
          <a:p>
            <a:r>
              <a:rPr sz="800">
                <a:solidFill>
                  <a:srgbClr val="E8E5E6"/>
                </a:solidFill>
                <a:latin typeface="Arial"/>
              </a:rPr>
              <a:t>• Output auto-feeds Step 5 config (no manual effort)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8212" y="1444752"/>
            <a:ext cx="2514600" cy="1234440"/>
          </a:xfrm>
          <a:prstGeom prst="rect">
            <a:avLst/>
          </a:prstGeom>
          <a:solidFill>
            <a:srgbClr val="2A2A2C"/>
          </a:solidFill>
          <a:ln w="15240">
            <a:solidFill>
              <a:srgbClr val="AD9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68212" y="1444752"/>
            <a:ext cx="2514600" cy="64008"/>
          </a:xfrm>
          <a:prstGeom prst="rect">
            <a:avLst/>
          </a:prstGeom>
          <a:solidFill>
            <a:srgbClr val="AD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359652" y="1536192"/>
            <a:ext cx="530352" cy="219456"/>
          </a:xfrm>
          <a:prstGeom prst="rect">
            <a:avLst/>
          </a:prstGeom>
          <a:solidFill>
            <a:srgbClr val="AD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59652" y="1527048"/>
            <a:ext cx="5303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30304"/>
                </a:solidFill>
                <a:latin typeface="Arial"/>
              </a:rPr>
              <a:t>Step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9652" y="1792224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Arial"/>
              </a:rPr>
              <a:t>Analyse Sources &amp; Access Rules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9652" y="210312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E8E5E6"/>
                </a:solidFill>
                <a:latin typeface="Arial"/>
              </a:rPr>
              <a:t>• Reports span multiple source databases</a:t>
            </a:r>
          </a:p>
          <a:p>
            <a:r>
              <a:rPr sz="800">
                <a:solidFill>
                  <a:srgbClr val="E8E5E6"/>
                </a:solidFill>
                <a:latin typeface="Arial"/>
              </a:rPr>
              <a:t>• User access levels vary per report</a:t>
            </a:r>
          </a:p>
          <a:p>
            <a:r>
              <a:rPr sz="800">
                <a:solidFill>
                  <a:srgbClr val="E8E5E6"/>
                </a:solidFill>
                <a:latin typeface="Arial"/>
              </a:rPr>
              <a:t>• Captured in config for Phase 2 — retained for future use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30284" y="1444752"/>
            <a:ext cx="2514600" cy="1234440"/>
          </a:xfrm>
          <a:prstGeom prst="rect">
            <a:avLst/>
          </a:prstGeom>
          <a:solidFill>
            <a:srgbClr val="2A2A2C"/>
          </a:solidFill>
          <a:ln w="15240">
            <a:solidFill>
              <a:srgbClr val="ECF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9130284" y="1444752"/>
            <a:ext cx="2514600" cy="64008"/>
          </a:xfrm>
          <a:prstGeom prst="rect">
            <a:avLst/>
          </a:prstGeom>
          <a:solidFill>
            <a:srgbClr val="ECF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221724" y="1536192"/>
            <a:ext cx="530352" cy="219456"/>
          </a:xfrm>
          <a:prstGeom prst="rect">
            <a:avLst/>
          </a:prstGeom>
          <a:solidFill>
            <a:srgbClr val="ECF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221724" y="1527048"/>
            <a:ext cx="5303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30304"/>
                </a:solidFill>
                <a:latin typeface="Arial"/>
              </a:rPr>
              <a:t>Step 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21724" y="1792224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Arial"/>
              </a:rPr>
              <a:t>Build Pipeline &amp; Components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21724" y="210312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E8E5E6"/>
                </a:solidFill>
                <a:latin typeface="Arial"/>
              </a:rPr>
              <a:t>• ADF / AWS pipeline + datasets + linked services</a:t>
            </a:r>
          </a:p>
          <a:p>
            <a:r>
              <a:rPr sz="800">
                <a:solidFill>
                  <a:srgbClr val="E8E5E6"/>
                </a:solidFill>
                <a:latin typeface="Arial"/>
              </a:rPr>
              <a:t>• Azure Function, Blob Storage, Key Vault, Logic App</a:t>
            </a:r>
          </a:p>
          <a:p>
            <a:r>
              <a:rPr sz="800">
                <a:solidFill>
                  <a:srgbClr val="E8E5E6"/>
                </a:solidFill>
                <a:latin typeface="Arial"/>
              </a:rPr>
              <a:t>• Step 2 flat file used as configuration blueprint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058668" y="2039112"/>
            <a:ext cx="210312" cy="45720"/>
          </a:xfrm>
          <a:prstGeom prst="rect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Can 34"/>
          <p:cNvSpPr/>
          <p:nvPr/>
        </p:nvSpPr>
        <p:spPr>
          <a:xfrm>
            <a:off x="3250692" y="1952244"/>
            <a:ext cx="155448" cy="219456"/>
          </a:xfrm>
          <a:prstGeom prst="can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20740" y="2039112"/>
            <a:ext cx="210312" cy="45720"/>
          </a:xfrm>
          <a:prstGeom prst="rect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Can 36"/>
          <p:cNvSpPr/>
          <p:nvPr/>
        </p:nvSpPr>
        <p:spPr>
          <a:xfrm>
            <a:off x="6112764" y="1952244"/>
            <a:ext cx="155448" cy="219456"/>
          </a:xfrm>
          <a:prstGeom prst="can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8782812" y="2039112"/>
            <a:ext cx="210312" cy="45720"/>
          </a:xfrm>
          <a:prstGeom prst="rect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Can 38"/>
          <p:cNvSpPr/>
          <p:nvPr/>
        </p:nvSpPr>
        <p:spPr>
          <a:xfrm>
            <a:off x="8974836" y="1952244"/>
            <a:ext cx="155448" cy="219456"/>
          </a:xfrm>
          <a:prstGeom prst="can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1046988" y="3246120"/>
            <a:ext cx="3108960" cy="1234440"/>
          </a:xfrm>
          <a:prstGeom prst="rect">
            <a:avLst/>
          </a:prstGeom>
          <a:solidFill>
            <a:srgbClr val="2A2A2C"/>
          </a:solidFill>
          <a:ln w="15240">
            <a:solidFill>
              <a:srgbClr val="8DE9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1046988" y="3246120"/>
            <a:ext cx="3108960" cy="64008"/>
          </a:xfrm>
          <a:prstGeom prst="rect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1138428" y="3337560"/>
            <a:ext cx="530352" cy="219456"/>
          </a:xfrm>
          <a:prstGeom prst="rect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138428" y="3328416"/>
            <a:ext cx="5303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30304"/>
                </a:solidFill>
                <a:latin typeface="Arial"/>
              </a:rPr>
              <a:t>Step 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38428" y="359359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Arial"/>
              </a:rPr>
              <a:t>Configure Report-User Matrix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38428" y="3904488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E8E5E6"/>
                </a:solidFill>
                <a:latin typeface="Arial"/>
              </a:rPr>
              <a:t>• Auto-generated directly from Step 2 flat file — zero manual effort</a:t>
            </a:r>
          </a:p>
          <a:p>
            <a:r>
              <a:rPr sz="800">
                <a:solidFill>
                  <a:srgbClr val="E8E5E6"/>
                </a:solidFill>
                <a:latin typeface="Arial"/>
              </a:rPr>
              <a:t>• Centralised config: one record per report-user pair</a:t>
            </a:r>
          </a:p>
          <a:p>
            <a:r>
              <a:rPr sz="800">
                <a:solidFill>
                  <a:srgbClr val="E8E5E6"/>
                </a:solidFill>
                <a:latin typeface="Arial"/>
              </a:rPr>
              <a:t>• Add / remove user = data change only — no code or flow change needed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39996" y="3246120"/>
            <a:ext cx="3108960" cy="1234440"/>
          </a:xfrm>
          <a:prstGeom prst="rect">
            <a:avLst/>
          </a:prstGeom>
          <a:solidFill>
            <a:srgbClr val="2A2A2C"/>
          </a:solidFill>
          <a:ln w="15240">
            <a:solidFill>
              <a:srgbClr val="74D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4539996" y="3246120"/>
            <a:ext cx="3108960" cy="64008"/>
          </a:xfrm>
          <a:prstGeom prst="rect">
            <a:avLst/>
          </a:prstGeom>
          <a:solidFill>
            <a:srgbClr val="74D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4631436" y="3337560"/>
            <a:ext cx="530352" cy="219456"/>
          </a:xfrm>
          <a:prstGeom prst="rect">
            <a:avLst/>
          </a:prstGeom>
          <a:solidFill>
            <a:srgbClr val="74D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631436" y="3328416"/>
            <a:ext cx="5303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30304"/>
                </a:solidFill>
                <a:latin typeface="Arial"/>
              </a:rPr>
              <a:t>Step 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631436" y="359359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Arial"/>
              </a:rPr>
              <a:t>Set Up Email Triggers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631436" y="3904488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E8E5E6"/>
                </a:solidFill>
                <a:latin typeface="Arial"/>
              </a:rPr>
              <a:t>• Logic App triggered per report configuration</a:t>
            </a:r>
          </a:p>
          <a:p>
            <a:r>
              <a:rPr sz="800">
                <a:solidFill>
                  <a:srgbClr val="E8E5E6"/>
                </a:solidFill>
                <a:latin typeface="Arial"/>
              </a:rPr>
              <a:t>• Report delivered to configured recipient list automatically</a:t>
            </a:r>
          </a:p>
          <a:p>
            <a:r>
              <a:rPr sz="800">
                <a:solidFill>
                  <a:srgbClr val="E8E5E6"/>
                </a:solidFill>
                <a:latin typeface="Arial"/>
              </a:rPr>
              <a:t>• Pipeline failure alert routed to assigned engineer instantly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033004" y="3246120"/>
            <a:ext cx="3108960" cy="1234440"/>
          </a:xfrm>
          <a:prstGeom prst="rect">
            <a:avLst/>
          </a:prstGeom>
          <a:solidFill>
            <a:srgbClr val="2A2A2C"/>
          </a:solidFill>
          <a:ln w="15240">
            <a:solidFill>
              <a:srgbClr val="FF71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8033004" y="3246120"/>
            <a:ext cx="3108960" cy="64008"/>
          </a:xfrm>
          <a:prstGeom prst="rect">
            <a:avLst/>
          </a:prstGeom>
          <a:solidFill>
            <a:srgbClr val="FF71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8124444" y="3337560"/>
            <a:ext cx="530352" cy="219456"/>
          </a:xfrm>
          <a:prstGeom prst="rect">
            <a:avLst/>
          </a:prstGeom>
          <a:solidFill>
            <a:srgbClr val="FF71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124444" y="3328416"/>
            <a:ext cx="5303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030304"/>
                </a:solidFill>
                <a:latin typeface="Arial"/>
              </a:rPr>
              <a:t>Step 7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24444" y="359359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Arial"/>
              </a:rPr>
              <a:t>Daily Audit &amp; Monitoring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124444" y="3904488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E8E5E6"/>
                </a:solidFill>
                <a:latin typeface="Arial"/>
              </a:rPr>
              <a:t>• Flat file audit log created per pipeline run — full traceability</a:t>
            </a:r>
          </a:p>
          <a:p>
            <a:r>
              <a:rPr sz="800">
                <a:solidFill>
                  <a:srgbClr val="E8E5E6"/>
                </a:solidFill>
                <a:latin typeface="Arial"/>
              </a:rPr>
              <a:t>• ADF Monitor / CloudWatch metrics available at all times</a:t>
            </a:r>
          </a:p>
          <a:p>
            <a:r>
              <a:rPr sz="800">
                <a:solidFill>
                  <a:srgbClr val="E8E5E6"/>
                </a:solidFill>
                <a:latin typeface="Arial"/>
              </a:rPr>
              <a:t>• Failure detected → alert email sent to assigned person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155948" y="3840480"/>
            <a:ext cx="246888" cy="45720"/>
          </a:xfrm>
          <a:prstGeom prst="rect">
            <a:avLst/>
          </a:prstGeom>
          <a:solidFill>
            <a:srgbClr val="74D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Can 58"/>
          <p:cNvSpPr/>
          <p:nvPr/>
        </p:nvSpPr>
        <p:spPr>
          <a:xfrm>
            <a:off x="4384548" y="3753612"/>
            <a:ext cx="155448" cy="219456"/>
          </a:xfrm>
          <a:prstGeom prst="can">
            <a:avLst/>
          </a:prstGeom>
          <a:solidFill>
            <a:srgbClr val="74D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7648956" y="3840480"/>
            <a:ext cx="246888" cy="45720"/>
          </a:xfrm>
          <a:prstGeom prst="rect">
            <a:avLst/>
          </a:prstGeom>
          <a:solidFill>
            <a:srgbClr val="FF71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Can 60"/>
          <p:cNvSpPr/>
          <p:nvPr/>
        </p:nvSpPr>
        <p:spPr>
          <a:xfrm>
            <a:off x="7877556" y="3753612"/>
            <a:ext cx="155448" cy="219456"/>
          </a:xfrm>
          <a:prstGeom prst="can">
            <a:avLst/>
          </a:prstGeom>
          <a:solidFill>
            <a:srgbClr val="FF71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10364724" y="2679192"/>
            <a:ext cx="45720" cy="283464"/>
          </a:xfrm>
          <a:prstGeom prst="rect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2601468" y="2939796"/>
            <a:ext cx="7786116" cy="45720"/>
          </a:xfrm>
          <a:prstGeom prst="rect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2578608" y="2962656"/>
            <a:ext cx="45720" cy="164592"/>
          </a:xfrm>
          <a:prstGeom prst="rect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Down Arrow 64"/>
          <p:cNvSpPr/>
          <p:nvPr/>
        </p:nvSpPr>
        <p:spPr>
          <a:xfrm>
            <a:off x="2491740" y="3108960"/>
            <a:ext cx="219456" cy="137160"/>
          </a:xfrm>
          <a:prstGeom prst="downArrow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2601468" y="2834640"/>
            <a:ext cx="91440" cy="36576"/>
          </a:xfrm>
          <a:prstGeom prst="rect">
            <a:avLst/>
          </a:prstGeom>
          <a:solidFill>
            <a:srgbClr val="74D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2859214" y="2834640"/>
            <a:ext cx="91440" cy="36576"/>
          </a:xfrm>
          <a:prstGeom prst="rect">
            <a:avLst/>
          </a:prstGeom>
          <a:solidFill>
            <a:srgbClr val="74D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3116961" y="2834640"/>
            <a:ext cx="91440" cy="36576"/>
          </a:xfrm>
          <a:prstGeom prst="rect">
            <a:avLst/>
          </a:prstGeom>
          <a:solidFill>
            <a:srgbClr val="74D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3374707" y="2834640"/>
            <a:ext cx="91440" cy="36576"/>
          </a:xfrm>
          <a:prstGeom prst="rect">
            <a:avLst/>
          </a:prstGeom>
          <a:solidFill>
            <a:srgbClr val="74D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3632454" y="2834640"/>
            <a:ext cx="91440" cy="36576"/>
          </a:xfrm>
          <a:prstGeom prst="rect">
            <a:avLst/>
          </a:prstGeom>
          <a:solidFill>
            <a:srgbClr val="74D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3890200" y="2834640"/>
            <a:ext cx="91440" cy="36576"/>
          </a:xfrm>
          <a:prstGeom prst="rect">
            <a:avLst/>
          </a:prstGeom>
          <a:solidFill>
            <a:srgbClr val="74D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4147947" y="2834640"/>
            <a:ext cx="91440" cy="36576"/>
          </a:xfrm>
          <a:prstGeom prst="rect">
            <a:avLst/>
          </a:prstGeom>
          <a:solidFill>
            <a:srgbClr val="74D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4405693" y="2834640"/>
            <a:ext cx="91440" cy="36576"/>
          </a:xfrm>
          <a:prstGeom prst="rect">
            <a:avLst/>
          </a:prstGeom>
          <a:solidFill>
            <a:srgbClr val="74D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4663440" y="2834640"/>
            <a:ext cx="91440" cy="36576"/>
          </a:xfrm>
          <a:prstGeom prst="rect">
            <a:avLst/>
          </a:prstGeom>
          <a:solidFill>
            <a:srgbClr val="74D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2894076" y="2624328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74D1EA"/>
                </a:solidFill>
                <a:latin typeface="Arial"/>
              </a:rPr>
              <a:t>Step 2 output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74320" y="4572000"/>
            <a:ext cx="11640312" cy="1682496"/>
          </a:xfrm>
          <a:prstGeom prst="rect">
            <a:avLst/>
          </a:prstGeom>
          <a:solidFill>
            <a:srgbClr val="0A140A"/>
          </a:solidFill>
          <a:ln w="9525">
            <a:solidFill>
              <a:srgbClr val="8DE9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411480" y="4608576"/>
            <a:ext cx="10972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8DE971"/>
                </a:solidFill>
                <a:latin typeface="Arial"/>
              </a:rPr>
              <a:t>vs Toad  —  Why ADF / AWS?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11480" y="4873752"/>
            <a:ext cx="2139696" cy="45720"/>
          </a:xfrm>
          <a:prstGeom prst="rect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411480" y="4956048"/>
            <a:ext cx="21396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8DE971"/>
                </a:solidFill>
                <a:latin typeface="Arial"/>
              </a:rPr>
              <a:t>Auto-Retry on Failure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11480" y="5212080"/>
            <a:ext cx="213969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E8E5E6"/>
                </a:solidFill>
                <a:latin typeface="Arial"/>
              </a:rPr>
              <a:t>ADF retries automatically on transient errors.
Toad = manual restart every time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734056" y="4873752"/>
            <a:ext cx="2139696" cy="45720"/>
          </a:xfrm>
          <a:prstGeom prst="rect">
            <a:avLst/>
          </a:prstGeom>
          <a:solidFill>
            <a:srgbClr val="74D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2734056" y="4956048"/>
            <a:ext cx="21396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74D1EA"/>
                </a:solidFill>
                <a:latin typeface="Arial"/>
              </a:rPr>
              <a:t>Full Audit Trail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734056" y="5212080"/>
            <a:ext cx="213969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E8E5E6"/>
                </a:solidFill>
                <a:latin typeface="Arial"/>
              </a:rPr>
              <a:t>Every run logged in ADF Monitor with timestamps.
Toad = zero visibility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056632" y="4873752"/>
            <a:ext cx="2139696" cy="45720"/>
          </a:xfrm>
          <a:prstGeom prst="rect">
            <a:avLst/>
          </a:prstGeom>
          <a:solidFill>
            <a:srgbClr val="ECF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5056632" y="4956048"/>
            <a:ext cx="21396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ECF166"/>
                </a:solidFill>
                <a:latin typeface="Arial"/>
              </a:rPr>
              <a:t>Instant Failure Alerts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056632" y="5212080"/>
            <a:ext cx="213969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E8E5E6"/>
                </a:solidFill>
                <a:latin typeface="Arial"/>
              </a:rPr>
              <a:t>Alert email sent to assigned engineer on failure.
Toad = nobody knows until morning</a:t>
            </a:r>
          </a:p>
        </p:txBody>
      </p:sp>
      <p:sp>
        <p:nvSpPr>
          <p:cNvPr id="87" name="Rectangle 86"/>
          <p:cNvSpPr/>
          <p:nvPr/>
        </p:nvSpPr>
        <p:spPr>
          <a:xfrm>
            <a:off x="7379208" y="4873752"/>
            <a:ext cx="2139696" cy="45720"/>
          </a:xfrm>
          <a:prstGeom prst="rect">
            <a:avLst/>
          </a:prstGeom>
          <a:solidFill>
            <a:srgbClr val="AD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7379208" y="4956048"/>
            <a:ext cx="21396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AD96DC"/>
                </a:solidFill>
                <a:latin typeface="Arial"/>
              </a:rPr>
              <a:t>Central User Config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379208" y="5212080"/>
            <a:ext cx="213969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E8E5E6"/>
                </a:solidFill>
                <a:latin typeface="Arial"/>
              </a:rPr>
              <a:t>Add or remove a user = one data row change.
Toad = edit script for every affected report</a:t>
            </a:r>
          </a:p>
        </p:txBody>
      </p:sp>
      <p:sp>
        <p:nvSpPr>
          <p:cNvPr id="90" name="Rectangle 89"/>
          <p:cNvSpPr/>
          <p:nvPr/>
        </p:nvSpPr>
        <p:spPr>
          <a:xfrm>
            <a:off x="9701784" y="4873752"/>
            <a:ext cx="2139696" cy="45720"/>
          </a:xfrm>
          <a:prstGeom prst="rect">
            <a:avLst/>
          </a:prstGeom>
          <a:solidFill>
            <a:srgbClr val="FF71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9701784" y="4956048"/>
            <a:ext cx="21396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7176"/>
                </a:solidFill>
                <a:latin typeface="Arial"/>
              </a:rPr>
              <a:t>Scale to 200+ Reports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701784" y="5212080"/>
            <a:ext cx="213969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E8E5E6"/>
                </a:solidFill>
                <a:latin typeface="Arial"/>
              </a:rPr>
              <a:t>Same pipeline pattern handles all reports.
Toad = one separate script per report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A2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Picture 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37160"/>
            <a:ext cx="1097280" cy="1097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3040" y="18288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Arial"/>
              </a:rPr>
              <a:t>Agenda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77724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DE971"/>
                </a:solidFill>
                <a:latin typeface="Arial"/>
              </a:rPr>
              <a:t>What this presentation covers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6537960"/>
            <a:ext cx="1170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>
                <a:solidFill>
                  <a:srgbClr val="E8E5E6"/>
                </a:solidFill>
                <a:latin typeface="Arial"/>
              </a:rPr>
              <a:t>NxZen  |  Toad to Azure Migration POC  |  Confidential  | 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6492240"/>
            <a:ext cx="11704320" cy="18288"/>
          </a:xfrm>
          <a:prstGeom prst="rect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74320" y="1371600"/>
            <a:ext cx="1508760" cy="4389120"/>
          </a:xfrm>
          <a:prstGeom prst="rect">
            <a:avLst/>
          </a:prstGeom>
          <a:solidFill>
            <a:srgbClr val="2A2A2C"/>
          </a:solidFill>
          <a:ln w="12700">
            <a:solidFill>
              <a:srgbClr val="8DE9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1508760"/>
            <a:ext cx="1325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8DE971"/>
                </a:solidFill>
                <a:latin typeface="Arial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057400"/>
            <a:ext cx="1325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Problem Statement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606040"/>
            <a:ext cx="13258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5E6"/>
                </a:solidFill>
                <a:latin typeface="Arial"/>
              </a:rPr>
              <a:t>What Toad does today and why we are migrating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92808" y="1371600"/>
            <a:ext cx="1508760" cy="4389120"/>
          </a:xfrm>
          <a:prstGeom prst="rect">
            <a:avLst/>
          </a:prstGeom>
          <a:solidFill>
            <a:srgbClr val="2A2A2C"/>
          </a:solidFill>
          <a:ln w="12700">
            <a:solidFill>
              <a:srgbClr val="74D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984248" y="1508760"/>
            <a:ext cx="1325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74D1EA"/>
                </a:solidFill>
                <a:latin typeface="Arial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84248" y="2057400"/>
            <a:ext cx="1325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Solution Architecture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84248" y="2606040"/>
            <a:ext cx="13258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5E6"/>
                </a:solidFill>
                <a:latin typeface="Arial"/>
              </a:rPr>
              <a:t>Azure components and how they connect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11296" y="1371600"/>
            <a:ext cx="1508760" cy="4389120"/>
          </a:xfrm>
          <a:prstGeom prst="rect">
            <a:avLst/>
          </a:prstGeom>
          <a:solidFill>
            <a:srgbClr val="2A2A2C"/>
          </a:solidFill>
          <a:ln w="12700">
            <a:solidFill>
              <a:srgbClr val="AD9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02736" y="1508760"/>
            <a:ext cx="1325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AD96DC"/>
                </a:solidFill>
                <a:latin typeface="Arial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02736" y="2057400"/>
            <a:ext cx="1325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ADF Pipeline Flow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02736" y="2606040"/>
            <a:ext cx="13258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5E6"/>
                </a:solidFill>
                <a:latin typeface="Arial"/>
              </a:rPr>
              <a:t>Step-by-step activity chain in Azure Data Factory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129784" y="1371600"/>
            <a:ext cx="1508760" cy="4389120"/>
          </a:xfrm>
          <a:prstGeom prst="rect">
            <a:avLst/>
          </a:prstGeom>
          <a:solidFill>
            <a:srgbClr val="2A2A2C"/>
          </a:solidFill>
          <a:ln w="12700">
            <a:solidFill>
              <a:srgbClr val="ECF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221224" y="1508760"/>
            <a:ext cx="1325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CF166"/>
                </a:solidFill>
                <a:latin typeface="Arial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21224" y="2057400"/>
            <a:ext cx="1325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Azure Function Deep Dive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21224" y="2606040"/>
            <a:ext cx="13258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5E6"/>
                </a:solidFill>
                <a:latin typeface="Arial"/>
              </a:rPr>
              <a:t>How CSV data is pushed into the Excel template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48272" y="1371600"/>
            <a:ext cx="1508760" cy="4389120"/>
          </a:xfrm>
          <a:prstGeom prst="rect">
            <a:avLst/>
          </a:prstGeom>
          <a:solidFill>
            <a:srgbClr val="2A2A2C"/>
          </a:solidFill>
          <a:ln w="12700">
            <a:solidFill>
              <a:srgbClr val="FF71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839712" y="1508760"/>
            <a:ext cx="1325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7176"/>
                </a:solidFill>
                <a:latin typeface="Arial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39712" y="2057400"/>
            <a:ext cx="1325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Sample Data &amp; Testing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39712" y="2606040"/>
            <a:ext cx="13258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5E6"/>
                </a:solidFill>
                <a:latin typeface="Arial"/>
              </a:rPr>
              <a:t>1,000 records generated and loaded end-to-end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366760" y="1371600"/>
            <a:ext cx="1508760" cy="4389120"/>
          </a:xfrm>
          <a:prstGeom prst="rect">
            <a:avLst/>
          </a:prstGeom>
          <a:solidFill>
            <a:srgbClr val="2A2A2C"/>
          </a:solidFill>
          <a:ln w="12700">
            <a:solidFill>
              <a:srgbClr val="8DE9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58200" y="1508760"/>
            <a:ext cx="1325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8DE971"/>
                </a:solidFill>
                <a:latin typeface="Arial"/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58200" y="2057400"/>
            <a:ext cx="1325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Pipeline Run Results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58200" y="2606040"/>
            <a:ext cx="13258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5E6"/>
                </a:solidFill>
                <a:latin typeface="Arial"/>
              </a:rPr>
              <a:t>Confirmed output: CSV, XLSM, Archive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985248" y="1371600"/>
            <a:ext cx="1508760" cy="4389120"/>
          </a:xfrm>
          <a:prstGeom prst="rect">
            <a:avLst/>
          </a:prstGeom>
          <a:solidFill>
            <a:srgbClr val="2A2A2C"/>
          </a:solidFill>
          <a:ln w="12700">
            <a:solidFill>
              <a:srgbClr val="74D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076688" y="1508760"/>
            <a:ext cx="1325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74D1EA"/>
                </a:solidFill>
                <a:latin typeface="Arial"/>
              </a:rPr>
              <a:t>07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76688" y="2057400"/>
            <a:ext cx="1325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Next Steps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76688" y="2606040"/>
            <a:ext cx="13258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5E6"/>
                </a:solidFill>
                <a:latin typeface="Arial"/>
              </a:rPr>
              <a:t>Email integration and AWS equivalent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A2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Picture 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37160"/>
            <a:ext cx="1097280" cy="1097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3040" y="18288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Arial"/>
              </a:rPr>
              <a:t>Problem Statement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77724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DE971"/>
                </a:solidFill>
                <a:latin typeface="Arial"/>
              </a:rPr>
              <a:t>Legacy Toad automation — limitations and migration drivers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6537960"/>
            <a:ext cx="1170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>
                <a:solidFill>
                  <a:srgbClr val="E8E5E6"/>
                </a:solidFill>
                <a:latin typeface="Arial"/>
              </a:rPr>
              <a:t>NxZen  |  Toad to Azure Migration POC  |  Confidential  | 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6492240"/>
            <a:ext cx="11704320" cy="18288"/>
          </a:xfrm>
          <a:prstGeom prst="rect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13716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7176"/>
                </a:solidFill>
                <a:latin typeface="Arial"/>
              </a:rPr>
              <a:t>AS-IS  (Toad / On-Premise)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73736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E8E5E6"/>
                </a:solidFill>
                <a:latin typeface="Arial"/>
              </a:rPr>
              <a:t>  Quest Toad scripting runs on a local Windows server</a:t>
            </a:r>
          </a:p>
          <a:p>
            <a:r>
              <a:rPr sz="950">
                <a:solidFill>
                  <a:srgbClr val="E8E5E6"/>
                </a:solidFill>
                <a:latin typeface="Arial"/>
              </a:rPr>
              <a:t>  Manual trigger required each morning</a:t>
            </a:r>
          </a:p>
          <a:p>
            <a:r>
              <a:rPr sz="950">
                <a:solidFill>
                  <a:srgbClr val="E8E5E6"/>
                </a:solidFill>
                <a:latin typeface="Arial"/>
              </a:rPr>
              <a:t>  SQL query pulls gas escape data from Oracle ODS</a:t>
            </a:r>
          </a:p>
          <a:p>
            <a:r>
              <a:rPr sz="950">
                <a:solidFill>
                  <a:srgbClr val="E8E5E6"/>
                </a:solidFill>
                <a:latin typeface="Arial"/>
              </a:rPr>
              <a:t>  Data exported to CSV, then manually pasted into Excel (.xlsm)</a:t>
            </a:r>
          </a:p>
          <a:p>
            <a:r>
              <a:rPr sz="950">
                <a:solidFill>
                  <a:srgbClr val="E8E5E6"/>
                </a:solidFill>
                <a:latin typeface="Arial"/>
              </a:rPr>
              <a:t>  Report emailed to Operations team via Outlook automation</a:t>
            </a:r>
          </a:p>
          <a:p>
            <a:r>
              <a:rPr sz="950">
                <a:solidFill>
                  <a:srgbClr val="E8E5E6"/>
                </a:solidFill>
                <a:latin typeface="Arial"/>
              </a:rPr>
              <a:t>  No monitoring, no retry, no audit trail</a:t>
            </a:r>
          </a:p>
          <a:p>
            <a:r>
              <a:rPr sz="950">
                <a:solidFill>
                  <a:srgbClr val="E8E5E6"/>
                </a:solidFill>
                <a:latin typeface="Arial"/>
              </a:rPr>
              <a:t>  Single point of failure — if the server is down, report is missed</a:t>
            </a:r>
          </a:p>
          <a:p>
            <a:r>
              <a:rPr sz="950">
                <a:solidFill>
                  <a:srgbClr val="E8E5E6"/>
                </a:solidFill>
                <a:latin typeface="Arial"/>
              </a:rPr>
              <a:t>  Licensing cost for Toad and supporting tools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06440" y="1325880"/>
            <a:ext cx="36576" cy="4846320"/>
          </a:xfrm>
          <a:prstGeom prst="rect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89320" y="137160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DE971"/>
                </a:solidFill>
                <a:latin typeface="Arial"/>
              </a:rPr>
              <a:t>Migration Drivers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89320" y="1810512"/>
            <a:ext cx="109728" cy="109728"/>
          </a:xfrm>
          <a:prstGeom prst="rect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17920" y="173736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Cloud-native reliability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199339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8E5E6"/>
                </a:solidFill>
                <a:latin typeface="Arial"/>
              </a:rPr>
              <a:t>Managed pipeline with built-in retry, monitoring &amp; alerts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89320" y="2587752"/>
            <a:ext cx="109728" cy="109728"/>
          </a:xfrm>
          <a:prstGeom prst="rect">
            <a:avLst/>
          </a:prstGeom>
          <a:solidFill>
            <a:srgbClr val="74D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17920" y="251460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Zero infrastructure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77063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8E5E6"/>
                </a:solidFill>
                <a:latin typeface="Arial"/>
              </a:rPr>
              <a:t>No servers to maintain — ADF + Functions run serverless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89320" y="3364992"/>
            <a:ext cx="109728" cy="109728"/>
          </a:xfrm>
          <a:prstGeom prst="rect">
            <a:avLst/>
          </a:prstGeom>
          <a:solidFill>
            <a:srgbClr val="AD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17920" y="329184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Cost efficiency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354787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8E5E6"/>
                </a:solidFill>
                <a:latin typeface="Arial"/>
              </a:rPr>
              <a:t>Consumption-based billing; no Toad licence fee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89320" y="4142232"/>
            <a:ext cx="109728" cy="109728"/>
          </a:xfrm>
          <a:prstGeom prst="rect">
            <a:avLst/>
          </a:prstGeom>
          <a:solidFill>
            <a:srgbClr val="ECF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17920" y="406908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Scalability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432511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8E5E6"/>
                </a:solidFill>
                <a:latin typeface="Arial"/>
              </a:rPr>
              <a:t>1,000+ records today; scales to millions with no changes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89320" y="4919472"/>
            <a:ext cx="109728" cy="109728"/>
          </a:xfrm>
          <a:prstGeom prst="rect">
            <a:avLst/>
          </a:prstGeom>
          <a:solidFill>
            <a:srgbClr val="FF71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217920" y="484632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Auditability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510235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8E5E6"/>
                </a:solidFill>
                <a:latin typeface="Arial"/>
              </a:rPr>
              <a:t>Every run logged in ADF with full activity history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A2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Picture 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37160"/>
            <a:ext cx="1097280" cy="1097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3040" y="18288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Arial"/>
              </a:rPr>
              <a:t>Solution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77724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DE971"/>
                </a:solidFill>
                <a:latin typeface="Arial"/>
              </a:rPr>
              <a:t>Azure-native replacement for Toad automation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6537960"/>
            <a:ext cx="1170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>
                <a:solidFill>
                  <a:srgbClr val="E8E5E6"/>
                </a:solidFill>
                <a:latin typeface="Arial"/>
              </a:rPr>
              <a:t>NxZen  |  Toad to Azure Migration POC  |  Confidential  | 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6492240"/>
            <a:ext cx="11704320" cy="18288"/>
          </a:xfrm>
          <a:prstGeom prst="rect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56032" y="1371600"/>
            <a:ext cx="1810512" cy="2331720"/>
          </a:xfrm>
          <a:prstGeom prst="rect">
            <a:avLst/>
          </a:prstGeom>
          <a:solidFill>
            <a:srgbClr val="2A2A2C"/>
          </a:solidFill>
          <a:ln w="12700">
            <a:solidFill>
              <a:srgbClr val="8DE9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56032" y="1371600"/>
            <a:ext cx="1810512" cy="73152"/>
          </a:xfrm>
          <a:prstGeom prst="rect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1508760"/>
            <a:ext cx="159105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8DE971"/>
                </a:solidFill>
                <a:latin typeface="Arial"/>
              </a:rPr>
              <a:t>Azure Data Factory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1847088"/>
            <a:ext cx="15910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PL_Toad_POC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176272"/>
            <a:ext cx="1591056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5E6"/>
                </a:solidFill>
                <a:latin typeface="Arial"/>
              </a:rPr>
              <a:t>Orchestrates the full pipeline — ODS check, data copy,
function call, archive &amp; email notification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57984" y="1371600"/>
            <a:ext cx="1810512" cy="2331720"/>
          </a:xfrm>
          <a:prstGeom prst="rect">
            <a:avLst/>
          </a:prstGeom>
          <a:solidFill>
            <a:srgbClr val="2A2A2C"/>
          </a:solidFill>
          <a:ln w="12700">
            <a:solidFill>
              <a:srgbClr val="74D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157984" y="1371600"/>
            <a:ext cx="1810512" cy="73152"/>
          </a:xfrm>
          <a:prstGeom prst="rect">
            <a:avLst/>
          </a:prstGeom>
          <a:solidFill>
            <a:srgbClr val="74D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267712" y="1508760"/>
            <a:ext cx="159105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74D1EA"/>
                </a:solidFill>
                <a:latin typeface="Arial"/>
              </a:rPr>
              <a:t>Azure SQL Database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67712" y="1847088"/>
            <a:ext cx="15910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sql-toad-poc / db-toad-poc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67712" y="2176272"/>
            <a:ext cx="1591056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5E6"/>
                </a:solidFill>
                <a:latin typeface="Arial"/>
              </a:rPr>
              <a:t>Stores gas escape data (abcbimart schema)
1,000 fact rows + dimension tables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59936" y="1371600"/>
            <a:ext cx="1810512" cy="2331720"/>
          </a:xfrm>
          <a:prstGeom prst="rect">
            <a:avLst/>
          </a:prstGeom>
          <a:solidFill>
            <a:srgbClr val="2A2A2C"/>
          </a:solidFill>
          <a:ln w="12700">
            <a:solidFill>
              <a:srgbClr val="AD9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059936" y="1371600"/>
            <a:ext cx="1810512" cy="73152"/>
          </a:xfrm>
          <a:prstGeom prst="rect">
            <a:avLst/>
          </a:prstGeom>
          <a:solidFill>
            <a:srgbClr val="AD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169664" y="1508760"/>
            <a:ext cx="159105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AD96DC"/>
                </a:solidFill>
                <a:latin typeface="Arial"/>
              </a:rPr>
              <a:t>Azure Blob Storage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69664" y="1847088"/>
            <a:ext cx="15910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sttoadpoc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69664" y="2176272"/>
            <a:ext cx="1591056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5E6"/>
                </a:solidFill>
                <a:latin typeface="Arial"/>
              </a:rPr>
              <a:t>Holds CSV output, populated XLSM,
archive reports and the XLSM template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6032" y="3794760"/>
            <a:ext cx="1810512" cy="2331720"/>
          </a:xfrm>
          <a:prstGeom prst="rect">
            <a:avLst/>
          </a:prstGeom>
          <a:solidFill>
            <a:srgbClr val="2A2A2C"/>
          </a:solidFill>
          <a:ln w="12700">
            <a:solidFill>
              <a:srgbClr val="ECF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56032" y="3794760"/>
            <a:ext cx="1810512" cy="73152"/>
          </a:xfrm>
          <a:prstGeom prst="rect">
            <a:avLst/>
          </a:prstGeom>
          <a:solidFill>
            <a:srgbClr val="ECF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65760" y="3931920"/>
            <a:ext cx="159105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ECF166"/>
                </a:solidFill>
                <a:latin typeface="Arial"/>
              </a:rPr>
              <a:t>Azure Key Vault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4270248"/>
            <a:ext cx="15910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kv-toad-poc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4599432"/>
            <a:ext cx="1591056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5E6"/>
                </a:solidFill>
                <a:latin typeface="Arial"/>
              </a:rPr>
              <a:t>Stores storage key, SQL password
and Function App key securely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157984" y="3794760"/>
            <a:ext cx="1810512" cy="2331720"/>
          </a:xfrm>
          <a:prstGeom prst="rect">
            <a:avLst/>
          </a:prstGeom>
          <a:solidFill>
            <a:srgbClr val="2A2A2C"/>
          </a:solidFill>
          <a:ln w="12700">
            <a:solidFill>
              <a:srgbClr val="FF71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2157984" y="3794760"/>
            <a:ext cx="1810512" cy="73152"/>
          </a:xfrm>
          <a:prstGeom prst="rect">
            <a:avLst/>
          </a:prstGeom>
          <a:solidFill>
            <a:srgbClr val="FF71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267712" y="3931920"/>
            <a:ext cx="159105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F7176"/>
                </a:solidFill>
                <a:latin typeface="Arial"/>
              </a:rPr>
              <a:t>Azure Functions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67712" y="4270248"/>
            <a:ext cx="15910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func-toad-poc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67712" y="4599432"/>
            <a:ext cx="1591056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5E6"/>
                </a:solidFill>
                <a:latin typeface="Arial"/>
              </a:rPr>
              <a:t>populate_template: reads CSV, fills
Raw Data sheet in XLSM template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059936" y="3794760"/>
            <a:ext cx="1810512" cy="2331720"/>
          </a:xfrm>
          <a:prstGeom prst="rect">
            <a:avLst/>
          </a:prstGeom>
          <a:solidFill>
            <a:srgbClr val="2A2A2C"/>
          </a:solidFill>
          <a:ln w="12700">
            <a:solidFill>
              <a:srgbClr val="74D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059936" y="3794760"/>
            <a:ext cx="1810512" cy="73152"/>
          </a:xfrm>
          <a:prstGeom prst="rect">
            <a:avLst/>
          </a:prstGeom>
          <a:solidFill>
            <a:srgbClr val="74D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169664" y="3931920"/>
            <a:ext cx="159105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74D1EA"/>
                </a:solidFill>
                <a:latin typeface="Arial"/>
              </a:rPr>
              <a:t>Logic App (stub)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69664" y="4270248"/>
            <a:ext cx="15910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la-toad-poc-email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69664" y="4599432"/>
            <a:ext cx="1591056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5E6"/>
                </a:solidFill>
                <a:latin typeface="Arial"/>
              </a:rPr>
              <a:t>HTTP trigger ready for Office 365
email connection (deferred)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A2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Picture 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37160"/>
            <a:ext cx="1097280" cy="1097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3040" y="18288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Arial"/>
              </a:rPr>
              <a:t>ADF Pipeline 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77724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DE971"/>
                </a:solidFill>
                <a:latin typeface="Arial"/>
              </a:rPr>
              <a:t>PL_Toad_POC — activity chain inside Azure Data Factory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6537960"/>
            <a:ext cx="1170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>
                <a:solidFill>
                  <a:srgbClr val="E8E5E6"/>
                </a:solidFill>
                <a:latin typeface="Arial"/>
              </a:rPr>
              <a:t>NxZen  |  Toad to Azure Migration POC  |  Confidential  | 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6492240"/>
            <a:ext cx="11704320" cy="18288"/>
          </a:xfrm>
          <a:prstGeom prst="rect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0040" y="1444752"/>
            <a:ext cx="2377440" cy="960120"/>
          </a:xfrm>
          <a:prstGeom prst="rect">
            <a:avLst/>
          </a:prstGeom>
          <a:solidFill>
            <a:srgbClr val="2A2A2C"/>
          </a:solidFill>
          <a:ln w="15240">
            <a:solidFill>
              <a:srgbClr val="8DE9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20040" y="1444752"/>
            <a:ext cx="2377440" cy="64008"/>
          </a:xfrm>
          <a:prstGeom prst="rect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93192" y="1536192"/>
            <a:ext cx="22311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8DE971"/>
                </a:solidFill>
                <a:latin typeface="Arial"/>
              </a:rPr>
              <a:t>Lookup ODS Check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" y="1920240"/>
            <a:ext cx="2231136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E8E5E6"/>
                </a:solidFill>
                <a:latin typeface="Arial"/>
              </a:rPr>
              <a:t>Queries T_ODS_LOG
for today's data refresh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97480" y="1901952"/>
            <a:ext cx="274320" cy="45720"/>
          </a:xfrm>
          <a:prstGeom prst="rect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Can 14"/>
          <p:cNvSpPr/>
          <p:nvPr/>
        </p:nvSpPr>
        <p:spPr>
          <a:xfrm>
            <a:off x="2953512" y="1815084"/>
            <a:ext cx="155448" cy="219456"/>
          </a:xfrm>
          <a:prstGeom prst="can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108960" y="1444752"/>
            <a:ext cx="2377440" cy="960120"/>
          </a:xfrm>
          <a:prstGeom prst="rect">
            <a:avLst/>
          </a:prstGeom>
          <a:solidFill>
            <a:srgbClr val="2A2A2C"/>
          </a:solidFill>
          <a:ln w="15240">
            <a:solidFill>
              <a:srgbClr val="74D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108960" y="1444752"/>
            <a:ext cx="2377440" cy="64008"/>
          </a:xfrm>
          <a:prstGeom prst="rect">
            <a:avLst/>
          </a:prstGeom>
          <a:solidFill>
            <a:srgbClr val="74D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182112" y="1536192"/>
            <a:ext cx="22311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74D1EA"/>
                </a:solidFill>
                <a:latin typeface="Arial"/>
              </a:rPr>
              <a:t>Set Report Date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82112" y="1920240"/>
            <a:ext cx="2231136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E8E5E6"/>
                </a:solidFill>
                <a:latin typeface="Arial"/>
              </a:rPr>
              <a:t>Sets dd.MM.yyyy
variable (yesterday)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0" y="1901952"/>
            <a:ext cx="274320" cy="45720"/>
          </a:xfrm>
          <a:prstGeom prst="rect">
            <a:avLst/>
          </a:prstGeom>
          <a:solidFill>
            <a:srgbClr val="74D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Can 20"/>
          <p:cNvSpPr/>
          <p:nvPr/>
        </p:nvSpPr>
        <p:spPr>
          <a:xfrm>
            <a:off x="5742432" y="1815084"/>
            <a:ext cx="155448" cy="219456"/>
          </a:xfrm>
          <a:prstGeom prst="can">
            <a:avLst/>
          </a:prstGeom>
          <a:solidFill>
            <a:srgbClr val="74D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897880" y="1444752"/>
            <a:ext cx="2560320" cy="960120"/>
          </a:xfrm>
          <a:prstGeom prst="rect">
            <a:avLst/>
          </a:prstGeom>
          <a:solidFill>
            <a:srgbClr val="1E1A00"/>
          </a:solidFill>
          <a:ln w="25400">
            <a:solidFill>
              <a:srgbClr val="ECF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897880" y="1444752"/>
            <a:ext cx="2560320" cy="64008"/>
          </a:xfrm>
          <a:prstGeom prst="rect">
            <a:avLst/>
          </a:prstGeom>
          <a:solidFill>
            <a:srgbClr val="ECF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971032" y="1536192"/>
            <a:ext cx="24140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ECF166"/>
                </a:solidFill>
                <a:latin typeface="Arial"/>
              </a:rPr>
              <a:t>If ODS Refreshed?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71032" y="1920240"/>
            <a:ext cx="2414016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E8E5E6"/>
                </a:solidFill>
                <a:latin typeface="Arial"/>
              </a:rPr>
              <a:t>row_count &gt; 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778240" y="1444752"/>
            <a:ext cx="3090672" cy="960120"/>
          </a:xfrm>
          <a:prstGeom prst="rect">
            <a:avLst/>
          </a:prstGeom>
          <a:solidFill>
            <a:srgbClr val="2A2A2C"/>
          </a:solidFill>
          <a:ln w="15240">
            <a:solidFill>
              <a:srgbClr val="FF71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778240" y="1444752"/>
            <a:ext cx="3090672" cy="64008"/>
          </a:xfrm>
          <a:prstGeom prst="rect">
            <a:avLst/>
          </a:prstGeom>
          <a:solidFill>
            <a:srgbClr val="FF71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851392" y="1536192"/>
            <a:ext cx="29443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7176"/>
                </a:solidFill>
                <a:latin typeface="Arial"/>
              </a:rPr>
              <a:t>Email: ODS Not Refreshed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51392" y="1920240"/>
            <a:ext cx="2944368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E8E5E6"/>
                </a:solidFill>
                <a:latin typeface="Arial"/>
              </a:rPr>
              <a:t>Logic App POST to Ops
(no data today)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458200" y="1901952"/>
            <a:ext cx="182880" cy="45720"/>
          </a:xfrm>
          <a:prstGeom prst="rect">
            <a:avLst/>
          </a:prstGeom>
          <a:solidFill>
            <a:srgbClr val="FF71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Can 30"/>
          <p:cNvSpPr/>
          <p:nvPr/>
        </p:nvSpPr>
        <p:spPr>
          <a:xfrm>
            <a:off x="8622792" y="1815084"/>
            <a:ext cx="155448" cy="219456"/>
          </a:xfrm>
          <a:prstGeom prst="can">
            <a:avLst/>
          </a:prstGeom>
          <a:solidFill>
            <a:srgbClr val="FF71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494776" y="1650492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FF7176"/>
                </a:solidFill>
                <a:latin typeface="Arial"/>
              </a:rPr>
              <a:t>NO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42048" y="2432304"/>
            <a:ext cx="3474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8DE971"/>
                </a:solidFill>
                <a:latin typeface="Arial"/>
              </a:rPr>
              <a:t>YES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75488" y="2926080"/>
            <a:ext cx="2057400" cy="987552"/>
          </a:xfrm>
          <a:prstGeom prst="rect">
            <a:avLst/>
          </a:prstGeom>
          <a:solidFill>
            <a:srgbClr val="2A2A2C"/>
          </a:solidFill>
          <a:ln w="15240">
            <a:solidFill>
              <a:srgbClr val="8DE9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75488" y="2926080"/>
            <a:ext cx="2057400" cy="64008"/>
          </a:xfrm>
          <a:prstGeom prst="rect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48640" y="3017520"/>
            <a:ext cx="19110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8DE971"/>
                </a:solidFill>
                <a:latin typeface="Arial"/>
              </a:rPr>
              <a:t>Copy Data
to Blob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3401568"/>
            <a:ext cx="1911096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E8E5E6"/>
                </a:solidFill>
                <a:latin typeface="Arial"/>
              </a:rPr>
              <a:t>Runs SQL query
CSV → Blob output/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32888" y="3396996"/>
            <a:ext cx="100584" cy="45720"/>
          </a:xfrm>
          <a:prstGeom prst="rect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Can 38"/>
          <p:cNvSpPr/>
          <p:nvPr/>
        </p:nvSpPr>
        <p:spPr>
          <a:xfrm>
            <a:off x="2615184" y="3310128"/>
            <a:ext cx="155448" cy="219456"/>
          </a:xfrm>
          <a:prstGeom prst="can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2770632" y="2926080"/>
            <a:ext cx="2057400" cy="987552"/>
          </a:xfrm>
          <a:prstGeom prst="rect">
            <a:avLst/>
          </a:prstGeom>
          <a:solidFill>
            <a:srgbClr val="2A2A2C"/>
          </a:solidFill>
          <a:ln w="15240">
            <a:solidFill>
              <a:srgbClr val="74D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2770632" y="2926080"/>
            <a:ext cx="2057400" cy="64008"/>
          </a:xfrm>
          <a:prstGeom prst="rect">
            <a:avLst/>
          </a:prstGeom>
          <a:solidFill>
            <a:srgbClr val="74D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843784" y="3017520"/>
            <a:ext cx="19110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74D1EA"/>
                </a:solidFill>
                <a:latin typeface="Arial"/>
              </a:rPr>
              <a:t>Populate Excel
Template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843784" y="3401568"/>
            <a:ext cx="1911096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E8E5E6"/>
                </a:solidFill>
                <a:latin typeface="Arial"/>
              </a:rPr>
              <a:t>Azure Function call
CSV → XLSM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828032" y="3396996"/>
            <a:ext cx="100584" cy="45720"/>
          </a:xfrm>
          <a:prstGeom prst="rect">
            <a:avLst/>
          </a:prstGeom>
          <a:solidFill>
            <a:srgbClr val="74D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Can 44"/>
          <p:cNvSpPr/>
          <p:nvPr/>
        </p:nvSpPr>
        <p:spPr>
          <a:xfrm>
            <a:off x="4910328" y="3310128"/>
            <a:ext cx="155448" cy="219456"/>
          </a:xfrm>
          <a:prstGeom prst="can">
            <a:avLst/>
          </a:prstGeom>
          <a:solidFill>
            <a:srgbClr val="74D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5065776" y="2926080"/>
            <a:ext cx="2057400" cy="987552"/>
          </a:xfrm>
          <a:prstGeom prst="rect">
            <a:avLst/>
          </a:prstGeom>
          <a:solidFill>
            <a:srgbClr val="2A2A2C"/>
          </a:solidFill>
          <a:ln w="15240">
            <a:solidFill>
              <a:srgbClr val="AD9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5065776" y="2926080"/>
            <a:ext cx="2057400" cy="64008"/>
          </a:xfrm>
          <a:prstGeom prst="rect">
            <a:avLst/>
          </a:prstGeom>
          <a:solidFill>
            <a:srgbClr val="AD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138928" y="3017520"/>
            <a:ext cx="19110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AD96DC"/>
                </a:solidFill>
                <a:latin typeface="Arial"/>
              </a:rPr>
              <a:t>Copy Archive
File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38928" y="3401568"/>
            <a:ext cx="1911096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E8E5E6"/>
                </a:solidFill>
                <a:latin typeface="Arial"/>
              </a:rPr>
              <a:t>XLSM → archive/
with report name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123176" y="3396996"/>
            <a:ext cx="100584" cy="45720"/>
          </a:xfrm>
          <a:prstGeom prst="rect">
            <a:avLst/>
          </a:prstGeom>
          <a:solidFill>
            <a:srgbClr val="AD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Can 50"/>
          <p:cNvSpPr/>
          <p:nvPr/>
        </p:nvSpPr>
        <p:spPr>
          <a:xfrm>
            <a:off x="7205472" y="3310128"/>
            <a:ext cx="155448" cy="219456"/>
          </a:xfrm>
          <a:prstGeom prst="can">
            <a:avLst/>
          </a:prstGeom>
          <a:solidFill>
            <a:srgbClr val="AD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7360920" y="2926080"/>
            <a:ext cx="2057400" cy="987552"/>
          </a:xfrm>
          <a:prstGeom prst="rect">
            <a:avLst/>
          </a:prstGeom>
          <a:solidFill>
            <a:srgbClr val="2A2A2C"/>
          </a:solidFill>
          <a:ln w="15240">
            <a:solidFill>
              <a:srgbClr val="ECF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7360920" y="2926080"/>
            <a:ext cx="2057400" cy="64008"/>
          </a:xfrm>
          <a:prstGeom prst="rect">
            <a:avLst/>
          </a:prstGeom>
          <a:solidFill>
            <a:srgbClr val="ECF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434072" y="3017520"/>
            <a:ext cx="19110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ECF166"/>
                </a:solidFill>
                <a:latin typeface="Arial"/>
              </a:rPr>
              <a:t>Email Report to
Operations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434072" y="3401568"/>
            <a:ext cx="1911096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E8E5E6"/>
                </a:solidFill>
                <a:latin typeface="Arial"/>
              </a:rPr>
              <a:t>Logic App POST
.xlsm attachment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418320" y="3396996"/>
            <a:ext cx="100584" cy="45720"/>
          </a:xfrm>
          <a:prstGeom prst="rect">
            <a:avLst/>
          </a:prstGeom>
          <a:solidFill>
            <a:srgbClr val="ECF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Can 56"/>
          <p:cNvSpPr/>
          <p:nvPr/>
        </p:nvSpPr>
        <p:spPr>
          <a:xfrm>
            <a:off x="9500616" y="3310128"/>
            <a:ext cx="155448" cy="219456"/>
          </a:xfrm>
          <a:prstGeom prst="can">
            <a:avLst/>
          </a:prstGeom>
          <a:solidFill>
            <a:srgbClr val="ECF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9656064" y="2926080"/>
            <a:ext cx="2057400" cy="987552"/>
          </a:xfrm>
          <a:prstGeom prst="rect">
            <a:avLst/>
          </a:prstGeom>
          <a:solidFill>
            <a:srgbClr val="2A2A2C"/>
          </a:solidFill>
          <a:ln w="15240">
            <a:solidFill>
              <a:srgbClr val="FF71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9656064" y="2926080"/>
            <a:ext cx="2057400" cy="64008"/>
          </a:xfrm>
          <a:prstGeom prst="rect">
            <a:avLst/>
          </a:prstGeom>
          <a:solidFill>
            <a:srgbClr val="FF71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729216" y="3017520"/>
            <a:ext cx="19110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7176"/>
                </a:solidFill>
                <a:latin typeface="Arial"/>
              </a:rPr>
              <a:t>Email BI Team
Confirmation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729216" y="3401568"/>
            <a:ext cx="1911096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E8E5E6"/>
                </a:solidFill>
                <a:latin typeface="Arial"/>
              </a:rPr>
              <a:t>Pipeline complete
confirmation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155180" y="2642616"/>
            <a:ext cx="45720" cy="0"/>
          </a:xfrm>
          <a:prstGeom prst="rect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1504188" y="2564892"/>
            <a:ext cx="5673852" cy="45720"/>
          </a:xfrm>
          <a:prstGeom prst="rect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1481328" y="2587752"/>
            <a:ext cx="45720" cy="219456"/>
          </a:xfrm>
          <a:prstGeom prst="rect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Down Arrow 64"/>
          <p:cNvSpPr/>
          <p:nvPr/>
        </p:nvSpPr>
        <p:spPr>
          <a:xfrm>
            <a:off x="1394460" y="2788920"/>
            <a:ext cx="219456" cy="137160"/>
          </a:xfrm>
          <a:prstGeom prst="downArrow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457200" y="4123944"/>
            <a:ext cx="164592" cy="164592"/>
          </a:xfrm>
          <a:prstGeom prst="rect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694944" y="40690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5E6"/>
                </a:solidFill>
                <a:latin typeface="Arial"/>
              </a:rPr>
              <a:t>Sequential flow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834640" y="4123944"/>
            <a:ext cx="164592" cy="164592"/>
          </a:xfrm>
          <a:prstGeom prst="rect">
            <a:avLst/>
          </a:prstGeom>
          <a:solidFill>
            <a:srgbClr val="ECF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3072384" y="40690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5E6"/>
                </a:solidFill>
                <a:latin typeface="Arial"/>
              </a:rPr>
              <a:t>Decision / branch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212080" y="4123944"/>
            <a:ext cx="164592" cy="164592"/>
          </a:xfrm>
          <a:prstGeom prst="rect">
            <a:avLst/>
          </a:prstGeom>
          <a:solidFill>
            <a:srgbClr val="FF71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5449824" y="40690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5E6"/>
                </a:solidFill>
                <a:latin typeface="Arial"/>
              </a:rPr>
              <a:t>False path (no data)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589520" y="4123944"/>
            <a:ext cx="164592" cy="164592"/>
          </a:xfrm>
          <a:prstGeom prst="rect">
            <a:avLst/>
          </a:prstGeom>
          <a:solidFill>
            <a:srgbClr val="74D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7827264" y="40690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5E6"/>
                </a:solidFill>
                <a:latin typeface="Arial"/>
              </a:rPr>
              <a:t>Azure Function call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A2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Picture 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37160"/>
            <a:ext cx="1097280" cy="1097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3040" y="18288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Arial"/>
              </a:rPr>
              <a:t>Azure Function: populate_template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77724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DE971"/>
                </a:solidFill>
                <a:latin typeface="Arial"/>
              </a:rPr>
              <a:t>Converts ADF CSV output into the Excel XLSM template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6537960"/>
            <a:ext cx="1170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>
                <a:solidFill>
                  <a:srgbClr val="E8E5E6"/>
                </a:solidFill>
                <a:latin typeface="Arial"/>
              </a:rPr>
              <a:t>NxZen  |  Toad to Azure Migration POC  |  Confidential  | 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6492240"/>
            <a:ext cx="11704320" cy="18288"/>
          </a:xfrm>
          <a:prstGeom prst="rect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1371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DE971"/>
                </a:solidFill>
                <a:latin typeface="Arial"/>
              </a:rPr>
              <a:t>Function Execution Flow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856232"/>
            <a:ext cx="128016" cy="128016"/>
          </a:xfrm>
          <a:prstGeom prst="rect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1792" y="1783080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Arial"/>
              </a:rPr>
              <a:t>1. Receive POST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203911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5E6"/>
                </a:solidFill>
                <a:latin typeface="Arial"/>
              </a:rPr>
              <a:t>ADF WebActivity calls the function with
report_date, csv_blob path and out_blob path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606040"/>
            <a:ext cx="128016" cy="128016"/>
          </a:xfrm>
          <a:prstGeom prst="rect">
            <a:avLst/>
          </a:prstGeom>
          <a:solidFill>
            <a:srgbClr val="74D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1792" y="2532888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Arial"/>
              </a:rPr>
              <a:t>2. Download CSV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27889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5E6"/>
                </a:solidFill>
                <a:latin typeface="Arial"/>
              </a:rPr>
              <a:t>Reads BC_BIMIO_267_PRECOPY_&lt;date&gt;.csv
from toad-poc-reports/output/ in Blob Storage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355848"/>
            <a:ext cx="128016" cy="128016"/>
          </a:xfrm>
          <a:prstGeom prst="rect">
            <a:avLst/>
          </a:prstGeom>
          <a:solidFill>
            <a:srgbClr val="AD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1792" y="3282696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Arial"/>
              </a:rPr>
              <a:t>3. Download Template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3538728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5E6"/>
                </a:solidFill>
                <a:latin typeface="Arial"/>
              </a:rPr>
              <a:t>Fetches BC_BIMIO_267_TEMPLATE.xlsm
from toad-poc-reports/templates/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105656"/>
            <a:ext cx="128016" cy="128016"/>
          </a:xfrm>
          <a:prstGeom prst="rect">
            <a:avLst/>
          </a:prstGeom>
          <a:solidFill>
            <a:srgbClr val="ECF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1792" y="4032504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Arial"/>
              </a:rPr>
              <a:t>4. Populate Sheet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" y="4288536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5E6"/>
                </a:solidFill>
                <a:latin typeface="Arial"/>
              </a:rPr>
              <a:t>Clears Raw Data rows 2+, writes all
CSV rows using openpyxl (keep_vba=True)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855464"/>
            <a:ext cx="128016" cy="128016"/>
          </a:xfrm>
          <a:prstGeom prst="rect">
            <a:avLst/>
          </a:prstGeom>
          <a:solidFill>
            <a:srgbClr val="FF71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1792" y="4782312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Arial"/>
              </a:rPr>
              <a:t>5. Upload XLSM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" y="5038344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5E6"/>
                </a:solidFill>
                <a:latin typeface="Arial"/>
              </a:rPr>
              <a:t>Uploads populated workbook back to
Blob Storage as BC_BIMIO_267_PRECOPY_&lt;date&gt;.xlsm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5605272"/>
            <a:ext cx="128016" cy="128016"/>
          </a:xfrm>
          <a:prstGeom prst="rect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21792" y="5532120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Arial"/>
              </a:rPr>
              <a:t>6. Return 200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578815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5E6"/>
                </a:solidFill>
                <a:latin typeface="Arial"/>
              </a:rPr>
              <a:t>Returns {status: success, output_blob: ...}
ADF marks activity Succeeded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577840" y="1325880"/>
            <a:ext cx="36576" cy="4846320"/>
          </a:xfrm>
          <a:prstGeom prst="rect">
            <a:avLst/>
          </a:prstGeom>
          <a:solidFill>
            <a:srgbClr val="74D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760720" y="1371600"/>
            <a:ext cx="6035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4D1EA"/>
                </a:solidFill>
                <a:latin typeface="Arial"/>
              </a:rPr>
              <a:t>Technical Details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60720" y="178308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4D1EA"/>
                </a:solidFill>
                <a:latin typeface="Arial"/>
              </a:rPr>
              <a:t>Runtime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9520" y="178308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8E5E6"/>
                </a:solidFill>
                <a:latin typeface="Arial"/>
              </a:rPr>
              <a:t>Python 3.11, Linux Consumption Plan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60720" y="237744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4D1EA"/>
                </a:solidFill>
                <a:latin typeface="Arial"/>
              </a:rPr>
              <a:t>Auth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89520" y="237744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8E5E6"/>
                </a:solidFill>
                <a:latin typeface="Arial"/>
              </a:rPr>
              <a:t>Function key (stored in Key Vault)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60720" y="29718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4D1EA"/>
                </a:solidFill>
                <a:latin typeface="Arial"/>
              </a:rPr>
              <a:t>Storage access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89520" y="297180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8E5E6"/>
                </a:solidFill>
                <a:latin typeface="Arial"/>
              </a:rPr>
              <a:t>STORAGE_CONNECTION_STRING app setting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60720" y="356616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4D1EA"/>
                </a:solidFill>
                <a:latin typeface="Arial"/>
              </a:rPr>
              <a:t>Template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89520" y="356616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8E5E6"/>
                </a:solidFill>
                <a:latin typeface="Arial"/>
              </a:rPr>
              <a:t>keep_vba=True — macros preserved in .xlsm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60720" y="41605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4D1EA"/>
                </a:solidFill>
                <a:latin typeface="Arial"/>
              </a:rPr>
              <a:t>Deployed via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89520" y="416052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8E5E6"/>
                </a:solidFill>
                <a:latin typeface="Arial"/>
              </a:rPr>
              <a:t>Azure Functions Core Tools v4 (remote build)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60720" y="475488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4D1EA"/>
                </a:solidFill>
                <a:latin typeface="Arial"/>
              </a:rPr>
              <a:t>Endpoint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89520" y="475488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8E5E6"/>
                </a:solidFill>
                <a:latin typeface="Arial"/>
              </a:rPr>
              <a:t>func-toad-poc.azurewebsites.net
/api/populate_template?code=&lt;key&gt;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760720" y="534924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4D1EA"/>
                </a:solidFill>
                <a:latin typeface="Arial"/>
              </a:rPr>
              <a:t>POST body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89520" y="534924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8E5E6"/>
                </a:solidFill>
                <a:latin typeface="Arial"/>
              </a:rPr>
              <a:t>{
  "report_date": "13.05.2026",
  "csv_blob": "output/...csv",
  "out_blob": "output/...xlsm"
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A2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Picture 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37160"/>
            <a:ext cx="1097280" cy="1097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3040" y="18288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Arial"/>
              </a:rPr>
              <a:t>Sample Data &amp; Testing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77724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DE971"/>
                </a:solidFill>
                <a:latin typeface="Arial"/>
              </a:rPr>
              <a:t>1,000 gas escape records generated with full referential integrity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6537960"/>
            <a:ext cx="1170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>
                <a:solidFill>
                  <a:srgbClr val="E8E5E6"/>
                </a:solidFill>
                <a:latin typeface="Arial"/>
              </a:rPr>
              <a:t>NxZen  |  Toad to Azure Migration POC  |  Confidential  | 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6492240"/>
            <a:ext cx="11704320" cy="18288"/>
          </a:xfrm>
          <a:prstGeom prst="rect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74320" y="1371600"/>
            <a:ext cx="5303520" cy="621792"/>
          </a:xfrm>
          <a:prstGeom prst="rect">
            <a:avLst/>
          </a:prstGeom>
          <a:solidFill>
            <a:srgbClr val="2A2A2C"/>
          </a:solidFill>
          <a:ln w="9525">
            <a:solidFill>
              <a:srgbClr val="8DE9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74320" y="1371600"/>
            <a:ext cx="73152" cy="621792"/>
          </a:xfrm>
          <a:prstGeom prst="rect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14173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DE971"/>
                </a:solidFill>
                <a:latin typeface="Arial"/>
              </a:rPr>
              <a:t>dim_organisation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69164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Arial"/>
              </a:rPr>
              <a:t>20 rows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1508760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5E6"/>
                </a:solidFill>
                <a:latin typeface="Arial"/>
              </a:rPr>
              <a:t>3 networks, 5 LDZs, 20 depots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084832"/>
            <a:ext cx="5303520" cy="621792"/>
          </a:xfrm>
          <a:prstGeom prst="rect">
            <a:avLst/>
          </a:prstGeom>
          <a:solidFill>
            <a:srgbClr val="2A2A2C"/>
          </a:solidFill>
          <a:ln w="9525">
            <a:solidFill>
              <a:srgbClr val="74D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74320" y="2084832"/>
            <a:ext cx="73152" cy="621792"/>
          </a:xfrm>
          <a:prstGeom prst="rect">
            <a:avLst/>
          </a:prstGeom>
          <a:solidFill>
            <a:srgbClr val="74D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213055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74D1EA"/>
                </a:solidFill>
                <a:latin typeface="Arial"/>
              </a:rPr>
              <a:t>dim_addresses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40487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Arial"/>
              </a:rPr>
              <a:t>50 rows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2221992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5E6"/>
                </a:solidFill>
                <a:latin typeface="Arial"/>
              </a:rPr>
              <a:t>Generic display addresses across 26 towns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798064"/>
            <a:ext cx="5303520" cy="621792"/>
          </a:xfrm>
          <a:prstGeom prst="rect">
            <a:avLst/>
          </a:prstGeom>
          <a:solidFill>
            <a:srgbClr val="2A2A2C"/>
          </a:solidFill>
          <a:ln w="9525">
            <a:solidFill>
              <a:srgbClr val="AD9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74320" y="2798064"/>
            <a:ext cx="73152" cy="621792"/>
          </a:xfrm>
          <a:prstGeom prst="rect">
            <a:avLst/>
          </a:prstGeom>
          <a:solidFill>
            <a:srgbClr val="AD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284378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D96DC"/>
                </a:solidFill>
                <a:latin typeface="Arial"/>
              </a:rPr>
              <a:t>dim_calendar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11810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Arial"/>
              </a:rPr>
              <a:t>43 rows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2935224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5E6"/>
                </a:solidFill>
                <a:latin typeface="Arial"/>
              </a:rPr>
              <a:t>2026-04-01 to 2026-05-13 (SQL date range)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1371600"/>
            <a:ext cx="5303520" cy="621792"/>
          </a:xfrm>
          <a:prstGeom prst="rect">
            <a:avLst/>
          </a:prstGeom>
          <a:solidFill>
            <a:srgbClr val="2A2A2C"/>
          </a:solidFill>
          <a:ln w="9525">
            <a:solidFill>
              <a:srgbClr val="ECF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217920" y="1371600"/>
            <a:ext cx="73152" cy="621792"/>
          </a:xfrm>
          <a:prstGeom prst="rect">
            <a:avLst/>
          </a:prstGeom>
          <a:solidFill>
            <a:srgbClr val="ECF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0800" y="14173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CF166"/>
                </a:solidFill>
                <a:latin typeface="Arial"/>
              </a:rPr>
              <a:t>dim_time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169164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Arial"/>
              </a:rPr>
              <a:t>24 rows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1508760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5E6"/>
                </a:solidFill>
                <a:latin typeface="Arial"/>
              </a:rPr>
              <a:t>Hourly time slots 00:00 to 23:00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2084832"/>
            <a:ext cx="5303520" cy="621792"/>
          </a:xfrm>
          <a:prstGeom prst="rect">
            <a:avLst/>
          </a:prstGeom>
          <a:solidFill>
            <a:srgbClr val="2A2A2C"/>
          </a:solidFill>
          <a:ln w="9525">
            <a:solidFill>
              <a:srgbClr val="FF71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217920" y="2084832"/>
            <a:ext cx="73152" cy="621792"/>
          </a:xfrm>
          <a:prstGeom prst="rect">
            <a:avLst/>
          </a:prstGeom>
          <a:solidFill>
            <a:srgbClr val="FF71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00800" y="213055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7176"/>
                </a:solidFill>
                <a:latin typeface="Arial"/>
              </a:rPr>
              <a:t>dim_work_orders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240487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Arial"/>
              </a:rPr>
              <a:t>2,000 rows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0" y="2221992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5E6"/>
                </a:solidFill>
                <a:latin typeface="Arial"/>
              </a:rPr>
              <a:t>IDs 1-1000 root WOs, 1001-2000 gas-prevented WOs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0" y="2798064"/>
            <a:ext cx="5303520" cy="621792"/>
          </a:xfrm>
          <a:prstGeom prst="rect">
            <a:avLst/>
          </a:prstGeom>
          <a:solidFill>
            <a:srgbClr val="2A2A2C"/>
          </a:solidFill>
          <a:ln w="9525">
            <a:solidFill>
              <a:srgbClr val="8DE9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217920" y="2798064"/>
            <a:ext cx="73152" cy="621792"/>
          </a:xfrm>
          <a:prstGeom prst="rect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00800" y="284378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DE971"/>
                </a:solidFill>
                <a:latin typeface="Arial"/>
              </a:rPr>
              <a:t>fct_gas_escapes_v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311810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Arial"/>
              </a:rPr>
              <a:t>1,000 rows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0" y="2935224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5E6"/>
                </a:solidFill>
                <a:latin typeface="Arial"/>
              </a:rPr>
              <a:t>Links all dimensions; latest='Y' on all rows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5440680"/>
            <a:ext cx="11612880" cy="594360"/>
          </a:xfrm>
          <a:prstGeom prst="rect">
            <a:avLst/>
          </a:prstGeom>
          <a:solidFill>
            <a:srgbClr val="1A3A1A"/>
          </a:solidFill>
          <a:ln w="9525">
            <a:solidFill>
              <a:srgbClr val="8DE9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57200" y="54864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DE971"/>
                </a:solidFill>
                <a:latin typeface="Arial"/>
              </a:rPr>
              <a:t>Tools:  generate_sample_data.py  (creates CSVs)    |    load_sample_data.py  (pushes to Azure SQL)    |    Pipeline run verified all 1,000 rows end-to-end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A2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Picture 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37160"/>
            <a:ext cx="1097280" cy="1097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3040" y="18288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Arial"/>
              </a:rPr>
              <a:t>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77724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DE971"/>
                </a:solidFill>
                <a:latin typeface="Arial"/>
              </a:rPr>
              <a:t>Remaining work to complete the POC and expand to AWS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6537960"/>
            <a:ext cx="1170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>
                <a:solidFill>
                  <a:srgbClr val="E8E5E6"/>
                </a:solidFill>
                <a:latin typeface="Arial"/>
              </a:rPr>
              <a:t>NxZen  |  Toad to Azure Migration POC  |  Confidential  | 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6492240"/>
            <a:ext cx="11704320" cy="18288"/>
          </a:xfrm>
          <a:prstGeom prst="rect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56032" y="1371600"/>
            <a:ext cx="2651760" cy="4206240"/>
          </a:xfrm>
          <a:prstGeom prst="rect">
            <a:avLst/>
          </a:prstGeom>
          <a:solidFill>
            <a:srgbClr val="2A2A2C"/>
          </a:solidFill>
          <a:ln w="12700">
            <a:solidFill>
              <a:srgbClr val="8DE9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56032" y="1371600"/>
            <a:ext cx="2651760" cy="73152"/>
          </a:xfrm>
          <a:prstGeom prst="rect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1481328"/>
            <a:ext cx="24323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DE971"/>
                </a:solidFill>
                <a:latin typeface="Arial"/>
              </a:rPr>
              <a:t>Email Integration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1847088"/>
            <a:ext cx="24323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Connect Logic App to Office 365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176272"/>
            <a:ext cx="2432304" cy="27432"/>
          </a:xfrm>
          <a:prstGeom prst="rect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5760" y="2286000"/>
            <a:ext cx="243230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E8E5E6"/>
                </a:solidFill>
                <a:latin typeface="Arial"/>
              </a:rPr>
              <a:t>• Wire la-toad-poc-email to Office 365 connector</a:t>
            </a:r>
          </a:p>
          <a:p>
            <a:r>
              <a:rPr sz="900">
                <a:solidFill>
                  <a:srgbClr val="E8E5E6"/>
                </a:solidFill>
                <a:latin typeface="Arial"/>
              </a:rPr>
              <a:t>• Map subject, to, body and attachment_path fields</a:t>
            </a:r>
          </a:p>
          <a:p>
            <a:r>
              <a:rPr sz="900">
                <a:solidFill>
                  <a:srgbClr val="E8E5E6"/>
                </a:solidFill>
                <a:latin typeface="Arial"/>
              </a:rPr>
              <a:t>• Test with real report attachment (.xlsm)</a:t>
            </a:r>
          </a:p>
          <a:p>
            <a:r>
              <a:rPr sz="900">
                <a:solidFill>
                  <a:srgbClr val="E8E5E6"/>
                </a:solidFill>
                <a:latin typeface="Arial"/>
              </a:rPr>
              <a:t>• Confirm delivery to operations-distribution@abc.co.uk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17520" y="1371600"/>
            <a:ext cx="2651760" cy="4206240"/>
          </a:xfrm>
          <a:prstGeom prst="rect">
            <a:avLst/>
          </a:prstGeom>
          <a:solidFill>
            <a:srgbClr val="2A2A2C"/>
          </a:solidFill>
          <a:ln w="12700">
            <a:solidFill>
              <a:srgbClr val="74D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017520" y="1371600"/>
            <a:ext cx="2651760" cy="73152"/>
          </a:xfrm>
          <a:prstGeom prst="rect">
            <a:avLst/>
          </a:prstGeom>
          <a:solidFill>
            <a:srgbClr val="74D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127248" y="1481328"/>
            <a:ext cx="24323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4D1EA"/>
                </a:solidFill>
                <a:latin typeface="Arial"/>
              </a:rPr>
              <a:t>Pipeline Hardening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27248" y="1847088"/>
            <a:ext cx="24323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Monitoring, alerts and scheduling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27248" y="2176272"/>
            <a:ext cx="2432304" cy="27432"/>
          </a:xfrm>
          <a:prstGeom prst="rect">
            <a:avLst/>
          </a:prstGeom>
          <a:solidFill>
            <a:srgbClr val="74D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127248" y="2286000"/>
            <a:ext cx="243230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E8E5E6"/>
                </a:solidFill>
                <a:latin typeface="Arial"/>
              </a:rPr>
              <a:t>• Add ADF trigger (daily 06:00 UTC)</a:t>
            </a:r>
          </a:p>
          <a:p>
            <a:r>
              <a:rPr sz="900">
                <a:solidFill>
                  <a:srgbClr val="E8E5E6"/>
                </a:solidFill>
                <a:latin typeface="Arial"/>
              </a:rPr>
              <a:t>• Set up Azure Monitor alert on pipeline failure</a:t>
            </a:r>
          </a:p>
          <a:p>
            <a:r>
              <a:rPr sz="900">
                <a:solidFill>
                  <a:srgbClr val="E8E5E6"/>
                </a:solidFill>
                <a:latin typeface="Arial"/>
              </a:rPr>
              <a:t>• Add spending alert on rg-toad-poc resource group</a:t>
            </a:r>
          </a:p>
          <a:p>
            <a:r>
              <a:rPr sz="900">
                <a:solidFill>
                  <a:srgbClr val="E8E5E6"/>
                </a:solidFill>
                <a:latin typeface="Arial"/>
              </a:rPr>
              <a:t>• Review Key Vault secret rotation policy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79008" y="1371600"/>
            <a:ext cx="2651760" cy="4206240"/>
          </a:xfrm>
          <a:prstGeom prst="rect">
            <a:avLst/>
          </a:prstGeom>
          <a:solidFill>
            <a:srgbClr val="2A2A2C"/>
          </a:solidFill>
          <a:ln w="12700">
            <a:solidFill>
              <a:srgbClr val="AD9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779008" y="1371600"/>
            <a:ext cx="2651760" cy="73152"/>
          </a:xfrm>
          <a:prstGeom prst="rect">
            <a:avLst/>
          </a:prstGeom>
          <a:solidFill>
            <a:srgbClr val="AD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888736" y="1481328"/>
            <a:ext cx="24323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AD96DC"/>
                </a:solidFill>
                <a:latin typeface="Arial"/>
              </a:rPr>
              <a:t>AWS Equivalent POC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88736" y="1847088"/>
            <a:ext cx="24323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Replicate the same flow on AWS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88736" y="2176272"/>
            <a:ext cx="2432304" cy="27432"/>
          </a:xfrm>
          <a:prstGeom prst="rect">
            <a:avLst/>
          </a:prstGeom>
          <a:solidFill>
            <a:srgbClr val="AD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888736" y="2286000"/>
            <a:ext cx="243230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E8E5E6"/>
                </a:solidFill>
                <a:latin typeface="Arial"/>
              </a:rPr>
              <a:t>• AWS Glue job replaces ADF Copy activity</a:t>
            </a:r>
          </a:p>
          <a:p>
            <a:r>
              <a:rPr sz="900">
                <a:solidFill>
                  <a:srgbClr val="E8E5E6"/>
                </a:solidFill>
                <a:latin typeface="Arial"/>
              </a:rPr>
              <a:t>• AWS Lambda replaces Azure Function</a:t>
            </a:r>
          </a:p>
          <a:p>
            <a:r>
              <a:rPr sz="900">
                <a:solidFill>
                  <a:srgbClr val="E8E5E6"/>
                </a:solidFill>
                <a:latin typeface="Arial"/>
              </a:rPr>
              <a:t>• S3 replaces Blob Storage</a:t>
            </a:r>
          </a:p>
          <a:p>
            <a:r>
              <a:rPr sz="900">
                <a:solidFill>
                  <a:srgbClr val="E8E5E6"/>
                </a:solidFill>
                <a:latin typeface="Arial"/>
              </a:rPr>
              <a:t>• Amazon SES replaces Logic App email</a:t>
            </a:r>
          </a:p>
          <a:p>
            <a:r>
              <a:rPr sz="900">
                <a:solidFill>
                  <a:srgbClr val="E8E5E6"/>
                </a:solidFill>
                <a:latin typeface="Arial"/>
              </a:rPr>
              <a:t>• Compare cost, complexity and dev experience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540496" y="1371600"/>
            <a:ext cx="2651760" cy="4206240"/>
          </a:xfrm>
          <a:prstGeom prst="rect">
            <a:avLst/>
          </a:prstGeom>
          <a:solidFill>
            <a:srgbClr val="2A2A2C"/>
          </a:solidFill>
          <a:ln w="12700">
            <a:solidFill>
              <a:srgbClr val="ECF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540496" y="1371600"/>
            <a:ext cx="2651760" cy="73152"/>
          </a:xfrm>
          <a:prstGeom prst="rect">
            <a:avLst/>
          </a:prstGeom>
          <a:solidFill>
            <a:srgbClr val="ECF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650224" y="1481328"/>
            <a:ext cx="24323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CF166"/>
                </a:solidFill>
                <a:latin typeface="Arial"/>
              </a:rPr>
              <a:t>Documentation &amp; Handover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50224" y="1847088"/>
            <a:ext cx="24323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rial"/>
              </a:rPr>
              <a:t>Formalise the POC findings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50224" y="2176272"/>
            <a:ext cx="2432304" cy="27432"/>
          </a:xfrm>
          <a:prstGeom prst="rect">
            <a:avLst/>
          </a:prstGeom>
          <a:solidFill>
            <a:srgbClr val="ECF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650224" y="2286000"/>
            <a:ext cx="243230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E8E5E6"/>
                </a:solidFill>
                <a:latin typeface="Arial"/>
              </a:rPr>
              <a:t>• Architecture decision record (ADR)</a:t>
            </a:r>
          </a:p>
          <a:p>
            <a:r>
              <a:rPr sz="900">
                <a:solidFill>
                  <a:srgbClr val="E8E5E6"/>
                </a:solidFill>
                <a:latin typeface="Arial"/>
              </a:rPr>
              <a:t>• Runbook for pipeline operations</a:t>
            </a:r>
          </a:p>
          <a:p>
            <a:r>
              <a:rPr sz="900">
                <a:solidFill>
                  <a:srgbClr val="E8E5E6"/>
                </a:solidFill>
                <a:latin typeface="Arial"/>
              </a:rPr>
              <a:t>• Cost comparison: Toad vs Azure vs AWS</a:t>
            </a:r>
          </a:p>
          <a:p>
            <a:r>
              <a:rPr sz="900">
                <a:solidFill>
                  <a:srgbClr val="E8E5E6"/>
                </a:solidFill>
                <a:latin typeface="Arial"/>
              </a:rPr>
              <a:t>• Present findings to stakeholders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1558</Words>
  <Application>Microsoft Office PowerPoint</Application>
  <PresentationFormat>Custom</PresentationFormat>
  <Paragraphs>230</Paragraphs>
  <Slides>9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Radhakrishnan Karnakumar</dc:creator>
  <cp:keywords/>
  <dc:description>generated using python-pptx</dc:description>
  <cp:lastModifiedBy>Radhakrishnan Karnakumar</cp:lastModifiedBy>
  <cp:revision>3</cp:revision>
  <dcterms:created xsi:type="dcterms:W3CDTF">2013-01-27T09:14:16Z</dcterms:created>
  <dcterms:modified xsi:type="dcterms:W3CDTF">2026-05-15T10:04:30Z</dcterms:modified>
  <cp:category/>
</cp:coreProperties>
</file>