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443DC0-00E5-437F-9F55-9C2D7CDC0F0A}" v="1" dt="2026-04-15T09:40:22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708" y="2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dhakrishnan Karnakumar" userId="a3d96535ab879513" providerId="LiveId" clId="{D0A16E96-5F2D-4F76-B535-027432E9B251}"/>
    <pc:docChg chg="modSld">
      <pc:chgData name="Radhakrishnan Karnakumar" userId="a3d96535ab879513" providerId="LiveId" clId="{D0A16E96-5F2D-4F76-B535-027432E9B251}" dt="2026-04-15T09:43:25.210" v="130" actId="6549"/>
      <pc:docMkLst>
        <pc:docMk/>
      </pc:docMkLst>
      <pc:sldChg chg="modSp mod">
        <pc:chgData name="Radhakrishnan Karnakumar" userId="a3d96535ab879513" providerId="LiveId" clId="{D0A16E96-5F2D-4F76-B535-027432E9B251}" dt="2026-04-15T09:40:43.900" v="104" actId="113"/>
        <pc:sldMkLst>
          <pc:docMk/>
          <pc:sldMk cId="0" sldId="257"/>
        </pc:sldMkLst>
        <pc:spChg chg="mod">
          <ac:chgData name="Radhakrishnan Karnakumar" userId="a3d96535ab879513" providerId="LiveId" clId="{D0A16E96-5F2D-4F76-B535-027432E9B251}" dt="2026-04-15T09:40:43.900" v="104" actId="113"/>
          <ac:spMkLst>
            <pc:docMk/>
            <pc:sldMk cId="0" sldId="257"/>
            <ac:spMk id="36" creationId="{00000000-0000-0000-0000-000000000000}"/>
          </ac:spMkLst>
        </pc:spChg>
      </pc:sldChg>
      <pc:sldChg chg="modSp mod">
        <pc:chgData name="Radhakrishnan Karnakumar" userId="a3d96535ab879513" providerId="LiveId" clId="{D0A16E96-5F2D-4F76-B535-027432E9B251}" dt="2026-04-15T09:39:31.139" v="86" actId="20577"/>
        <pc:sldMkLst>
          <pc:docMk/>
          <pc:sldMk cId="0" sldId="258"/>
        </pc:sldMkLst>
        <pc:spChg chg="mod">
          <ac:chgData name="Radhakrishnan Karnakumar" userId="a3d96535ab879513" providerId="LiveId" clId="{D0A16E96-5F2D-4F76-B535-027432E9B251}" dt="2026-04-15T09:39:31.139" v="86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Radhakrishnan Karnakumar" userId="a3d96535ab879513" providerId="LiveId" clId="{D0A16E96-5F2D-4F76-B535-027432E9B251}" dt="2026-04-15T09:35:36.706" v="10" actId="20577"/>
          <ac:spMkLst>
            <pc:docMk/>
            <pc:sldMk cId="0" sldId="258"/>
            <ac:spMk id="20" creationId="{00000000-0000-0000-0000-000000000000}"/>
          </ac:spMkLst>
        </pc:spChg>
      </pc:sldChg>
      <pc:sldChg chg="modSp mod">
        <pc:chgData name="Radhakrishnan Karnakumar" userId="a3d96535ab879513" providerId="LiveId" clId="{D0A16E96-5F2D-4F76-B535-027432E9B251}" dt="2026-04-15T09:41:54.662" v="118" actId="20577"/>
        <pc:sldMkLst>
          <pc:docMk/>
          <pc:sldMk cId="0" sldId="259"/>
        </pc:sldMkLst>
        <pc:spChg chg="mod">
          <ac:chgData name="Radhakrishnan Karnakumar" userId="a3d96535ab879513" providerId="LiveId" clId="{D0A16E96-5F2D-4F76-B535-027432E9B251}" dt="2026-04-15T09:41:54.662" v="118" actId="20577"/>
          <ac:spMkLst>
            <pc:docMk/>
            <pc:sldMk cId="0" sldId="259"/>
            <ac:spMk id="20" creationId="{00000000-0000-0000-0000-000000000000}"/>
          </ac:spMkLst>
        </pc:spChg>
      </pc:sldChg>
      <pc:sldChg chg="modSp mod">
        <pc:chgData name="Radhakrishnan Karnakumar" userId="a3d96535ab879513" providerId="LiveId" clId="{D0A16E96-5F2D-4F76-B535-027432E9B251}" dt="2026-04-15T09:38:54.503" v="73" actId="20577"/>
        <pc:sldMkLst>
          <pc:docMk/>
          <pc:sldMk cId="0" sldId="260"/>
        </pc:sldMkLst>
        <pc:spChg chg="mod">
          <ac:chgData name="Radhakrishnan Karnakumar" userId="a3d96535ab879513" providerId="LiveId" clId="{D0A16E96-5F2D-4F76-B535-027432E9B251}" dt="2026-04-15T09:38:54.503" v="73" actId="20577"/>
          <ac:spMkLst>
            <pc:docMk/>
            <pc:sldMk cId="0" sldId="260"/>
            <ac:spMk id="16" creationId="{00000000-0000-0000-0000-000000000000}"/>
          </ac:spMkLst>
        </pc:spChg>
      </pc:sldChg>
      <pc:sldChg chg="modSp mod">
        <pc:chgData name="Radhakrishnan Karnakumar" userId="a3d96535ab879513" providerId="LiveId" clId="{D0A16E96-5F2D-4F76-B535-027432E9B251}" dt="2026-04-15T09:43:25.210" v="130" actId="6549"/>
        <pc:sldMkLst>
          <pc:docMk/>
          <pc:sldMk cId="0" sldId="262"/>
        </pc:sldMkLst>
        <pc:spChg chg="mod">
          <ac:chgData name="Radhakrishnan Karnakumar" userId="a3d96535ab879513" providerId="LiveId" clId="{D0A16E96-5F2D-4F76-B535-027432E9B251}" dt="2026-04-15T09:43:25.210" v="130" actId="6549"/>
          <ac:spMkLst>
            <pc:docMk/>
            <pc:sldMk cId="0" sldId="262"/>
            <ac:spMk id="1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0"/>
            <a:ext cx="5056632" cy="6858000"/>
          </a:xfrm>
          <a:prstGeom prst="rect">
            <a:avLst/>
          </a:prstGeom>
        </p:spPr>
      </p:pic>
      <p:pic>
        <p:nvPicPr>
          <p:cNvPr id="4" name="Picture 3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92" y="91440"/>
            <a:ext cx="137160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7132320" cy="6400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7132320" cy="6400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777240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Arial"/>
              </a:rPr>
              <a:t>SOFTWARE DEVELOPMENT LIFE CYCLE</a:t>
            </a:r>
            <a:endParaRPr sz="28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7315200" cy="3539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sz="1700" b="0" i="0" dirty="0">
                <a:solidFill>
                  <a:srgbClr val="8DE971"/>
                </a:solidFill>
                <a:latin typeface="Arial"/>
              </a:rPr>
              <a:t>Waterfall Methodology</a:t>
            </a:r>
            <a:endParaRPr sz="1700" b="0" i="0" dirty="0">
              <a:solidFill>
                <a:srgbClr val="8DE971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3218688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5E6"/>
                </a:solidFill>
                <a:latin typeface="Arial"/>
              </a:rPr>
              <a:t>A structured, sequential, phase-gated approach to software delivery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080760"/>
            <a:ext cx="2031492" cy="502920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0" y="6099048"/>
            <a:ext cx="203149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304"/>
                </a:solidFill>
                <a:latin typeface="Arial"/>
              </a:rPr>
              <a:t>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31492" y="6080760"/>
            <a:ext cx="2031492" cy="502920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31492" y="6099048"/>
            <a:ext cx="203149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304"/>
                </a:solidFill>
                <a:latin typeface="Arial"/>
              </a:rPr>
              <a:t>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2984" y="6080760"/>
            <a:ext cx="2031492" cy="50292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62984" y="6099048"/>
            <a:ext cx="203149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304"/>
                </a:solidFill>
                <a:latin typeface="Arial"/>
              </a:rPr>
              <a:t>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76" y="6080760"/>
            <a:ext cx="2031492" cy="502920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94476" y="6099048"/>
            <a:ext cx="203149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304"/>
                </a:solidFill>
                <a:latin typeface="Arial"/>
              </a:rPr>
              <a:t>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5968" y="6080760"/>
            <a:ext cx="2031492" cy="502920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25968" y="6099048"/>
            <a:ext cx="203149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304"/>
                </a:solidFill>
                <a:latin typeface="Arial"/>
              </a:rPr>
              <a:t>Deploy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57460" y="6080760"/>
            <a:ext cx="2031492" cy="502920"/>
          </a:xfrm>
          <a:prstGeom prst="rect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57460" y="6099048"/>
            <a:ext cx="203149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304"/>
                </a:solidFill>
                <a:latin typeface="Arial"/>
              </a:rPr>
              <a:t>Maintain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83680"/>
            <a:ext cx="7772400" cy="2468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8E5E6"/>
                </a:solidFill>
                <a:latin typeface="Arial"/>
              </a:rPr>
              <a:t>Confidential  |  2026  |  Industry Standard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Waterfall SDLC — Phase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Arial"/>
              </a:rPr>
              <a:t>Sequential, phase-gated delivery model — each phase signed off before the next begins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01168"/>
            <a:ext cx="19659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Arial"/>
              </a:rPr>
              <a:t>Waterfall Methodology  |  Industry Standard SDLC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4F2F3"/>
                </a:solidFill>
                <a:latin typeface="Arial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143000"/>
            <a:ext cx="1920240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" y="117043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4D1EA"/>
                </a:solidFill>
                <a:latin typeface="Arial"/>
              </a:rPr>
              <a:t>Phase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1417320"/>
            <a:ext cx="1920240" cy="658368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" y="143560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304"/>
                </a:solidFill>
                <a:latin typeface="Arial"/>
              </a:rPr>
              <a:t>Planning &amp;</a:t>
            </a:r>
          </a:p>
          <a:p>
            <a:pPr algn="ctr"/>
            <a:r>
              <a:rPr sz="1100" b="1" i="0">
                <a:solidFill>
                  <a:srgbClr val="030304"/>
                </a:solidFill>
                <a:latin typeface="Arial"/>
              </a:rPr>
              <a:t>Requirements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2075688"/>
            <a:ext cx="1920240" cy="2542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" y="2130552"/>
            <a:ext cx="1783080" cy="2423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BID / Feasibility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BRD / Use Cases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Requirements Freeze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RTM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1737360"/>
            <a:ext cx="86868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304"/>
                </a:solidFill>
                <a:latin typeface="Arial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25980" y="1143000"/>
            <a:ext cx="1920240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25980" y="117043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AD96DC"/>
                </a:solidFill>
                <a:latin typeface="Arial"/>
              </a:rPr>
              <a:t>Phase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25980" y="1417320"/>
            <a:ext cx="1920240" cy="658368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25980" y="143560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304"/>
                </a:solidFill>
                <a:latin typeface="Arial"/>
              </a:rPr>
              <a:t>System</a:t>
            </a:r>
          </a:p>
          <a:p>
            <a:pPr algn="ctr"/>
            <a:r>
              <a:rPr sz="1100" b="1" i="0">
                <a:solidFill>
                  <a:srgbClr val="030304"/>
                </a:solidFill>
                <a:latin typeface="Arial"/>
              </a:rPr>
              <a:t>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25980" y="2075688"/>
            <a:ext cx="1920240" cy="2542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17420" y="2130552"/>
            <a:ext cx="1783080" cy="2423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HLD / LLD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Architecture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ARB Submission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Test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6220" y="1737360"/>
            <a:ext cx="86868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304"/>
                </a:solidFill>
                <a:latin typeface="Arial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1143000"/>
            <a:ext cx="1920240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0" y="117043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DE971"/>
                </a:solidFill>
                <a:latin typeface="Arial"/>
              </a:rPr>
              <a:t>Phase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1417320"/>
            <a:ext cx="1920240" cy="65836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0" y="143560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304"/>
                </a:solidFill>
                <a:latin typeface="Arial"/>
              </a:rPr>
              <a:t>Development</a:t>
            </a:r>
          </a:p>
          <a:p>
            <a:pPr algn="ctr"/>
            <a:r>
              <a:rPr sz="1100" b="1" i="0">
                <a:solidFill>
                  <a:srgbClr val="030304"/>
                </a:solidFill>
                <a:latin typeface="Arial"/>
              </a:rPr>
              <a:t>&amp; Build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2075688"/>
            <a:ext cx="1920240" cy="2542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06240" y="2130552"/>
            <a:ext cx="1783080" cy="2423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Coding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Code Review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Unit Testing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Build Artifacts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1737360"/>
            <a:ext cx="86868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304"/>
                </a:solidFill>
                <a:latin typeface="Arial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03620" y="1143000"/>
            <a:ext cx="1920240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03620" y="117043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CF166"/>
                </a:solidFill>
                <a:latin typeface="Arial"/>
              </a:rPr>
              <a:t>Phase 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03620" y="1417320"/>
            <a:ext cx="1920240" cy="658368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03620" y="143560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304"/>
                </a:solidFill>
                <a:latin typeface="Arial"/>
              </a:rPr>
              <a:t>Testing</a:t>
            </a:r>
          </a:p>
          <a:p>
            <a:pPr algn="ctr"/>
            <a:r>
              <a:rPr sz="1100" b="1" i="0">
                <a:solidFill>
                  <a:srgbClr val="030304"/>
                </a:solidFill>
                <a:latin typeface="Arial"/>
              </a:rPr>
              <a:t>SIT &amp; UAT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03620" y="2075688"/>
            <a:ext cx="1920240" cy="2542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5060" y="2130552"/>
            <a:ext cx="1783080" cy="7848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030304"/>
                </a:solidFill>
                <a:latin typeface="Arial"/>
              </a:rPr>
              <a:t>• SIT / Performance</a:t>
            </a:r>
          </a:p>
          <a:p>
            <a:pPr algn="l"/>
            <a:r>
              <a:rPr sz="900" b="0" i="0" dirty="0">
                <a:solidFill>
                  <a:srgbClr val="030304"/>
                </a:solidFill>
                <a:latin typeface="Arial"/>
              </a:rPr>
              <a:t>• Security Testing</a:t>
            </a:r>
            <a:endParaRPr lang="en-GB" sz="900" b="0" i="0" dirty="0">
              <a:solidFill>
                <a:srgbClr val="030304"/>
              </a:solidFill>
              <a:latin typeface="Arial"/>
            </a:endParaRPr>
          </a:p>
          <a:p>
            <a:r>
              <a:rPr lang="en-GB" sz="900" dirty="0">
                <a:solidFill>
                  <a:srgbClr val="030304"/>
                </a:solidFill>
                <a:latin typeface="Arial"/>
              </a:rPr>
              <a:t>• </a:t>
            </a:r>
            <a:r>
              <a:rPr lang="en-GB" sz="900" b="1" dirty="0">
                <a:solidFill>
                  <a:srgbClr val="030304"/>
                </a:solidFill>
                <a:latin typeface="Arial"/>
              </a:rPr>
              <a:t>Witness Test</a:t>
            </a:r>
            <a:endParaRPr sz="900" b="1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900" b="0" i="0" dirty="0">
                <a:solidFill>
                  <a:srgbClr val="030304"/>
                </a:solidFill>
                <a:latin typeface="Arial"/>
              </a:rPr>
              <a:t>• UAT</a:t>
            </a:r>
          </a:p>
          <a:p>
            <a:pPr algn="l"/>
            <a:r>
              <a:rPr sz="900" b="0" i="0" dirty="0">
                <a:solidFill>
                  <a:srgbClr val="030304"/>
                </a:solidFill>
                <a:latin typeface="Arial"/>
              </a:rPr>
              <a:t>• UAT Sign-off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3860" y="1737360"/>
            <a:ext cx="86868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304"/>
                </a:solidFill>
                <a:latin typeface="Arial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1143000"/>
            <a:ext cx="1920240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92440" y="117043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7176"/>
                </a:solidFill>
                <a:latin typeface="Arial"/>
              </a:rPr>
              <a:t>Phase 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92440" y="1417320"/>
            <a:ext cx="1920240" cy="658368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92440" y="143560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304"/>
                </a:solidFill>
                <a:latin typeface="Arial"/>
              </a:rPr>
              <a:t>Deployment</a:t>
            </a:r>
          </a:p>
          <a:p>
            <a:pPr algn="ctr"/>
            <a:r>
              <a:rPr sz="1100" b="1" i="0">
                <a:solidFill>
                  <a:srgbClr val="030304"/>
                </a:solidFill>
                <a:latin typeface="Arial"/>
              </a:rPr>
              <a:t>&amp; Go-Live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2440" y="2075688"/>
            <a:ext cx="1920240" cy="2542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83880" y="2130552"/>
            <a:ext cx="1783080" cy="2423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CAB Approval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Cutover Runbook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Go-Live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Smoke Test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80" y="1737360"/>
            <a:ext cx="86868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304"/>
                </a:solidFill>
                <a:latin typeface="Arial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81260" y="1143000"/>
            <a:ext cx="1920240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81260" y="117043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D8D4D5"/>
                </a:solidFill>
                <a:latin typeface="Arial"/>
              </a:rPr>
              <a:t>Phase 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81260" y="1417320"/>
            <a:ext cx="1920240" cy="658368"/>
          </a:xfrm>
          <a:prstGeom prst="rect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081260" y="143560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304"/>
                </a:solidFill>
                <a:latin typeface="Arial"/>
              </a:rPr>
              <a:t>ELS &amp;</a:t>
            </a:r>
          </a:p>
          <a:p>
            <a:pPr algn="ctr"/>
            <a:r>
              <a:rPr sz="1100" b="1" i="0">
                <a:solidFill>
                  <a:srgbClr val="030304"/>
                </a:solidFill>
                <a:latin typeface="Arial"/>
              </a:rPr>
              <a:t>Maintenance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81260" y="2075688"/>
            <a:ext cx="1920240" cy="2542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172700" y="2130552"/>
            <a:ext cx="1783080" cy="2423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Hypercare (ELS)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PIR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BAU Handover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Arial"/>
              </a:rPr>
              <a:t>• Project Closure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" y="4727448"/>
            <a:ext cx="1463040" cy="256032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01168" y="4764024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DE971"/>
                </a:solidFill>
                <a:latin typeface="Arial"/>
              </a:rPr>
              <a:t>Gates: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64208" y="475488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Gate 1: Requirements Sign-off  →  Gate 2: ARB + Design Approval  →  Gate 3: Build Complete  →  Gate 4: SIT Pass + UAT Sign-off  →  Gate 5: CAB Approval (Go-Live)  →  Gate 6: ELS Sign-off + BAU Handover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" y="5111496"/>
            <a:ext cx="11914632" cy="27432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28600" y="5148072"/>
            <a:ext cx="1177747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0304"/>
                </a:solidFill>
                <a:latin typeface="Arial"/>
              </a:rPr>
              <a:t>Key Principle: Each phase must be fully completed and formally signed off before the next phase begins. Any changes after Requirements Freeze must go through formal Change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Phase 1 — Planning &amp;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Arial"/>
              </a:rPr>
              <a:t>Establish project foundation and capture all business needs before design begins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01168"/>
            <a:ext cx="19659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Arial"/>
              </a:rPr>
              <a:t>Waterfall Methodology  |  Industry Standard SDLC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4F2F3"/>
                </a:solidFill>
                <a:latin typeface="Arial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4" y="0"/>
            <a:ext cx="64008" cy="6583680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863072" y="109728"/>
            <a:ext cx="1188720" cy="201168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63072" y="1188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304"/>
                </a:solidFill>
                <a:latin typeface="Arial"/>
              </a:rPr>
              <a:t>Phase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1097280"/>
            <a:ext cx="5897880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4" y="1133856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4D1EA"/>
                </a:solidFill>
                <a:latin typeface="Arial"/>
              </a:rPr>
              <a:t>KEY ACTIVITIES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" y="1371600"/>
            <a:ext cx="5897880" cy="3474719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0312" y="1426464"/>
            <a:ext cx="5751576" cy="24468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Project Initiation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Business case / BID preparation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Feasibility study (technical, financial, operational)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Project charter &amp; stakeholder identification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Resource planning &amp; cost estimation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Requirements Gathering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Stakeholder workshops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BRD (Business Requirements Document)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FSD (Functional Specification Document)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Use case documentation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Non-functional requirements (NFRs)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RTM baseline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Planning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Project plan &amp; milestone schedule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Risk register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Change control process defined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097280"/>
            <a:ext cx="5897880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5352" y="1133856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4D1EA"/>
                </a:solidFill>
                <a:latin typeface="Arial"/>
              </a:rPr>
              <a:t>KEY DOCUMENTS &amp; DELIVERABLES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371600"/>
            <a:ext cx="5897880" cy="3474719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1426464"/>
            <a:ext cx="5751576" cy="270843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BID Document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Business case, cost-benefit, ROI analysis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Project Charter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Scope, objectives, sponsor approval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BRD (Business Requirements Doc)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Full functional &amp; non-functional requirements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FSD (Functional Specification)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Detailed functional specifications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Use Cases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Business process flows &amp; scenarios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RTM (Requirements Traceability Matrix)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Risk Register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Project Plan &amp; Milestone Schedule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" y="4937759"/>
            <a:ext cx="5897880" cy="274320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2024" y="4974335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ENTRY CRITERIA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" y="5212079"/>
            <a:ext cx="5897880" cy="1143000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0312" y="5266943"/>
            <a:ext cx="5751576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Business need / opportunity identified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Executive sponsor assigned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Initial budget approved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Key stakeholders identified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937759"/>
            <a:ext cx="5897880" cy="274320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45352" y="4974335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EXIT CRITERIA — Gate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5212079"/>
            <a:ext cx="5897880" cy="1143000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5266943"/>
            <a:ext cx="5751576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BRD &amp; FSD reviewed and approved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Requirements signed off by business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RTM baselined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Project plan approved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Risks documented and accepted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Change control process activated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Phase 2 — 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Arial"/>
              </a:rPr>
              <a:t>Translate requirements into technical architecture and detailed design blueprints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01168"/>
            <a:ext cx="19659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Arial"/>
              </a:rPr>
              <a:t>Waterfall Methodology  |  Industry Standard SDLC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4F2F3"/>
                </a:solidFill>
                <a:latin typeface="Arial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4" y="0"/>
            <a:ext cx="64008" cy="6583680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863072" y="109728"/>
            <a:ext cx="1188720" cy="201168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63072" y="1188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304"/>
                </a:solidFill>
                <a:latin typeface="Arial"/>
              </a:rPr>
              <a:t>Phase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1097280"/>
            <a:ext cx="5897880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4" y="1133856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D96DC"/>
                </a:solidFill>
                <a:latin typeface="Arial"/>
              </a:rPr>
              <a:t>KEY ACTIVITIES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" y="1371600"/>
            <a:ext cx="5897880" cy="3474719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0312" y="1426464"/>
            <a:ext cx="5751576" cy="338327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High Level Design (HLD)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System architecture &amp; component design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Technology stack selection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Integration design &amp; data flows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Infrastructure &amp; hosting design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Low Level Design (LLD)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Database design (ERD, table definitions)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API specifications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Detailed component / module design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Security design &amp; controls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Governance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ARB (Architecture Review Board) submission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ARB presentation &amp; approval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Test strategy &amp; test environment planning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Capacity &amp; performance planning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097280"/>
            <a:ext cx="5897880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5352" y="1133856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D96DC"/>
                </a:solidFill>
                <a:latin typeface="Arial"/>
              </a:rPr>
              <a:t>KEY DOCUMENTS &amp; DELIVERABLES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371600"/>
            <a:ext cx="5897880" cy="3474719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1426464"/>
            <a:ext cx="5751576" cy="29700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HLD Document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Architecture diagrams, component overview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LLD Document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Detailed technical specifications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ARB Submission Pack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Architecture proposal for governance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Database Design Document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ERD, table / column specs, indexing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Interface Design Document (IDD)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API contracts, integration specs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Security Design Document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Security controls, threat model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Test Strategy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SIT, </a:t>
            </a:r>
            <a:r>
              <a:rPr lang="en-GB" sz="850" b="0" i="0" dirty="0">
                <a:solidFill>
                  <a:srgbClr val="030304"/>
                </a:solidFill>
                <a:latin typeface="Arial"/>
              </a:rPr>
              <a:t>Witness Test, </a:t>
            </a:r>
            <a:r>
              <a:rPr sz="850" b="0" i="0" dirty="0">
                <a:solidFill>
                  <a:srgbClr val="030304"/>
                </a:solidFill>
                <a:latin typeface="Arial"/>
              </a:rPr>
              <a:t>UAT, performance, security approach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RTM (updated with design traceability)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" y="4937759"/>
            <a:ext cx="5897880" cy="274320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2024" y="4974335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ENTRY CRITERIA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" y="5212079"/>
            <a:ext cx="5897880" cy="1143000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0312" y="5266943"/>
            <a:ext cx="5751576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Gate 1 passed — BRD signed off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RTM baselined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Architects assigned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Dev environment available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937759"/>
            <a:ext cx="5897880" cy="274320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45352" y="4974335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EXIT CRITERIA — Gate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5212079"/>
            <a:ext cx="5897880" cy="1143000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5266943"/>
            <a:ext cx="5751576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HLD &amp; LLD reviewed and approved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ARB approval obtained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Security design signed off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Test strategy approved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Test environments provisioned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RTM updated with design traceability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Phase 3 — Development &amp;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Arial"/>
              </a:rPr>
              <a:t>Code, review and unit test all components per the approved Low Level Design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01168"/>
            <a:ext cx="19659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Arial"/>
              </a:rPr>
              <a:t>Waterfall Methodology  |  Industry Standard SDLC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4F2F3"/>
                </a:solidFill>
                <a:latin typeface="Arial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4" y="0"/>
            <a:ext cx="64008" cy="658368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863072" y="109728"/>
            <a:ext cx="1188720" cy="20116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63072" y="1188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304"/>
                </a:solidFill>
                <a:latin typeface="Arial"/>
              </a:rPr>
              <a:t>Phase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1097280"/>
            <a:ext cx="5897880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4" y="1133856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DE971"/>
                </a:solidFill>
                <a:latin typeface="Arial"/>
              </a:rPr>
              <a:t>KEY ACTIVITIES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" y="1371600"/>
            <a:ext cx="5897880" cy="3474719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0312" y="1426464"/>
            <a:ext cx="5751576" cy="24468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Development Setup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Version control branching strategy (Git)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Coding standards &amp; conventions defined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CI/CD pipeline setup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Build &amp; Code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Feature development per LLD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Database objects (tables, views, procs)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Integration &amp; API development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Batch / ETL pipeline development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Quality Assurance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Code reviews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Unit testing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Static code analysis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Build artifact creation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Defect tracking &amp; resolution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Deployment scripts preparation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097280"/>
            <a:ext cx="5897880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5352" y="1133856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DE971"/>
                </a:solidFill>
                <a:latin typeface="Arial"/>
              </a:rPr>
              <a:t>KEY DOCUMENTS &amp; DELIVERABLES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371600"/>
            <a:ext cx="5897880" cy="3474719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1426464"/>
            <a:ext cx="5751576" cy="338327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Source Code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Version-controlled in Git repository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Unit Test Results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Coverage reports, pass / fail logs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Code Review Records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Pull requests, review comments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Build Artifacts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Compiled binaries, packages, scripts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Deployment Scripts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DB migration scripts, release packages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Static Analysis Report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Code quality and security scan results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RTM (updated)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Technical Documentation (runbooks, config guides)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" y="4937759"/>
            <a:ext cx="5897880" cy="27432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2024" y="4974335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ENTRY CRITERIA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" y="5212079"/>
            <a:ext cx="5897880" cy="1143000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0312" y="5266943"/>
            <a:ext cx="5751576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Gate 2 passed — Design approved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ARB approval in place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Dev environment provisioned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Development team assigned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937759"/>
            <a:ext cx="5897880" cy="27432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45352" y="4974335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EXIT CRITERIA — Gate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5212079"/>
            <a:ext cx="5897880" cy="1143000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5266943"/>
            <a:ext cx="5751576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All features built per LLD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Code reviews completed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Unit tests passed (coverage met)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No critical / high open defects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Build artifacts deployable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SIT environment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Phase 4 — Testing (SIT &amp; UAT)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Arial"/>
              </a:rPr>
              <a:t>Validate the system against requirements through structured, evidence-based testing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01168"/>
            <a:ext cx="19659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Arial"/>
              </a:rPr>
              <a:t>Waterfall Methodology  |  Industry Standard SDLC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4F2F3"/>
                </a:solidFill>
                <a:latin typeface="Arial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4" y="0"/>
            <a:ext cx="64008" cy="6583680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863072" y="109728"/>
            <a:ext cx="1188720" cy="201168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63072" y="1188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304"/>
                </a:solidFill>
                <a:latin typeface="Arial"/>
              </a:rPr>
              <a:t>Phase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1097280"/>
            <a:ext cx="5897880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4" y="1133856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CF166"/>
                </a:solidFill>
                <a:latin typeface="Arial"/>
              </a:rPr>
              <a:t>KEY ACTIVITIES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" y="1371600"/>
            <a:ext cx="5897880" cy="3474719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0312" y="1426464"/>
            <a:ext cx="5751576" cy="338327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SIT — System Integration Testing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Purpose: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Verify all integrated components work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together as a complete system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Activities: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Execute SIT test cases (functional)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Integration &amp; end-to-end testing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Performance &amp; load testing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Security / penetration testing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Defect logging, triage &amp; retesting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SIT sign-off by test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097280"/>
            <a:ext cx="5897880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5352" y="1133856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CF166"/>
                </a:solidFill>
                <a:latin typeface="Arial"/>
              </a:rPr>
              <a:t>KEY DOCUMENTS &amp; DELIVERABLES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371600"/>
            <a:ext cx="5897880" cy="3474719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1426464"/>
            <a:ext cx="5751576" cy="338327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UAT — User Acceptance Testing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Purpose: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Business validates the system meets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requirements in a real-world scenario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Activities: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Business executes UAT test scripts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Test against BRD &amp; use cases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Business process walkthroughs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Defect logging &amp; prioritisation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Regression testing for fixes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Formal UAT sign-off by business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" y="4937759"/>
            <a:ext cx="5897880" cy="274320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2024" y="4974335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ENTRY CRITERIA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" y="5212079"/>
            <a:ext cx="5897880" cy="1143000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0312" y="5266943"/>
            <a:ext cx="5751576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Gate 3 passed — Build complete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SIT environment provisioned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Test cases written &amp; reviewed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Test data prepared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937759"/>
            <a:ext cx="5897880" cy="274320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45352" y="4974335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EXIT CRITERIA — Gate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5212079"/>
            <a:ext cx="5897880" cy="1143000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5266943"/>
            <a:ext cx="5751576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SIT completed &amp; signed off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UAT completed &amp; signed off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No open P1 / P2 defects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Performance benchmarks met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Security testing passed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RTM — 100% requirements covered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Phase 5 — Deployment &amp; Go-Live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Arial"/>
              </a:rPr>
              <a:t>Controlled release to production following formal governance and CAB approval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01168"/>
            <a:ext cx="19659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Arial"/>
              </a:rPr>
              <a:t>Waterfall Methodology  |  Industry Standard SDLC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4F2F3"/>
                </a:solidFill>
                <a:latin typeface="Arial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4" y="0"/>
            <a:ext cx="64008" cy="6583680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863072" y="109728"/>
            <a:ext cx="1188720" cy="201168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63072" y="1188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304"/>
                </a:solidFill>
                <a:latin typeface="Arial"/>
              </a:rPr>
              <a:t>Phase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1097280"/>
            <a:ext cx="5897880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4" y="1133856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7176"/>
                </a:solidFill>
                <a:latin typeface="Arial"/>
              </a:rPr>
              <a:t>KEY ACTIVITIES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" y="1371600"/>
            <a:ext cx="5897880" cy="3474719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0312" y="1426464"/>
            <a:ext cx="5751576" cy="24468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Pre-Deployment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CAB submission &amp; approval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Production environment readiness check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RMAN / database backup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Rollback plan documented &amp; approved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Stakeholder communication sent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Scheduler jobs </a:t>
            </a:r>
            <a:r>
              <a:rPr sz="850" b="0" i="0" dirty="0">
                <a:solidFill>
                  <a:srgbClr val="030304"/>
                </a:solidFill>
                <a:latin typeface="Arial"/>
              </a:rPr>
              <a:t>on hold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Cutover Execution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Execute cutover runbook step-by-step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Deploy DB scripts / application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Configuration changes applied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Batch jobs released &amp; verified</a:t>
            </a:r>
          </a:p>
          <a:p>
            <a:pPr algn="l"/>
            <a:endParaRPr sz="850" b="0" i="0" dirty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Post Go-Live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Smoke testing in production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Go-live declaration to stakeholders</a:t>
            </a:r>
          </a:p>
          <a:p>
            <a:pPr algn="l"/>
            <a:r>
              <a:rPr sz="850" b="0" i="0" dirty="0">
                <a:solidFill>
                  <a:srgbClr val="030304"/>
                </a:solidFill>
                <a:latin typeface="Arial"/>
              </a:rPr>
              <a:t>  • Hypercare / ELS period begins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097280"/>
            <a:ext cx="5897880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5352" y="1133856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7176"/>
                </a:solidFill>
                <a:latin typeface="Arial"/>
              </a:rPr>
              <a:t>KEY DOCUMENTS &amp; DELIVERABLES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371600"/>
            <a:ext cx="5897880" cy="3474719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1426464"/>
            <a:ext cx="5751576" cy="338327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CAB Change Request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Formal request for production change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Cutover Runbook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Step-by-step deployment instructions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Rollback Plan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Reversion steps if go-live fails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Production Backup Evidence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RMAN backup confirmation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Deployment Log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Record of all steps executed &amp; outcomes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Go-Live Communication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Stakeholder notification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Smoke Test Results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Release Notes — summary of changes deployed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" y="4937759"/>
            <a:ext cx="5897880" cy="274320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2024" y="4974335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ENTRY CRITERIA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" y="5212079"/>
            <a:ext cx="5897880" cy="1143000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0312" y="5266943"/>
            <a:ext cx="5751576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Gate 4 passed — UAT signed off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CAB approval granted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Production backup taken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Rollback plan approved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937759"/>
            <a:ext cx="5897880" cy="274320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45352" y="4974335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EXIT CRITERIA — Gate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5212079"/>
            <a:ext cx="5897880" cy="1143000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5266943"/>
            <a:ext cx="5751576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All deployment steps completed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Smoke tests passed in production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Batch jobs released &amp; running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No critical production incidents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Stakeholders notified of go-live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Deployment log completed &amp; filed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Phase 6 — ELS, BAU &amp; Project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Arial"/>
              </a:rPr>
              <a:t>Stabilise the system, transition to operations, and formally close the project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01168"/>
            <a:ext cx="19659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Arial"/>
              </a:rPr>
              <a:t>Waterfall Methodology  |  Industry Standard SDLC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4F2F3"/>
                </a:solidFill>
                <a:latin typeface="Arial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4" y="0"/>
            <a:ext cx="64008" cy="6583680"/>
          </a:xfrm>
          <a:prstGeom prst="rect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863072" y="109728"/>
            <a:ext cx="1188720" cy="201168"/>
          </a:xfrm>
          <a:prstGeom prst="rect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63072" y="1188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304"/>
                </a:solidFill>
                <a:latin typeface="Arial"/>
              </a:rPr>
              <a:t>Phase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1097280"/>
            <a:ext cx="5897880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4" y="1133856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8D4D5"/>
                </a:solidFill>
                <a:latin typeface="Arial"/>
              </a:rPr>
              <a:t>KEY ACTIVITIES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" y="1371600"/>
            <a:ext cx="5897880" cy="3474719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0312" y="1426464"/>
            <a:ext cx="5751576" cy="338327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ELS — Early Life Support (Hypercare)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What is ELS?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Heightened support period immediately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after go-live (typically 2-4 weeks)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Activities: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Extended-hours or 24/7 monitoring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Batch job monitoring &amp; verification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Incident triage &amp; rapid response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Performance monitoring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Daily ELS status reports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Critical defect fixes (fast-track CAB)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ELS sign-off when system is stable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097280"/>
            <a:ext cx="5897880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5352" y="1133856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8D4D5"/>
                </a:solidFill>
                <a:latin typeface="Arial"/>
              </a:rPr>
              <a:t>KEY DOCUMENTS &amp; DELIVERABLES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371600"/>
            <a:ext cx="5897880" cy="3474719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1426464"/>
            <a:ext cx="5751576" cy="338327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BAU Handover &amp; Project Closure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BAU Transition: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Knowledge transfer to BAU / ops team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Runbooks &amp; SOPs handed over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Support model defined (L1/L2/L3)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On-call rota established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Monitoring &amp; alerting configured</a:t>
            </a:r>
          </a:p>
          <a:p>
            <a:pPr algn="l"/>
            <a:endParaRPr sz="850" b="0" i="0">
              <a:solidFill>
                <a:srgbClr val="030304"/>
              </a:solidFill>
              <a:latin typeface="Arial"/>
            </a:endParaRP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Post Implementation Review (PIR):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Lessons learned workshop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Benefits realisation assessment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PIR report submitted to PMO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  • Formal project closure sign-off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" y="4937759"/>
            <a:ext cx="5897880" cy="274320"/>
          </a:xfrm>
          <a:prstGeom prst="rect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2024" y="4974335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ENTRY CRITERIA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" y="5212079"/>
            <a:ext cx="5897880" cy="1143000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0312" y="5266943"/>
            <a:ext cx="5751576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Gate 5 passed — Go-live complete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System live in production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Support team briefed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Monitoring tools active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937759"/>
            <a:ext cx="5897880" cy="274320"/>
          </a:xfrm>
          <a:prstGeom prst="rect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45352" y="4974335"/>
            <a:ext cx="578815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EXIT CRITERIA — Gate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5212079"/>
            <a:ext cx="5897880" cy="1143000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5266943"/>
            <a:ext cx="5751576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ELS sign-off obtained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BAU team fully transitioned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PIR report completed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Change request closed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Lessons learned documented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Arial"/>
              </a:rPr>
              <a:t>✔  Sponsor project closure sign-off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Key Documents, Gates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Arial"/>
              </a:rPr>
              <a:t>Summary of deliverables, approval gates and governance bodies across all phases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01168"/>
            <a:ext cx="19659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Arial"/>
              </a:rPr>
              <a:t>Waterfall Methodology  |  Industry Standard SDLC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4F2F3"/>
                </a:solidFill>
                <a:latin typeface="Arial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" y="1097280"/>
            <a:ext cx="11951208" cy="256032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0312" y="1133856"/>
            <a:ext cx="1181404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DE971"/>
                </a:solidFill>
                <a:latin typeface="Arial"/>
              </a:rPr>
              <a:t>KEY DOCUMENTS BY PHASE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" y="1353312"/>
            <a:ext cx="2148840" cy="338328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" y="1408176"/>
            <a:ext cx="2057400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Phase 1 — Requirements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67712" y="1353312"/>
            <a:ext cx="9802368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40864" y="1408176"/>
            <a:ext cx="9692640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30304"/>
                </a:solidFill>
                <a:latin typeface="Arial"/>
              </a:rPr>
              <a:t>BID  •  Project Charter  •  BRD  •  FSD  •  Use Cases  •  RTM  •  Risk Register  •  Project Plan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" y="1691640"/>
            <a:ext cx="2148840" cy="338328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" y="1746504"/>
            <a:ext cx="2057400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Phase 2 —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7712" y="1691640"/>
            <a:ext cx="9802368" cy="338328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40864" y="1746504"/>
            <a:ext cx="9692640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30304"/>
                </a:solidFill>
                <a:latin typeface="Arial"/>
              </a:rPr>
              <a:t>HLD  •  LLD  •  ARB Submission  •  DB Design  •  IDD  •  Security Design  •  Test Strategy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" y="2029968"/>
            <a:ext cx="2148840" cy="33832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" y="2084832"/>
            <a:ext cx="2057400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Phase 3 — Development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67712" y="2029968"/>
            <a:ext cx="9802368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40864" y="2084832"/>
            <a:ext cx="9692640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30304"/>
                </a:solidFill>
                <a:latin typeface="Arial"/>
              </a:rPr>
              <a:t>Source Code  •  Unit Test Results  •  Code Review Records  •  Build Artifacts  •  Deploy Scripts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" y="2368296"/>
            <a:ext cx="2148840" cy="338328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2880" y="2423160"/>
            <a:ext cx="2057400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Phase 4 — Testing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67712" y="2368296"/>
            <a:ext cx="9802368" cy="338328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40864" y="2423160"/>
            <a:ext cx="9692640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30304"/>
                </a:solidFill>
                <a:latin typeface="Arial"/>
              </a:rPr>
              <a:t>SIT Test Plan  •  SIT Results  •  UAT Test Scripts  •  Defect Log  •  UAT Sign-off Certificate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" y="2706624"/>
            <a:ext cx="2148840" cy="338328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2880" y="2761488"/>
            <a:ext cx="2057400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Phase 5 — Deployment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67712" y="2706624"/>
            <a:ext cx="9802368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40864" y="2761488"/>
            <a:ext cx="9692640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30304"/>
                </a:solidFill>
                <a:latin typeface="Arial"/>
              </a:rPr>
              <a:t>CAB Change Request  •  Cutover Runbook  •  Rollback Plan  •  Deployment Log  •  Release Notes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2" y="3044952"/>
            <a:ext cx="2148840" cy="338328"/>
          </a:xfrm>
          <a:prstGeom prst="rect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82880" y="3099816"/>
            <a:ext cx="2057400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Phase 6 — ELS/BAU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67712" y="3044952"/>
            <a:ext cx="9802368" cy="338328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40864" y="3099816"/>
            <a:ext cx="9692640" cy="2651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30304"/>
                </a:solidFill>
                <a:latin typeface="Arial"/>
              </a:rPr>
              <a:t>ELS Status Reports  •  ELS Sign-off  •  BAU Runbooks  •  PIR Report  •  Project Closure Report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8872" y="3511296"/>
            <a:ext cx="11951208" cy="256032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10312" y="3547872"/>
            <a:ext cx="1181404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DE971"/>
                </a:solidFill>
                <a:latin typeface="Arial"/>
              </a:rPr>
              <a:t>GOVERNANCE BODIES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872" y="3822192"/>
            <a:ext cx="2286000" cy="256032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8872" y="384962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304"/>
                </a:solidFill>
                <a:latin typeface="Arial"/>
              </a:rPr>
              <a:t>ARB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8872" y="4078224"/>
            <a:ext cx="2286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73736" y="4096512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Architecture Review Board</a:t>
            </a:r>
          </a:p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Reviews &amp; approves technical architecture before development begins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3822192"/>
            <a:ext cx="2286000" cy="256032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468880" y="384962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304"/>
                </a:solidFill>
                <a:latin typeface="Arial"/>
              </a:rPr>
              <a:t>CAB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68880" y="4078224"/>
            <a:ext cx="2286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523744" y="4096512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Change Advisory Board</a:t>
            </a:r>
          </a:p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Reviews &amp; approves all production changes before deployment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18888" y="3822192"/>
            <a:ext cx="2286000" cy="256032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18888" y="384962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304"/>
                </a:solidFill>
                <a:latin typeface="Arial"/>
              </a:rPr>
              <a:t>PMO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18888" y="4078224"/>
            <a:ext cx="2286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73752" y="4096512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Project Management Office</a:t>
            </a:r>
          </a:p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Oversees project governance, reporting and milestone tracking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68896" y="3822192"/>
            <a:ext cx="2286000" cy="256032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168896" y="384962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304"/>
                </a:solidFill>
                <a:latin typeface="Arial"/>
              </a:rPr>
              <a:t>SC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68896" y="4078224"/>
            <a:ext cx="2286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23760" y="4096512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Steering Committee</a:t>
            </a:r>
          </a:p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Executive oversight, budget approval and escalation resolution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18904" y="3822192"/>
            <a:ext cx="2286000" cy="256032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518904" y="384962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304"/>
                </a:solidFill>
                <a:latin typeface="Arial"/>
              </a:rPr>
              <a:t>CCB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18904" y="4078224"/>
            <a:ext cx="2286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573768" y="4096512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Change Control Board</a:t>
            </a:r>
          </a:p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Manages post-freeze requirement changes and impact assessment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Roles &amp;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Arial"/>
              </a:rPr>
              <a:t>Key stakeholders and their involvement across the Waterfall lifecycle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01168"/>
            <a:ext cx="19659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Arial"/>
              </a:rPr>
              <a:t>Waterfall Methodology  |  Industry Standard SDLC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4F2F3"/>
                </a:solidFill>
                <a:latin typeface="Arial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" y="1115568"/>
            <a:ext cx="1828800" cy="438912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" y="117957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Executive Sponsor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7672" y="1115568"/>
            <a:ext cx="404164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11680" y="1179576"/>
            <a:ext cx="395020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Approves BID &amp; budget, provides strategic direction, resolves escalations, signs off project closure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" y="1554480"/>
            <a:ext cx="1828800" cy="438912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880" y="161848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Project Manager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47672" y="1554480"/>
            <a:ext cx="4041648" cy="438912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11680" y="1618488"/>
            <a:ext cx="395020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Manages plan, budget, risks and issues. Drives phase gates, stakeholder communications and reporting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" y="1993392"/>
            <a:ext cx="1828800" cy="438912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" y="205740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Business Analyst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47672" y="1993392"/>
            <a:ext cx="404164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11680" y="2057400"/>
            <a:ext cx="395020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Leads requirements gathering, produces BRD, FSD, Use Cases, RTM. Supports UAT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" y="2432304"/>
            <a:ext cx="1828800" cy="438912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2880" y="2496312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Solution Architect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47672" y="2432304"/>
            <a:ext cx="4041648" cy="438912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11680" y="2496312"/>
            <a:ext cx="395020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Produces HLD/LLD, presents ARB submission, governs technical design decisions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" y="2871216"/>
            <a:ext cx="1828800" cy="438912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2880" y="2935224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Development Team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2871216"/>
            <a:ext cx="404164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011680" y="2935224"/>
            <a:ext cx="395020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Builds all components per LLD, conducts code reviews, unit testing, prepares deployment artefacts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872" y="3310128"/>
            <a:ext cx="1828800" cy="438912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2880" y="337413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Test Team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3310128"/>
            <a:ext cx="4041648" cy="438912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011680" y="3374136"/>
            <a:ext cx="395020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Writes and executes SIT test cases, manages defect log, signs off SIT completion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115568"/>
            <a:ext cx="1828800" cy="438912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81928" y="117957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Business Users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1115568"/>
            <a:ext cx="404164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10728" y="1179576"/>
            <a:ext cx="395020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Executes UAT test scripts, raises defects, provides formal UAT sign-off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1554480"/>
            <a:ext cx="1828800" cy="438912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81928" y="161848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Security Team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1554480"/>
            <a:ext cx="4041648" cy="438912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10728" y="1618488"/>
            <a:ext cx="395020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Reviews security design, conducts penetration testing, signs off security clearance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1993392"/>
            <a:ext cx="1828800" cy="438912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81928" y="205740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Infrastructure/DBA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1993392"/>
            <a:ext cx="404164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10728" y="2057400"/>
            <a:ext cx="395020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Provisions environments, manages database, supports backup/restore and production deployment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2432304"/>
            <a:ext cx="1828800" cy="438912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81928" y="2496312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Change Manager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2432304"/>
            <a:ext cx="4041648" cy="438912"/>
          </a:xfrm>
          <a:prstGeom prst="rect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10728" y="2496312"/>
            <a:ext cx="395020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Manages change control, coordinates CAB submissions, handles post-freeze change requests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2871216"/>
            <a:ext cx="1828800" cy="438912"/>
          </a:xfrm>
          <a:prstGeom prst="rect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81928" y="2935224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0304"/>
                </a:solidFill>
                <a:latin typeface="Arial"/>
              </a:rPr>
              <a:t>BAU / Support Team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2871216"/>
            <a:ext cx="404164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10728" y="2935224"/>
            <a:ext cx="395020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30304"/>
                </a:solidFill>
                <a:latin typeface="Arial"/>
              </a:rPr>
              <a:t>Participates in ELS, receives knowledge transfer, owns operational support post-handover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2117</Words>
  <Application>Microsoft Office PowerPoint</Application>
  <PresentationFormat>Custom</PresentationFormat>
  <Paragraphs>447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Radhakrishnan Karnakumar</cp:lastModifiedBy>
  <cp:revision>3</cp:revision>
  <dcterms:created xsi:type="dcterms:W3CDTF">2013-01-27T09:14:16Z</dcterms:created>
  <dcterms:modified xsi:type="dcterms:W3CDTF">2026-04-15T09:43:31Z</dcterms:modified>
  <cp:category/>
</cp:coreProperties>
</file>