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63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88952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325880" cy="2743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4416552"/>
            <a:ext cx="1325880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3160" y="446227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4672583"/>
            <a:ext cx="1325880" cy="27432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4718303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928616"/>
            <a:ext cx="1325880" cy="274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497433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5184648"/>
            <a:ext cx="1325880" cy="27432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523036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5440680"/>
            <a:ext cx="1325880" cy="274320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548640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Maintain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WATERFALL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920240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3399FF"/>
                </a:solidFill>
              </a:rPr>
              <a:t>Software Development Life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BAD"/>
                </a:solidFill>
              </a:rPr>
              <a:t>A structured, sequential, phase-gated approach to software 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BAD"/>
                </a:solidFill>
              </a:rPr>
              <a:t>Confidential  |  2026  |  Industry Standard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Waterfall SDLC — Phase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Sequential, phase-gated delivery model — each phase signed off before the next begins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51560"/>
            <a:ext cx="1783080" cy="6400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Planning &amp;
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37744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BID / Feasibility</a:t>
            </a:r>
          </a:p>
          <a:p>
            <a:r>
              <a:rPr sz="900" b="0" i="0">
                <a:solidFill>
                  <a:srgbClr val="333333"/>
                </a:solidFill>
              </a:rPr>
              <a:t>• BRD / Use Cases</a:t>
            </a:r>
          </a:p>
          <a:p>
            <a:r>
              <a:rPr sz="900" b="0" i="0">
                <a:solidFill>
                  <a:srgbClr val="333333"/>
                </a:solidFill>
              </a:rPr>
              <a:t>• Requirements Freeze</a:t>
            </a:r>
          </a:p>
          <a:p>
            <a:r>
              <a:rPr sz="900" b="0" i="0">
                <a:solidFill>
                  <a:srgbClr val="333333"/>
                </a:solidFill>
              </a:rPr>
              <a:t>• RTM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4832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84832" y="1051560"/>
            <a:ext cx="178308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
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37744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HLD / LLD</a:t>
            </a:r>
          </a:p>
          <a:p>
            <a:r>
              <a:rPr sz="900" b="0" i="0">
                <a:solidFill>
                  <a:srgbClr val="333333"/>
                </a:solidFill>
              </a:rPr>
              <a:t>• Architecture</a:t>
            </a:r>
          </a:p>
          <a:p>
            <a:r>
              <a:rPr sz="900" b="0" i="0">
                <a:solidFill>
                  <a:srgbClr val="333333"/>
                </a:solidFill>
              </a:rPr>
              <a:t>• ARB Submission</a:t>
            </a:r>
          </a:p>
          <a:p>
            <a:r>
              <a:rPr sz="900" b="0" i="0">
                <a:solidFill>
                  <a:srgbClr val="333333"/>
                </a:solidFill>
              </a:rPr>
              <a:t>• Test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86784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86784" y="1051560"/>
            <a:ext cx="1783080" cy="64008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78224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Development
&amp;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37744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8224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Coding</a:t>
            </a:r>
          </a:p>
          <a:p>
            <a:r>
              <a:rPr sz="900" b="0" i="0">
                <a:solidFill>
                  <a:srgbClr val="333333"/>
                </a:solidFill>
              </a:rPr>
              <a:t>• Code Review</a:t>
            </a:r>
          </a:p>
          <a:p>
            <a:r>
              <a:rPr sz="900" b="0" i="0">
                <a:solidFill>
                  <a:srgbClr val="333333"/>
                </a:solidFill>
              </a:rPr>
              <a:t>• Unit Testing</a:t>
            </a:r>
          </a:p>
          <a:p>
            <a:r>
              <a:rPr sz="900" b="0" i="0">
                <a:solidFill>
                  <a:srgbClr val="333333"/>
                </a:solidFill>
              </a:rPr>
              <a:t>• Build Artifacts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8736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88736" y="1051560"/>
            <a:ext cx="1783080" cy="6400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0176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6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Testing
SIT &amp; UAT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04" y="237744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0176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SIT / Performance</a:t>
            </a:r>
          </a:p>
          <a:p>
            <a:r>
              <a:rPr sz="900" b="0" i="0">
                <a:solidFill>
                  <a:srgbClr val="333333"/>
                </a:solidFill>
              </a:rPr>
              <a:t>• Security Testing</a:t>
            </a:r>
          </a:p>
          <a:p>
            <a:r>
              <a:rPr sz="900" b="0" i="0">
                <a:solidFill>
                  <a:srgbClr val="333333"/>
                </a:solidFill>
              </a:rPr>
              <a:t>• UAT</a:t>
            </a:r>
          </a:p>
          <a:p>
            <a:r>
              <a:rPr sz="900" b="0" i="0">
                <a:solidFill>
                  <a:srgbClr val="333333"/>
                </a:solidFill>
              </a:rPr>
              <a:t>• UAT Sign-off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0688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90688" y="1051560"/>
            <a:ext cx="1783080" cy="64008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82127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Deployment
&amp; Go-Live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5" y="237744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CAB Approval</a:t>
            </a:r>
          </a:p>
          <a:p>
            <a:r>
              <a:rPr sz="900" b="0" i="0">
                <a:solidFill>
                  <a:srgbClr val="333333"/>
                </a:solidFill>
              </a:rPr>
              <a:t>• Cutover Runbook</a:t>
            </a:r>
          </a:p>
          <a:p>
            <a:r>
              <a:rPr sz="900" b="0" i="0">
                <a:solidFill>
                  <a:srgbClr val="333333"/>
                </a:solidFill>
              </a:rPr>
              <a:t>• Go-Live</a:t>
            </a:r>
          </a:p>
          <a:p>
            <a:r>
              <a:rPr sz="900" b="0" i="0">
                <a:solidFill>
                  <a:srgbClr val="333333"/>
                </a:solidFill>
              </a:rPr>
              <a:t>• Smoke Test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105156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03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92640" y="1051560"/>
            <a:ext cx="1783080" cy="640080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0" y="10698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12801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ELS &amp;
Maintenance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1764792"/>
            <a:ext cx="1600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• Hypercare (ELS)</a:t>
            </a:r>
          </a:p>
          <a:p>
            <a:r>
              <a:rPr sz="900" b="0" i="0">
                <a:solidFill>
                  <a:srgbClr val="333333"/>
                </a:solidFill>
              </a:rPr>
              <a:t>• PIR</a:t>
            </a:r>
          </a:p>
          <a:p>
            <a:r>
              <a:rPr sz="900" b="0" i="0">
                <a:solidFill>
                  <a:srgbClr val="333333"/>
                </a:solidFill>
              </a:rPr>
              <a:t>• BAU Handover</a:t>
            </a:r>
          </a:p>
          <a:p>
            <a:r>
              <a:rPr sz="900" b="0" i="0">
                <a:solidFill>
                  <a:srgbClr val="333333"/>
                </a:solidFill>
              </a:rPr>
              <a:t>• Project Closure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663440"/>
            <a:ext cx="1179576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4700016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2B5C"/>
                </a:solidFill>
              </a:rPr>
              <a:t>Key Principle: Each phase must be fully completed and formally signed off before the next phase begins. Any changes after Requirements Freeze must go through formal Change Control.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5230368"/>
            <a:ext cx="1179576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52669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600"/>
                </a:solidFill>
              </a:rPr>
              <a:t>Gates: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26694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Gate 1: Requirements Sign-off  →  Gate 2: ARB + Design Approval  →  Gate 3: Build Complete  →  Gate 4: SIT Pass + UAT Sign-off  →  Gate 5: CAB Approval (Go-Live)  →  Gate 6: ELS Sign-off + BAU Handover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1 — Planning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Establish project foundation and capture all business needs before design begins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005BB5"/>
                </a:solidFill>
              </a:rPr>
              <a:t>Project Initiation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Business case / BID preparation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Feasibility study (technical, financial, operational)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Project charter &amp; stakeholder identification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Resource planning &amp; cost estimation</a:t>
            </a:r>
          </a:p>
          <a:p>
            <a:r>
              <a:rPr sz="900" b="1" i="0" dirty="0">
                <a:solidFill>
                  <a:srgbClr val="005BB5"/>
                </a:solidFill>
              </a:rPr>
              <a:t>Requirements Gathering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Stakeholder workshops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Business Requirements Document (BRD)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Functional Specification Document (FSD)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Use case definition &amp; documentation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Non-Functional Requirements (NFR)</a:t>
            </a:r>
          </a:p>
          <a:p>
            <a:r>
              <a:rPr sz="900" b="1" i="0" dirty="0">
                <a:solidFill>
                  <a:srgbClr val="005BB5"/>
                </a:solidFill>
              </a:rPr>
              <a:t>Requirements Freeze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Requirements review &amp; walkthrough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Formal sign-off by business stakeholders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Change control activated post-freeze</a:t>
            </a:r>
          </a:p>
          <a:p>
            <a:r>
              <a:rPr sz="900" b="1" i="0" dirty="0">
                <a:solidFill>
                  <a:srgbClr val="005BB5"/>
                </a:solidFill>
              </a:rPr>
              <a:t>Traceability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Requirements Traceability Matrix (RTM) created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Documents &amp;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005BB5"/>
                </a:solidFill>
              </a:rPr>
              <a:t>BID Document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Business case, cost-benefit, ROI analysis</a:t>
            </a:r>
          </a:p>
          <a:p>
            <a:r>
              <a:rPr sz="900" b="1" i="0" dirty="0">
                <a:solidFill>
                  <a:srgbClr val="005BB5"/>
                </a:solidFill>
              </a:rPr>
              <a:t>Project Charter</a:t>
            </a:r>
          </a:p>
          <a:p>
            <a:r>
              <a:rPr sz="900" b="0" i="0" dirty="0">
                <a:solidFill>
                  <a:srgbClr val="333333"/>
                </a:solidFill>
              </a:rPr>
              <a:t>  Scope, objectives, sponsor approval</a:t>
            </a:r>
          </a:p>
          <a:p>
            <a:r>
              <a:rPr sz="900" b="1" i="0" dirty="0">
                <a:solidFill>
                  <a:srgbClr val="005BB5"/>
                </a:solidFill>
              </a:rPr>
              <a:t>BRD (Business Requirements Doc)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Full functional &amp; non-functional requirements</a:t>
            </a:r>
          </a:p>
          <a:p>
            <a:r>
              <a:rPr sz="900" b="1" i="0" dirty="0">
                <a:solidFill>
                  <a:srgbClr val="005BB5"/>
                </a:solidFill>
              </a:rPr>
              <a:t>FSD (Functional Specification Doc)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Detailed functional scenario specifications</a:t>
            </a:r>
          </a:p>
          <a:p>
            <a:r>
              <a:rPr sz="900" b="1" i="0" dirty="0">
                <a:solidFill>
                  <a:srgbClr val="005BB5"/>
                </a:solidFill>
              </a:rPr>
              <a:t>Use Case Document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Actors, flows, pre/post conditions</a:t>
            </a:r>
          </a:p>
          <a:p>
            <a:r>
              <a:rPr sz="900" b="1" i="0" dirty="0">
                <a:solidFill>
                  <a:srgbClr val="005BB5"/>
                </a:solidFill>
              </a:rPr>
              <a:t>RTM (Requirements Traceability Matrix)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Maps requirements to test cases</a:t>
            </a:r>
          </a:p>
          <a:p>
            <a:r>
              <a:rPr sz="900" b="1" i="0" dirty="0">
                <a:solidFill>
                  <a:srgbClr val="005BB5"/>
                </a:solidFill>
              </a:rPr>
              <a:t>Risk Register</a:t>
            </a:r>
          </a:p>
          <a:p>
            <a:r>
              <a:rPr sz="900" b="0" i="0" dirty="0">
                <a:solidFill>
                  <a:srgbClr val="333333"/>
                </a:solidFill>
              </a:rPr>
              <a:t>  Identified risks, likelihood, mitigation</a:t>
            </a:r>
          </a:p>
          <a:p>
            <a:r>
              <a:rPr sz="900" b="1" i="0" dirty="0">
                <a:solidFill>
                  <a:srgbClr val="005BB5"/>
                </a:solidFill>
              </a:rPr>
              <a:t>Project Plan / RACI</a:t>
            </a:r>
          </a:p>
          <a:p>
            <a:r>
              <a:rPr sz="900" b="0" i="0" dirty="0">
                <a:solidFill>
                  <a:srgbClr val="333333"/>
                </a:solidFill>
              </a:rPr>
              <a:t>  Milestones, resources, responsibilities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Business need / opportunity identified</a:t>
            </a:r>
          </a:p>
          <a:p>
            <a:r>
              <a:rPr sz="900" b="0" i="0">
                <a:solidFill>
                  <a:srgbClr val="333333"/>
                </a:solidFill>
              </a:rPr>
              <a:t>  ✔  Executive sponsor assigned</a:t>
            </a:r>
          </a:p>
          <a:p>
            <a:r>
              <a:rPr sz="900" b="0" i="0">
                <a:solidFill>
                  <a:srgbClr val="333333"/>
                </a:solidFill>
              </a:rPr>
              <a:t>  ✔  Initial budget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Key stakeholders identified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BRD &amp; FSD reviewed and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Requirements signed off by business</a:t>
            </a:r>
          </a:p>
          <a:p>
            <a:r>
              <a:rPr sz="900" b="0" i="0">
                <a:solidFill>
                  <a:srgbClr val="333333"/>
                </a:solidFill>
              </a:rPr>
              <a:t>  ✔  RTM baselined</a:t>
            </a:r>
          </a:p>
          <a:p>
            <a:r>
              <a:rPr sz="900" b="0" i="0">
                <a:solidFill>
                  <a:srgbClr val="333333"/>
                </a:solidFill>
              </a:rPr>
              <a:t>  ✔  Project plan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Risks documented and accepted</a:t>
            </a:r>
          </a:p>
          <a:p>
            <a:r>
              <a:rPr sz="900" b="0" i="0">
                <a:solidFill>
                  <a:srgbClr val="333333"/>
                </a:solidFill>
              </a:rPr>
              <a:t>  ✔  Change control process activated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2 —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Translate requirements into technical architecture and detailed design blueprints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8080"/>
                </a:solidFill>
              </a:rPr>
              <a:t>High Level Design (HLD)</a:t>
            </a:r>
          </a:p>
          <a:p>
            <a:r>
              <a:rPr sz="900" b="0" i="0">
                <a:solidFill>
                  <a:srgbClr val="333333"/>
                </a:solidFill>
              </a:rPr>
              <a:t>  • System architecture &amp; component design</a:t>
            </a:r>
          </a:p>
          <a:p>
            <a:r>
              <a:rPr sz="900" b="0" i="0">
                <a:solidFill>
                  <a:srgbClr val="333333"/>
                </a:solidFill>
              </a:rPr>
              <a:t>  • Technology stack selection</a:t>
            </a:r>
          </a:p>
          <a:p>
            <a:r>
              <a:rPr sz="900" b="0" i="0">
                <a:solidFill>
                  <a:srgbClr val="333333"/>
                </a:solidFill>
              </a:rPr>
              <a:t>  • Integration design &amp; data flows</a:t>
            </a:r>
          </a:p>
          <a:p>
            <a:r>
              <a:rPr sz="900" b="0" i="0">
                <a:solidFill>
                  <a:srgbClr val="333333"/>
                </a:solidFill>
              </a:rPr>
              <a:t>  • Infrastructure &amp; hosting design</a:t>
            </a:r>
          </a:p>
          <a:p>
            <a:r>
              <a:rPr sz="900" b="1" i="0">
                <a:solidFill>
                  <a:srgbClr val="008080"/>
                </a:solidFill>
              </a:rPr>
              <a:t>Low Level Design (LLD)</a:t>
            </a:r>
          </a:p>
          <a:p>
            <a:r>
              <a:rPr sz="900" b="0" i="0">
                <a:solidFill>
                  <a:srgbClr val="333333"/>
                </a:solidFill>
              </a:rPr>
              <a:t>  • Database schema design (ERD)</a:t>
            </a:r>
          </a:p>
          <a:p>
            <a:r>
              <a:rPr sz="900" b="0" i="0">
                <a:solidFill>
                  <a:srgbClr val="333333"/>
                </a:solidFill>
              </a:rPr>
              <a:t>  • Module / class level design</a:t>
            </a:r>
          </a:p>
          <a:p>
            <a:r>
              <a:rPr sz="900" b="0" i="0">
                <a:solidFill>
                  <a:srgbClr val="333333"/>
                </a:solidFill>
              </a:rPr>
              <a:t>  • API specifications</a:t>
            </a:r>
          </a:p>
          <a:p>
            <a:r>
              <a:rPr sz="900" b="0" i="0">
                <a:solidFill>
                  <a:srgbClr val="333333"/>
                </a:solidFill>
              </a:rPr>
              <a:t>  • Security design</a:t>
            </a:r>
          </a:p>
          <a:p>
            <a:r>
              <a:rPr sz="900" b="1" i="0">
                <a:solidFill>
                  <a:srgbClr val="008080"/>
                </a:solidFill>
              </a:rPr>
              <a:t>ARB Submission</a:t>
            </a:r>
          </a:p>
          <a:p>
            <a:r>
              <a:rPr sz="900" b="0" i="0">
                <a:solidFill>
                  <a:srgbClr val="333333"/>
                </a:solidFill>
              </a:rPr>
              <a:t>  • Architecture Review Board presentation</a:t>
            </a:r>
          </a:p>
          <a:p>
            <a:r>
              <a:rPr sz="900" b="0" i="0">
                <a:solidFill>
                  <a:srgbClr val="333333"/>
                </a:solidFill>
              </a:rPr>
              <a:t>  • Technical standards compliance check</a:t>
            </a:r>
          </a:p>
          <a:p>
            <a:r>
              <a:rPr sz="900" b="0" i="0">
                <a:solidFill>
                  <a:srgbClr val="333333"/>
                </a:solidFill>
              </a:rPr>
              <a:t>  • Security &amp; risk review</a:t>
            </a:r>
          </a:p>
          <a:p>
            <a:r>
              <a:rPr sz="900" b="0" i="0">
                <a:solidFill>
                  <a:srgbClr val="333333"/>
                </a:solidFill>
              </a:rPr>
              <a:t>  • ARB approval required before build starts</a:t>
            </a:r>
          </a:p>
          <a:p>
            <a:r>
              <a:rPr sz="900" b="1" i="0">
                <a:solidFill>
                  <a:srgbClr val="008080"/>
                </a:solidFill>
              </a:rPr>
              <a:t>Test Strategy</a:t>
            </a:r>
          </a:p>
          <a:p>
            <a:r>
              <a:rPr sz="900" b="0" i="0">
                <a:solidFill>
                  <a:srgbClr val="333333"/>
                </a:solidFill>
              </a:rPr>
              <a:t>  • Overall test approach defined</a:t>
            </a:r>
          </a:p>
          <a:p>
            <a:r>
              <a:rPr sz="900" b="0" i="0">
                <a:solidFill>
                  <a:srgbClr val="333333"/>
                </a:solidFill>
              </a:rPr>
              <a:t>  • Test environments planned &amp; provisioned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Documents &amp;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8080"/>
                </a:solidFill>
              </a:rPr>
              <a:t>HLD Document</a:t>
            </a:r>
          </a:p>
          <a:p>
            <a:r>
              <a:rPr sz="900" b="0" i="0">
                <a:solidFill>
                  <a:srgbClr val="333333"/>
                </a:solidFill>
              </a:rPr>
              <a:t>  Architecture diagrams, component overview</a:t>
            </a:r>
          </a:p>
          <a:p>
            <a:r>
              <a:rPr sz="900" b="1" i="0">
                <a:solidFill>
                  <a:srgbClr val="008080"/>
                </a:solidFill>
              </a:rPr>
              <a:t>LLD Document</a:t>
            </a:r>
          </a:p>
          <a:p>
            <a:r>
              <a:rPr sz="900" b="0" i="0">
                <a:solidFill>
                  <a:srgbClr val="333333"/>
                </a:solidFill>
              </a:rPr>
              <a:t>  Detailed technical specifications</a:t>
            </a:r>
          </a:p>
          <a:p>
            <a:r>
              <a:rPr sz="900" b="1" i="0">
                <a:solidFill>
                  <a:srgbClr val="008080"/>
                </a:solidFill>
              </a:rPr>
              <a:t>ARB Submission Pack</a:t>
            </a:r>
          </a:p>
          <a:p>
            <a:r>
              <a:rPr sz="900" b="0" i="0">
                <a:solidFill>
                  <a:srgbClr val="333333"/>
                </a:solidFill>
              </a:rPr>
              <a:t>  Architecture proposal for governance board</a:t>
            </a:r>
          </a:p>
          <a:p>
            <a:r>
              <a:rPr sz="900" b="1" i="0">
                <a:solidFill>
                  <a:srgbClr val="008080"/>
                </a:solidFill>
              </a:rPr>
              <a:t>Database Design Document</a:t>
            </a:r>
          </a:p>
          <a:p>
            <a:r>
              <a:rPr sz="900" b="0" i="0">
                <a:solidFill>
                  <a:srgbClr val="333333"/>
                </a:solidFill>
              </a:rPr>
              <a:t>  ERD, schema, data dictionary</a:t>
            </a:r>
          </a:p>
          <a:p>
            <a:r>
              <a:rPr sz="900" b="1" i="0">
                <a:solidFill>
                  <a:srgbClr val="008080"/>
                </a:solidFill>
              </a:rPr>
              <a:t>Interface Design Document (IDD)</a:t>
            </a:r>
          </a:p>
          <a:p>
            <a:r>
              <a:rPr sz="900" b="0" i="0">
                <a:solidFill>
                  <a:srgbClr val="333333"/>
                </a:solidFill>
              </a:rPr>
              <a:t>  API specs, integration contracts</a:t>
            </a:r>
          </a:p>
          <a:p>
            <a:r>
              <a:rPr sz="900" b="1" i="0">
                <a:solidFill>
                  <a:srgbClr val="008080"/>
                </a:solidFill>
              </a:rPr>
              <a:t>Security Design Document</a:t>
            </a:r>
          </a:p>
          <a:p>
            <a:r>
              <a:rPr sz="900" b="0" i="0">
                <a:solidFill>
                  <a:srgbClr val="333333"/>
                </a:solidFill>
              </a:rPr>
              <a:t>  Authentication, authorisation, encryption</a:t>
            </a:r>
          </a:p>
          <a:p>
            <a:r>
              <a:rPr sz="900" b="1" i="0">
                <a:solidFill>
                  <a:srgbClr val="008080"/>
                </a:solidFill>
              </a:rPr>
              <a:t>Test Strategy Document</a:t>
            </a:r>
          </a:p>
          <a:p>
            <a:r>
              <a:rPr sz="900" b="0" i="0">
                <a:solidFill>
                  <a:srgbClr val="333333"/>
                </a:solidFill>
              </a:rPr>
              <a:t>  Test scope, approach, environments</a:t>
            </a:r>
          </a:p>
          <a:p>
            <a:r>
              <a:rPr sz="900" b="1" i="0">
                <a:solidFill>
                  <a:srgbClr val="008080"/>
                </a:solidFill>
              </a:rPr>
              <a:t>Updated RTM</a:t>
            </a:r>
          </a:p>
          <a:p>
            <a:r>
              <a:rPr sz="900" b="0" i="0">
                <a:solidFill>
                  <a:srgbClr val="333333"/>
                </a:solidFill>
              </a:rPr>
              <a:t>  Design elements mapped to 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Gate 1 passed — BRD signed off</a:t>
            </a:r>
          </a:p>
          <a:p>
            <a:r>
              <a:rPr sz="900" b="0" i="0">
                <a:solidFill>
                  <a:srgbClr val="333333"/>
                </a:solidFill>
              </a:rPr>
              <a:t>  ✔  RTM baselined</a:t>
            </a:r>
          </a:p>
          <a:p>
            <a:r>
              <a:rPr sz="900" b="0" i="0">
                <a:solidFill>
                  <a:srgbClr val="333333"/>
                </a:solidFill>
              </a:rPr>
              <a:t>  ✔  Architects assigned</a:t>
            </a:r>
          </a:p>
          <a:p>
            <a:r>
              <a:rPr sz="900" b="0" i="0">
                <a:solidFill>
                  <a:srgbClr val="333333"/>
                </a:solidFill>
              </a:rPr>
              <a:t>  ✔  Dev environment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HLD &amp; LLD reviewed and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ARB approval obtained</a:t>
            </a:r>
          </a:p>
          <a:p>
            <a:r>
              <a:rPr sz="900" b="0" i="0">
                <a:solidFill>
                  <a:srgbClr val="333333"/>
                </a:solidFill>
              </a:rPr>
              <a:t>  ✔  Security design signed off</a:t>
            </a:r>
          </a:p>
          <a:p>
            <a:r>
              <a:rPr sz="900" b="0" i="0">
                <a:solidFill>
                  <a:srgbClr val="333333"/>
                </a:solidFill>
              </a:rPr>
              <a:t>  ✔  Test strategy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Test environments provisioned</a:t>
            </a:r>
          </a:p>
          <a:p>
            <a:r>
              <a:rPr sz="900" b="0" i="0">
                <a:solidFill>
                  <a:srgbClr val="333333"/>
                </a:solidFill>
              </a:rPr>
              <a:t>  ✔  RTM updated with design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3 — Development &amp;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Code, review and unit test all components per the approved Low Level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336699"/>
                </a:solidFill>
              </a:rPr>
              <a:t>Development Setup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Version control branching strategy (Git)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Coding standards &amp; conventions defined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CI/CD pipeline setup</a:t>
            </a:r>
          </a:p>
          <a:p>
            <a:r>
              <a:rPr sz="900" b="1" i="0" dirty="0">
                <a:solidFill>
                  <a:srgbClr val="336699"/>
                </a:solidFill>
              </a:rPr>
              <a:t>Build &amp; Code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Feature development per LLD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Database objects (tables, views, procedures)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API &amp; integration development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Configuration &amp; environment setup</a:t>
            </a:r>
          </a:p>
          <a:p>
            <a:r>
              <a:rPr sz="900" b="1" i="0" dirty="0">
                <a:solidFill>
                  <a:srgbClr val="336699"/>
                </a:solidFill>
              </a:rPr>
              <a:t>Code Quality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Peer code review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Static code analysis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Coding standards compliance check</a:t>
            </a:r>
          </a:p>
          <a:p>
            <a:r>
              <a:rPr sz="900" b="1" i="0" dirty="0">
                <a:solidFill>
                  <a:srgbClr val="336699"/>
                </a:solidFill>
              </a:rPr>
              <a:t>Unit Testing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Developer-written unit tests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Test coverage targets met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Bug fixes and re-testing</a:t>
            </a:r>
          </a:p>
          <a:p>
            <a:r>
              <a:rPr sz="900" b="1" i="0" dirty="0">
                <a:solidFill>
                  <a:srgbClr val="336699"/>
                </a:solidFill>
              </a:rPr>
              <a:t>Build Management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Release build packaging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Deployment scripts prepared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Documents &amp;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336699"/>
                </a:solidFill>
              </a:rPr>
              <a:t>Source Code</a:t>
            </a:r>
          </a:p>
          <a:p>
            <a:r>
              <a:rPr sz="900" b="0" i="0">
                <a:solidFill>
                  <a:srgbClr val="333333"/>
                </a:solidFill>
              </a:rPr>
              <a:t>  Version-controlled in Git repository</a:t>
            </a:r>
          </a:p>
          <a:p>
            <a:r>
              <a:rPr sz="900" b="1" i="0">
                <a:solidFill>
                  <a:srgbClr val="336699"/>
                </a:solidFill>
              </a:rPr>
              <a:t>Unit Test Results</a:t>
            </a:r>
          </a:p>
          <a:p>
            <a:r>
              <a:rPr sz="900" b="0" i="0">
                <a:solidFill>
                  <a:srgbClr val="333333"/>
                </a:solidFill>
              </a:rPr>
              <a:t>  Coverage reports, pass/fail logs</a:t>
            </a:r>
          </a:p>
          <a:p>
            <a:r>
              <a:rPr sz="900" b="1" i="0">
                <a:solidFill>
                  <a:srgbClr val="336699"/>
                </a:solidFill>
              </a:rPr>
              <a:t>Code Review Records</a:t>
            </a:r>
          </a:p>
          <a:p>
            <a:r>
              <a:rPr sz="900" b="0" i="0">
                <a:solidFill>
                  <a:srgbClr val="333333"/>
                </a:solidFill>
              </a:rPr>
              <a:t>  Pull requests, review comments</a:t>
            </a:r>
          </a:p>
          <a:p>
            <a:r>
              <a:rPr sz="900" b="1" i="0">
                <a:solidFill>
                  <a:srgbClr val="336699"/>
                </a:solidFill>
              </a:rPr>
              <a:t>Build Artifacts</a:t>
            </a:r>
          </a:p>
          <a:p>
            <a:r>
              <a:rPr sz="900" b="0" i="0">
                <a:solidFill>
                  <a:srgbClr val="333333"/>
                </a:solidFill>
              </a:rPr>
              <a:t>  Compiled binaries, packages, scripts</a:t>
            </a:r>
          </a:p>
          <a:p>
            <a:r>
              <a:rPr sz="900" b="1" i="0">
                <a:solidFill>
                  <a:srgbClr val="336699"/>
                </a:solidFill>
              </a:rPr>
              <a:t>Deployment Scripts</a:t>
            </a:r>
          </a:p>
          <a:p>
            <a:r>
              <a:rPr sz="900" b="0" i="0">
                <a:solidFill>
                  <a:srgbClr val="333333"/>
                </a:solidFill>
              </a:rPr>
              <a:t>  DB migration scripts, config scripts</a:t>
            </a:r>
          </a:p>
          <a:p>
            <a:r>
              <a:rPr sz="900" b="1" i="0">
                <a:solidFill>
                  <a:srgbClr val="336699"/>
                </a:solidFill>
              </a:rPr>
              <a:t>Technical Documentation</a:t>
            </a:r>
          </a:p>
          <a:p>
            <a:r>
              <a:rPr sz="900" b="0" i="0">
                <a:solidFill>
                  <a:srgbClr val="333333"/>
                </a:solidFill>
              </a:rPr>
              <a:t>  Code documentation, README files</a:t>
            </a:r>
          </a:p>
          <a:p>
            <a:r>
              <a:rPr sz="900" b="1" i="0">
                <a:solidFill>
                  <a:srgbClr val="336699"/>
                </a:solidFill>
              </a:rPr>
              <a:t>Updated RTM</a:t>
            </a:r>
          </a:p>
          <a:p>
            <a:r>
              <a:rPr sz="900" b="0" i="0">
                <a:solidFill>
                  <a:srgbClr val="333333"/>
                </a:solidFill>
              </a:rPr>
              <a:t>  Components mapped to requirements</a:t>
            </a:r>
          </a:p>
          <a:p>
            <a:r>
              <a:rPr sz="900" b="1" i="0">
                <a:solidFill>
                  <a:srgbClr val="336699"/>
                </a:solidFill>
              </a:rPr>
              <a:t>Build Release Notes</a:t>
            </a:r>
          </a:p>
          <a:p>
            <a:r>
              <a:rPr sz="900" b="0" i="0">
                <a:solidFill>
                  <a:srgbClr val="333333"/>
                </a:solidFill>
              </a:rPr>
              <a:t>  What has been built, known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Gate 2 passed — Design approved</a:t>
            </a:r>
          </a:p>
          <a:p>
            <a:r>
              <a:rPr sz="900" b="0" i="0">
                <a:solidFill>
                  <a:srgbClr val="333333"/>
                </a:solidFill>
              </a:rPr>
              <a:t>  ✔  ARB approval in place</a:t>
            </a:r>
          </a:p>
          <a:p>
            <a:r>
              <a:rPr sz="900" b="0" i="0">
                <a:solidFill>
                  <a:srgbClr val="333333"/>
                </a:solidFill>
              </a:rPr>
              <a:t>  ✔  Dev environment provisioned</a:t>
            </a:r>
          </a:p>
          <a:p>
            <a:r>
              <a:rPr sz="900" b="0" i="0">
                <a:solidFill>
                  <a:srgbClr val="333333"/>
                </a:solidFill>
              </a:rPr>
              <a:t>  ✔  Development team assigned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All features built per LLD</a:t>
            </a:r>
          </a:p>
          <a:p>
            <a:r>
              <a:rPr sz="900" b="0" i="0">
                <a:solidFill>
                  <a:srgbClr val="333333"/>
                </a:solidFill>
              </a:rPr>
              <a:t>  ✔  Code reviews completed</a:t>
            </a:r>
          </a:p>
          <a:p>
            <a:r>
              <a:rPr sz="900" b="0" i="0">
                <a:solidFill>
                  <a:srgbClr val="333333"/>
                </a:solidFill>
              </a:rPr>
              <a:t>  ✔  Unit tests passed (coverage met)</a:t>
            </a:r>
          </a:p>
          <a:p>
            <a:r>
              <a:rPr sz="900" b="0" i="0">
                <a:solidFill>
                  <a:srgbClr val="333333"/>
                </a:solidFill>
              </a:rPr>
              <a:t>  ✔  No critical/high open defects</a:t>
            </a:r>
          </a:p>
          <a:p>
            <a:r>
              <a:rPr sz="900" b="0" i="0">
                <a:solidFill>
                  <a:srgbClr val="333333"/>
                </a:solidFill>
              </a:rPr>
              <a:t>  ✔  Build artifacts deployable</a:t>
            </a:r>
          </a:p>
          <a:p>
            <a:r>
              <a:rPr sz="900" b="0" i="0">
                <a:solidFill>
                  <a:srgbClr val="333333"/>
                </a:solidFill>
              </a:rPr>
              <a:t>  ✔  SIT environment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4 — Testing (SIT &amp; UAT)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Validate the system against requirements through structured, evidence-based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SIT — System Integration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FF6600"/>
                </a:solidFill>
              </a:rPr>
              <a:t>Purpose</a:t>
            </a:r>
          </a:p>
          <a:p>
            <a:r>
              <a:rPr sz="900" b="0" i="0" dirty="0">
                <a:solidFill>
                  <a:srgbClr val="333333"/>
                </a:solidFill>
              </a:rPr>
              <a:t>  Verify all integrated components work</a:t>
            </a:r>
          </a:p>
          <a:p>
            <a:r>
              <a:rPr sz="900" b="0" i="0" dirty="0">
                <a:solidFill>
                  <a:srgbClr val="333333"/>
                </a:solidFill>
              </a:rPr>
              <a:t>  together as a complete system</a:t>
            </a:r>
          </a:p>
          <a:p>
            <a:r>
              <a:rPr sz="900" b="1" i="0" dirty="0">
                <a:solidFill>
                  <a:srgbClr val="FF6600"/>
                </a:solidFill>
              </a:rPr>
              <a:t>Activities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Execute SIT test cases (functional)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Integration &amp; end-to-end testing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Performance &amp; load testing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Security &amp; penetration testing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Regression testing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Defect logging, triage &amp; fix cycle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Re-testing of resolved defects</a:t>
            </a:r>
          </a:p>
          <a:p>
            <a:r>
              <a:rPr sz="900" b="1" i="0" dirty="0">
                <a:solidFill>
                  <a:srgbClr val="FF6600"/>
                </a:solidFill>
              </a:rPr>
              <a:t>Managed By</a:t>
            </a:r>
          </a:p>
          <a:p>
            <a:r>
              <a:rPr sz="900" b="0" i="0" dirty="0">
                <a:solidFill>
                  <a:srgbClr val="333333"/>
                </a:solidFill>
              </a:rPr>
              <a:t>  Test team</a:t>
            </a:r>
          </a:p>
          <a:p>
            <a:r>
              <a:rPr sz="900" b="1" i="0" dirty="0">
                <a:solidFill>
                  <a:srgbClr val="FF6600"/>
                </a:solidFill>
              </a:rPr>
              <a:t>SIT Sign-off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All P1/P2 defects resolved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Test evidence documented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SIT sign-off by Test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— User Acceptance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6600"/>
                </a:solidFill>
              </a:rPr>
              <a:t>Purpose</a:t>
            </a:r>
          </a:p>
          <a:p>
            <a:r>
              <a:rPr sz="900" b="0" i="0">
                <a:solidFill>
                  <a:srgbClr val="333333"/>
                </a:solidFill>
              </a:rPr>
              <a:t>  Business validates the system meets</a:t>
            </a:r>
          </a:p>
          <a:p>
            <a:r>
              <a:rPr sz="900" b="0" i="0">
                <a:solidFill>
                  <a:srgbClr val="333333"/>
                </a:solidFill>
              </a:rPr>
              <a:t>  requirements in a real-world scenario</a:t>
            </a:r>
          </a:p>
          <a:p>
            <a:r>
              <a:rPr sz="900" b="1" i="0">
                <a:solidFill>
                  <a:srgbClr val="FF6600"/>
                </a:solidFill>
              </a:rPr>
              <a:t>Activities</a:t>
            </a:r>
          </a:p>
          <a:p>
            <a:r>
              <a:rPr sz="900" b="0" i="0">
                <a:solidFill>
                  <a:srgbClr val="333333"/>
                </a:solidFill>
              </a:rPr>
              <a:t>  • Business executes UAT test scripts</a:t>
            </a:r>
          </a:p>
          <a:p>
            <a:r>
              <a:rPr sz="900" b="0" i="0">
                <a:solidFill>
                  <a:srgbClr val="333333"/>
                </a:solidFill>
              </a:rPr>
              <a:t>  • Test against BRD &amp; use cases</a:t>
            </a:r>
          </a:p>
          <a:p>
            <a:r>
              <a:rPr sz="900" b="0" i="0">
                <a:solidFill>
                  <a:srgbClr val="333333"/>
                </a:solidFill>
              </a:rPr>
              <a:t>  • Business process walkthroughs</a:t>
            </a:r>
          </a:p>
          <a:p>
            <a:r>
              <a:rPr sz="900" b="0" i="0">
                <a:solidFill>
                  <a:srgbClr val="333333"/>
                </a:solidFill>
              </a:rPr>
              <a:t>  • Data validation &amp; output verification</a:t>
            </a:r>
          </a:p>
          <a:p>
            <a:r>
              <a:rPr sz="900" b="0" i="0">
                <a:solidFill>
                  <a:srgbClr val="333333"/>
                </a:solidFill>
              </a:rPr>
              <a:t>  • Defect logging &amp; priority assignment</a:t>
            </a:r>
          </a:p>
          <a:p>
            <a:r>
              <a:rPr sz="900" b="0" i="0">
                <a:solidFill>
                  <a:srgbClr val="333333"/>
                </a:solidFill>
              </a:rPr>
              <a:t>  • Fix, re-deploy, re-test cycle</a:t>
            </a:r>
          </a:p>
          <a:p>
            <a:r>
              <a:rPr sz="900" b="0" i="0">
                <a:solidFill>
                  <a:srgbClr val="333333"/>
                </a:solidFill>
              </a:rPr>
              <a:t>  • PAT (Parallel Acceptance Testing)</a:t>
            </a:r>
          </a:p>
          <a:p>
            <a:r>
              <a:rPr sz="900" b="1" i="0">
                <a:solidFill>
                  <a:srgbClr val="FF6600"/>
                </a:solidFill>
              </a:rPr>
              <a:t>Managed By</a:t>
            </a:r>
          </a:p>
          <a:p>
            <a:r>
              <a:rPr sz="900" b="0" i="0">
                <a:solidFill>
                  <a:srgbClr val="333333"/>
                </a:solidFill>
              </a:rPr>
              <a:t>  Business stakeholders / Product Owner</a:t>
            </a:r>
          </a:p>
          <a:p>
            <a:r>
              <a:rPr sz="900" b="1" i="0">
                <a:solidFill>
                  <a:srgbClr val="FF6600"/>
                </a:solidFill>
              </a:rPr>
              <a:t>UAT Sign-off</a:t>
            </a:r>
          </a:p>
          <a:p>
            <a:r>
              <a:rPr sz="900" b="0" i="0">
                <a:solidFill>
                  <a:srgbClr val="333333"/>
                </a:solidFill>
              </a:rPr>
              <a:t>  • Written sign-off from business</a:t>
            </a:r>
          </a:p>
          <a:p>
            <a:r>
              <a:rPr sz="900" b="0" i="0">
                <a:solidFill>
                  <a:srgbClr val="333333"/>
                </a:solidFill>
              </a:rPr>
              <a:t>  • All P1/P2 UAT defects resolved</a:t>
            </a:r>
          </a:p>
          <a:p>
            <a:r>
              <a:rPr sz="900" b="0" i="0">
                <a:solidFill>
                  <a:srgbClr val="333333"/>
                </a:solidFill>
              </a:rPr>
              <a:t>  • Formal UAT completion certificate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Gate 3 passed — Build complete</a:t>
            </a:r>
          </a:p>
          <a:p>
            <a:r>
              <a:rPr sz="900" b="0" i="0">
                <a:solidFill>
                  <a:srgbClr val="333333"/>
                </a:solidFill>
              </a:rPr>
              <a:t>  ✔  SIT environment provisioned</a:t>
            </a:r>
          </a:p>
          <a:p>
            <a:r>
              <a:rPr sz="900" b="0" i="0">
                <a:solidFill>
                  <a:srgbClr val="333333"/>
                </a:solidFill>
              </a:rPr>
              <a:t>  ✔  Test cases written &amp; reviewed</a:t>
            </a:r>
          </a:p>
          <a:p>
            <a:r>
              <a:rPr sz="900" b="0" i="0">
                <a:solidFill>
                  <a:srgbClr val="333333"/>
                </a:solidFill>
              </a:rPr>
              <a:t>  ✔  Test data prepared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SIT completed &amp; signed off</a:t>
            </a:r>
          </a:p>
          <a:p>
            <a:r>
              <a:rPr sz="900" b="0" i="0">
                <a:solidFill>
                  <a:srgbClr val="333333"/>
                </a:solidFill>
              </a:rPr>
              <a:t>  ✔  UAT completed &amp; signed off</a:t>
            </a:r>
          </a:p>
          <a:p>
            <a:r>
              <a:rPr sz="900" b="0" i="0">
                <a:solidFill>
                  <a:srgbClr val="333333"/>
                </a:solidFill>
              </a:rPr>
              <a:t>  ✔  No open P1/P2 defects</a:t>
            </a:r>
          </a:p>
          <a:p>
            <a:r>
              <a:rPr sz="900" b="0" i="0">
                <a:solidFill>
                  <a:srgbClr val="333333"/>
                </a:solidFill>
              </a:rPr>
              <a:t>  ✔  Performance benchmarks met</a:t>
            </a:r>
          </a:p>
          <a:p>
            <a:r>
              <a:rPr sz="900" b="0" i="0">
                <a:solidFill>
                  <a:srgbClr val="333333"/>
                </a:solidFill>
              </a:rPr>
              <a:t>  ✔  Security testing passed</a:t>
            </a:r>
          </a:p>
          <a:p>
            <a:r>
              <a:rPr sz="900" b="0" i="0">
                <a:solidFill>
                  <a:srgbClr val="333333"/>
                </a:solidFill>
              </a:rPr>
              <a:t>  ✔  RTM — 100% requirements 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5 — Deployment &amp;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Controlled release to production following formal governance and CAB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009933"/>
                </a:solidFill>
              </a:rPr>
              <a:t>Pre-Deployment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CAB submission &amp; approval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Production environment readiness check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RMAN / database backup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Rollback plan documented &amp; approved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Stakeholder communication sent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Scheduler / Control-M jobs on hold</a:t>
            </a:r>
          </a:p>
          <a:p>
            <a:r>
              <a:rPr sz="900" b="1" i="0" dirty="0">
                <a:solidFill>
                  <a:srgbClr val="009933"/>
                </a:solidFill>
              </a:rPr>
              <a:t>Cutover Execution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Execute cutover runbook step-by-step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Deploy DB objects &amp; scripts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Deploy application components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Configure integrations &amp; file transfers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Verify each step before proceeding</a:t>
            </a:r>
          </a:p>
          <a:p>
            <a:r>
              <a:rPr sz="900" b="1" i="0" dirty="0">
                <a:solidFill>
                  <a:srgbClr val="009933"/>
                </a:solidFill>
              </a:rPr>
              <a:t>Go-Live Verification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Smoke test in production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End-to-end sanity check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Checkpoint email to stakeholders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Release batch/scheduler jobs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Documents &amp;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9933"/>
                </a:solidFill>
              </a:rPr>
              <a:t>CAB Change Request</a:t>
            </a:r>
          </a:p>
          <a:p>
            <a:r>
              <a:rPr sz="900" b="0" i="0">
                <a:solidFill>
                  <a:srgbClr val="333333"/>
                </a:solidFill>
              </a:rPr>
              <a:t>  Formal request for production change</a:t>
            </a:r>
          </a:p>
          <a:p>
            <a:r>
              <a:rPr sz="900" b="1" i="0">
                <a:solidFill>
                  <a:srgbClr val="009933"/>
                </a:solidFill>
              </a:rPr>
              <a:t>Cutover Runbook</a:t>
            </a:r>
          </a:p>
          <a:p>
            <a:r>
              <a:rPr sz="900" b="0" i="0">
                <a:solidFill>
                  <a:srgbClr val="333333"/>
                </a:solidFill>
              </a:rPr>
              <a:t>  Step-by-step deployment instructions</a:t>
            </a:r>
          </a:p>
          <a:p>
            <a:r>
              <a:rPr sz="900" b="1" i="0">
                <a:solidFill>
                  <a:srgbClr val="009933"/>
                </a:solidFill>
              </a:rPr>
              <a:t>Rollback Plan</a:t>
            </a:r>
          </a:p>
          <a:p>
            <a:r>
              <a:rPr sz="900" b="0" i="0">
                <a:solidFill>
                  <a:srgbClr val="333333"/>
                </a:solidFill>
              </a:rPr>
              <a:t>  Reversion steps if go-live fails</a:t>
            </a:r>
          </a:p>
          <a:p>
            <a:r>
              <a:rPr sz="900" b="1" i="0">
                <a:solidFill>
                  <a:srgbClr val="009933"/>
                </a:solidFill>
              </a:rPr>
              <a:t>Production Backup Evidence</a:t>
            </a:r>
          </a:p>
          <a:p>
            <a:r>
              <a:rPr sz="900" b="0" i="0">
                <a:solidFill>
                  <a:srgbClr val="333333"/>
                </a:solidFill>
              </a:rPr>
              <a:t>  RMAN backup confirmation</a:t>
            </a:r>
          </a:p>
          <a:p>
            <a:r>
              <a:rPr sz="900" b="1" i="0">
                <a:solidFill>
                  <a:srgbClr val="009933"/>
                </a:solidFill>
              </a:rPr>
              <a:t>Deployment Log</a:t>
            </a:r>
          </a:p>
          <a:p>
            <a:r>
              <a:rPr sz="900" b="0" i="0">
                <a:solidFill>
                  <a:srgbClr val="333333"/>
                </a:solidFill>
              </a:rPr>
              <a:t>  Record of all steps executed &amp; outcomes</a:t>
            </a:r>
          </a:p>
          <a:p>
            <a:r>
              <a:rPr sz="900" b="1" i="0">
                <a:solidFill>
                  <a:srgbClr val="009933"/>
                </a:solidFill>
              </a:rPr>
              <a:t>Go-Live Communication</a:t>
            </a:r>
          </a:p>
          <a:p>
            <a:r>
              <a:rPr sz="900" b="0" i="0">
                <a:solidFill>
                  <a:srgbClr val="333333"/>
                </a:solidFill>
              </a:rPr>
              <a:t>  Stakeholder notification emails</a:t>
            </a:r>
          </a:p>
          <a:p>
            <a:r>
              <a:rPr sz="900" b="1" i="0">
                <a:solidFill>
                  <a:srgbClr val="009933"/>
                </a:solidFill>
              </a:rPr>
              <a:t>Smoke Test Results</a:t>
            </a:r>
          </a:p>
          <a:p>
            <a:r>
              <a:rPr sz="900" b="0" i="0">
                <a:solidFill>
                  <a:srgbClr val="333333"/>
                </a:solidFill>
              </a:rPr>
              <a:t>  Production verification evidence</a:t>
            </a:r>
          </a:p>
          <a:p>
            <a:r>
              <a:rPr sz="900" b="1" i="0">
                <a:solidFill>
                  <a:srgbClr val="009933"/>
                </a:solidFill>
              </a:rPr>
              <a:t>Release Notes</a:t>
            </a:r>
          </a:p>
          <a:p>
            <a:r>
              <a:rPr sz="900" b="0" i="0">
                <a:solidFill>
                  <a:srgbClr val="333333"/>
                </a:solidFill>
              </a:rPr>
              <a:t>  What was deployed &amp; known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Gate 4 passed — UAT signed off</a:t>
            </a:r>
          </a:p>
          <a:p>
            <a:r>
              <a:rPr sz="900" b="0" i="0">
                <a:solidFill>
                  <a:srgbClr val="333333"/>
                </a:solidFill>
              </a:rPr>
              <a:t>  ✔  CAB approval granted</a:t>
            </a:r>
          </a:p>
          <a:p>
            <a:r>
              <a:rPr sz="900" b="0" i="0">
                <a:solidFill>
                  <a:srgbClr val="333333"/>
                </a:solidFill>
              </a:rPr>
              <a:t>  ✔  Production backup taken</a:t>
            </a:r>
          </a:p>
          <a:p>
            <a:r>
              <a:rPr sz="900" b="0" i="0">
                <a:solidFill>
                  <a:srgbClr val="333333"/>
                </a:solidFill>
              </a:rPr>
              <a:t>  ✔  Rollback plan approved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All deployment steps completed</a:t>
            </a:r>
          </a:p>
          <a:p>
            <a:r>
              <a:rPr sz="900" b="0" i="0">
                <a:solidFill>
                  <a:srgbClr val="333333"/>
                </a:solidFill>
              </a:rPr>
              <a:t>  ✔  Smoke tests passed in production</a:t>
            </a:r>
          </a:p>
          <a:p>
            <a:r>
              <a:rPr sz="900" b="0" i="0">
                <a:solidFill>
                  <a:srgbClr val="333333"/>
                </a:solidFill>
              </a:rPr>
              <a:t>  ✔  Batch jobs released &amp; running</a:t>
            </a:r>
          </a:p>
          <a:p>
            <a:r>
              <a:rPr sz="900" b="0" i="0">
                <a:solidFill>
                  <a:srgbClr val="333333"/>
                </a:solidFill>
              </a:rPr>
              <a:t>  ✔  No critical production incidents</a:t>
            </a:r>
          </a:p>
          <a:p>
            <a:r>
              <a:rPr sz="900" b="0" i="0">
                <a:solidFill>
                  <a:srgbClr val="333333"/>
                </a:solidFill>
              </a:rPr>
              <a:t>  ✔  Stakeholders notified of go-live</a:t>
            </a:r>
          </a:p>
          <a:p>
            <a:r>
              <a:rPr sz="900" b="0" i="0">
                <a:solidFill>
                  <a:srgbClr val="333333"/>
                </a:solidFill>
              </a:rPr>
              <a:t>  ✔  Deployment log completed &amp; filed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6 — ELS, BAU &amp; Project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Stabilise the system, transition to operations, and formally close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320040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ELS — Early Life Support (Hypercare)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03099"/>
                </a:solidFill>
              </a:rPr>
              <a:t>What is ELS?</a:t>
            </a:r>
          </a:p>
          <a:p>
            <a:r>
              <a:rPr sz="900" b="0" i="0">
                <a:solidFill>
                  <a:srgbClr val="333333"/>
                </a:solidFill>
              </a:rPr>
              <a:t>  Heightened support period immediately</a:t>
            </a:r>
          </a:p>
          <a:p>
            <a:r>
              <a:rPr sz="900" b="0" i="0">
                <a:solidFill>
                  <a:srgbClr val="333333"/>
                </a:solidFill>
              </a:rPr>
              <a:t>  after go-live (typically 2–4 weeks)</a:t>
            </a:r>
          </a:p>
          <a:p>
            <a:r>
              <a:rPr sz="900" b="1" i="0">
                <a:solidFill>
                  <a:srgbClr val="603099"/>
                </a:solidFill>
              </a:rPr>
              <a:t>Activities</a:t>
            </a:r>
          </a:p>
          <a:p>
            <a:r>
              <a:rPr sz="900" b="0" i="0">
                <a:solidFill>
                  <a:srgbClr val="333333"/>
                </a:solidFill>
              </a:rPr>
              <a:t>  • Extended-hours or 24/7 monitoring</a:t>
            </a:r>
          </a:p>
          <a:p>
            <a:r>
              <a:rPr sz="900" b="0" i="0">
                <a:solidFill>
                  <a:srgbClr val="333333"/>
                </a:solidFill>
              </a:rPr>
              <a:t>  • Batch job monitoring &amp; verification</a:t>
            </a:r>
          </a:p>
          <a:p>
            <a:r>
              <a:rPr sz="900" b="0" i="0">
                <a:solidFill>
                  <a:srgbClr val="333333"/>
                </a:solidFill>
              </a:rPr>
              <a:t>  • Incident triage &amp; rapid response</a:t>
            </a:r>
          </a:p>
          <a:p>
            <a:r>
              <a:rPr sz="900" b="0" i="0">
                <a:solidFill>
                  <a:srgbClr val="333333"/>
                </a:solidFill>
              </a:rPr>
              <a:t>  • Performance monitoring</a:t>
            </a:r>
          </a:p>
          <a:p>
            <a:r>
              <a:rPr sz="900" b="0" i="0">
                <a:solidFill>
                  <a:srgbClr val="333333"/>
                </a:solidFill>
              </a:rPr>
              <a:t>  • Daily ELS status reports to stakeholders</a:t>
            </a:r>
          </a:p>
          <a:p>
            <a:r>
              <a:rPr sz="900" b="0" i="0">
                <a:solidFill>
                  <a:srgbClr val="333333"/>
                </a:solidFill>
              </a:rPr>
              <a:t>  • Critical defect resolution</a:t>
            </a:r>
          </a:p>
          <a:p>
            <a:r>
              <a:rPr sz="900" b="0" i="0">
                <a:solidFill>
                  <a:srgbClr val="333333"/>
                </a:solidFill>
              </a:rPr>
              <a:t>  • End-user support &amp; guidance</a:t>
            </a:r>
          </a:p>
          <a:p>
            <a:r>
              <a:rPr sz="900" b="1" i="0">
                <a:solidFill>
                  <a:srgbClr val="603099"/>
                </a:solidFill>
              </a:rPr>
              <a:t>ELS Exit Criteria</a:t>
            </a:r>
          </a:p>
          <a:p>
            <a:r>
              <a:rPr sz="900" b="0" i="0">
                <a:solidFill>
                  <a:srgbClr val="333333"/>
                </a:solidFill>
              </a:rPr>
              <a:t>  • System stable for agreed ELS period</a:t>
            </a:r>
          </a:p>
          <a:p>
            <a:r>
              <a:rPr sz="900" b="0" i="0">
                <a:solidFill>
                  <a:srgbClr val="333333"/>
                </a:solidFill>
              </a:rPr>
              <a:t>  • No open P1/P2 incidents</a:t>
            </a:r>
          </a:p>
          <a:p>
            <a:r>
              <a:rPr sz="900" b="0" i="0">
                <a:solidFill>
                  <a:srgbClr val="333333"/>
                </a:solidFill>
              </a:rPr>
              <a:t>  • All batch runs completed successfully</a:t>
            </a:r>
          </a:p>
          <a:p>
            <a:r>
              <a:rPr sz="900" b="0" i="0">
                <a:solidFill>
                  <a:srgbClr val="333333"/>
                </a:solidFill>
              </a:rPr>
              <a:t>  • Formal ELS sign-off obtained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749039" cy="320040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03327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BAU Handover &amp; Project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603099"/>
                </a:solidFill>
              </a:rPr>
              <a:t>BAU Transition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Knowledge transfer to BAU / ops team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Runbooks &amp; SOPs handed over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Support model defined (L1/L2/L3)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On-call </a:t>
            </a:r>
            <a:r>
              <a:rPr sz="900" b="0" i="0" dirty="0" err="1">
                <a:solidFill>
                  <a:srgbClr val="333333"/>
                </a:solidFill>
              </a:rPr>
              <a:t>rota</a:t>
            </a:r>
            <a:r>
              <a:rPr sz="900" b="0" i="0" dirty="0">
                <a:solidFill>
                  <a:srgbClr val="333333"/>
                </a:solidFill>
              </a:rPr>
              <a:t> established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Monitoring &amp; alerting configured</a:t>
            </a:r>
          </a:p>
          <a:p>
            <a:r>
              <a:rPr sz="900" b="1" i="0" dirty="0">
                <a:solidFill>
                  <a:srgbClr val="603099"/>
                </a:solidFill>
              </a:rPr>
              <a:t>Post Implementation Review (PIR)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Lessons learned workshop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Benefits </a:t>
            </a:r>
            <a:r>
              <a:rPr sz="900" b="0" i="0" dirty="0" err="1">
                <a:solidFill>
                  <a:srgbClr val="333333"/>
                </a:solidFill>
              </a:rPr>
              <a:t>realisation</a:t>
            </a:r>
            <a:r>
              <a:rPr sz="900" b="0" i="0" dirty="0">
                <a:solidFill>
                  <a:srgbClr val="333333"/>
                </a:solidFill>
              </a:rPr>
              <a:t> assessment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PIR report produced &amp; distributed</a:t>
            </a:r>
          </a:p>
          <a:p>
            <a:r>
              <a:rPr sz="900" b="1" i="0" dirty="0">
                <a:solidFill>
                  <a:srgbClr val="603099"/>
                </a:solidFill>
              </a:rPr>
              <a:t>Project Closure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Change request formally closed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Budget reconciliation completed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Resources released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Final project report produced</a:t>
            </a:r>
          </a:p>
          <a:p>
            <a:r>
              <a:rPr sz="900" b="0" i="0" dirty="0">
                <a:solidFill>
                  <a:srgbClr val="333333"/>
                </a:solidFill>
              </a:rPr>
              <a:t>  • Sponsor sign-off on project closure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8679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Gate 5 passed — Go-live complete</a:t>
            </a:r>
          </a:p>
          <a:p>
            <a:r>
              <a:rPr sz="900" b="0" i="0">
                <a:solidFill>
                  <a:srgbClr val="333333"/>
                </a:solidFill>
              </a:rPr>
              <a:t>  ✔  System live in production</a:t>
            </a:r>
          </a:p>
          <a:p>
            <a:r>
              <a:rPr sz="900" b="0" i="0">
                <a:solidFill>
                  <a:srgbClr val="333333"/>
                </a:solidFill>
              </a:rPr>
              <a:t>  ✔  Support team briefed</a:t>
            </a:r>
          </a:p>
          <a:p>
            <a:r>
              <a:rPr sz="900" b="0" i="0">
                <a:solidFill>
                  <a:srgbClr val="333333"/>
                </a:solidFill>
              </a:rPr>
              <a:t>  ✔  Monitoring tools 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520440"/>
            <a:ext cx="3867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520440"/>
            <a:ext cx="386791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5478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Exit Criteria — Gate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4487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33333"/>
                </a:solidFill>
              </a:rPr>
              <a:t>  ✔  ELS sign-off obtained</a:t>
            </a:r>
          </a:p>
          <a:p>
            <a:r>
              <a:rPr sz="900" b="0" i="0">
                <a:solidFill>
                  <a:srgbClr val="333333"/>
                </a:solidFill>
              </a:rPr>
              <a:t>  ✔  BAU team fully transitioned</a:t>
            </a:r>
          </a:p>
          <a:p>
            <a:r>
              <a:rPr sz="900" b="0" i="0">
                <a:solidFill>
                  <a:srgbClr val="333333"/>
                </a:solidFill>
              </a:rPr>
              <a:t>  ✔  PIR report completed</a:t>
            </a:r>
          </a:p>
          <a:p>
            <a:r>
              <a:rPr sz="900" b="0" i="0">
                <a:solidFill>
                  <a:srgbClr val="333333"/>
                </a:solidFill>
              </a:rPr>
              <a:t>  ✔  Change request closed</a:t>
            </a:r>
          </a:p>
          <a:p>
            <a:r>
              <a:rPr sz="900" b="0" i="0">
                <a:solidFill>
                  <a:srgbClr val="333333"/>
                </a:solidFill>
              </a:rPr>
              <a:t>  ✔  Lessons learned documented</a:t>
            </a:r>
          </a:p>
          <a:p>
            <a:r>
              <a:rPr sz="900" b="0" i="0">
                <a:solidFill>
                  <a:srgbClr val="333333"/>
                </a:solidFill>
              </a:rPr>
              <a:t>  ✔  Sponsor project closure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Documents, Gates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Summary of deliverables, approval gates and governance bodies across all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7772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77724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33271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Documents by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89888"/>
            <a:ext cx="2011680" cy="5943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4813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1 —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389888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31720" y="151790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BID  •  Project Charter  •  BRD  •  FSD  •  Use Cases  •  RTM  •  Risk Register  •  Project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048256"/>
            <a:ext cx="20116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1396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2 —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2048256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31720" y="21762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HLD  •  LLD  •  ARB Submission  •  DB Design  •  IDD  •  Security Design  •  Test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706624"/>
            <a:ext cx="2011680" cy="59436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7980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3 —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2706624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283464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Source Code  •  Unit Test Results  •  Code Review Records  •  Build Artifacts  •  Deploy Scripts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364992"/>
            <a:ext cx="2011680" cy="5943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456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4 —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3364992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31720" y="34930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SIT Test Plan  •  SIT Results  •  UAT Test Scripts  •  Defect Log  •  UAT Sign-off Certificate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023360"/>
            <a:ext cx="2011680" cy="59436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5 —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4023360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20" y="415137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CAB Change Request  •  Cutover Runbook  •  Rollback Plan  •  Deployment Log  •  Release Notes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681727"/>
            <a:ext cx="2011680" cy="594360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77316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6 — ELS/BAU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681727"/>
            <a:ext cx="57607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31720" y="4809743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ELS Status Reports  •  ELS Sign-off  •  BAU Runbooks  •  PIR Report  •  Project Closure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005840"/>
            <a:ext cx="3867912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1005840"/>
            <a:ext cx="386791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79" y="103327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Governance Bodies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1389888"/>
            <a:ext cx="3867912" cy="868680"/>
          </a:xfrm>
          <a:prstGeom prst="rect">
            <a:avLst/>
          </a:prstGeom>
          <a:solidFill>
            <a:srgbClr val="F8F9FA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2440" y="1389888"/>
            <a:ext cx="73152" cy="86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142646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600"/>
                </a:solidFill>
              </a:rPr>
              <a:t>ARB — Architecture Review 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700784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Reviews &amp; approves technical architecture
before development begins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2322576"/>
            <a:ext cx="3867912" cy="868680"/>
          </a:xfrm>
          <a:prstGeom prst="rect">
            <a:avLst/>
          </a:prstGeom>
          <a:solidFill>
            <a:srgbClr val="F8F9FA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92440" y="2322576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0" y="235915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</a:rPr>
              <a:t>CAB — Change Advisory 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633472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Reviews &amp; approves all production
changes before 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3255264"/>
            <a:ext cx="3867912" cy="8686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92440" y="3255264"/>
            <a:ext cx="73152" cy="8686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0" y="329184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BB5"/>
                </a:solidFill>
              </a:rPr>
              <a:t>PMO — Project Management Office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3566160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Oversees project governance, reporting
and milestone tracking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4187952"/>
            <a:ext cx="3867912" cy="8686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92440" y="4187952"/>
            <a:ext cx="731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0" y="422452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080"/>
                </a:solidFill>
              </a:rPr>
              <a:t>Steering Committee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498848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Executive oversight, budget approval
and escalation resolution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5120640"/>
            <a:ext cx="3867912" cy="8686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92440" y="5120640"/>
            <a:ext cx="73152" cy="86868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515721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933"/>
                </a:solidFill>
              </a:rPr>
              <a:t>Change Control 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4315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Manages post-freeze requirement changes
and impact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99FF"/>
                </a:solidFill>
              </a:rPr>
              <a:t>Key stakeholders and their involvement across the Waterfall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Waterfall Methodology  |  Industry Standard SDLC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93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0584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05840"/>
            <a:ext cx="3749039" cy="29260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04241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Executive 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5331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Approves BID &amp; budget, provides strategic direction, resolves escalations, signs off project closure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0" y="1005840"/>
            <a:ext cx="3749039" cy="29260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04241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Project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35331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Manages plan, budget, risks and issues. Drives phase gates, stakeholder communications and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00584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19" y="1005840"/>
            <a:ext cx="3749039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59" y="104241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Business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135331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Leads requirements gathering, produces BRD, FSD, Use Cases, RTM. Supports UAT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33172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" y="2331720"/>
            <a:ext cx="3749039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236829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Solution Architect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679191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Produces HLD/LLD, presents ARB submission, governs technical design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33172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0" y="2331720"/>
            <a:ext cx="3749039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0" y="236829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Development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679191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Builds all components per LLD, conducts code reviews, unit testing, prepares deployment artefacts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233172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19" y="2331720"/>
            <a:ext cx="3749039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59" y="236829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</a:rPr>
              <a:t>Test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2679191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Writes and executes SIT test cases, manages defect log, signs off SIT completion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65760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82880" y="3657600"/>
            <a:ext cx="3749039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369417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Business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00507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Executes UAT test scripts, raises defects, provides formal UAT sign-off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65760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0" y="3657600"/>
            <a:ext cx="3749039" cy="292608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6240" y="369417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Security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00507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Reviews security design, conducts penetration testing, signs off security clearance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3657600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46719" y="3657600"/>
            <a:ext cx="3749039" cy="292608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9" y="3694176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Infrastructure / DBA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9" y="4005072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Provisions environments, manages database, supports backup/restore and production deployment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983479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2880" y="4983479"/>
            <a:ext cx="3749039" cy="292608"/>
          </a:xfrm>
          <a:prstGeom prst="rect">
            <a:avLst/>
          </a:prstGeom>
          <a:solidFill>
            <a:srgbClr val="60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" y="5020055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Change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330951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Manages change control, coordinates CAB submissions, handles post-freeze change requests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4983479"/>
            <a:ext cx="37490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14800" y="4983479"/>
            <a:ext cx="3749039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06240" y="5020055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BAU / Support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5330951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Participates in ELS, receives knowledge transfer, owns operational support post-handover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2355</Words>
  <Application>Microsoft Office PowerPoint</Application>
  <PresentationFormat>Custom</PresentationFormat>
  <Paragraphs>423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Kabilesh RADHAKRISHNAN (Student)</cp:lastModifiedBy>
  <cp:revision>3</cp:revision>
  <dcterms:created xsi:type="dcterms:W3CDTF">2013-01-27T09:14:16Z</dcterms:created>
  <dcterms:modified xsi:type="dcterms:W3CDTF">2026-04-01T09:31:34Z</dcterms:modified>
  <cp:category/>
</cp:coreProperties>
</file>