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UTILITICS — Azure Databricks Data Sharing Platform  |  Part 1 Complete + Part 2 Azure In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7C948"/>
                </a:solidFill>
              </a:rPr>
              <a:t>Part 1 DONE  |  Part 2 IN 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685800"/>
            <a:ext cx="2834640" cy="196596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685800"/>
            <a:ext cx="2834640" cy="2743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7040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① DATA SOURCES  (3 formats)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987552"/>
            <a:ext cx="2743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58A6FF"/>
                </a:solidFill>
              </a:rPr>
              <a:t>Time Series (CSV file drops)</a:t>
            </a:r>
          </a:p>
          <a:p>
            <a:r>
              <a:rPr sz="800" b="0" i="0">
                <a:solidFill>
                  <a:srgbClr val="C9D1D9"/>
                </a:solidFill>
              </a:rPr>
              <a:t>  500 meters x 7 days x 48 readings</a:t>
            </a:r>
          </a:p>
          <a:p>
            <a:r>
              <a:rPr sz="800" b="0" i="0">
                <a:solidFill>
                  <a:srgbClr val="C9D1D9"/>
                </a:solidFill>
              </a:rPr>
              <a:t>  168,000 records  |  data/lake/sources/timeseries_csv/</a:t>
            </a:r>
          </a:p>
          <a:p>
            <a:r>
              <a:rPr sz="800" b="0" i="0">
                <a:solidFill>
                  <a:srgbClr val="C9D1D9"/>
                </a:solidFill>
              </a:rPr>
              <a:t/>
            </a:r>
          </a:p>
          <a:p>
            <a:r>
              <a:rPr sz="800" b="1" i="0">
                <a:solidFill>
                  <a:srgbClr val="58A6FF"/>
                </a:solidFill>
              </a:rPr>
              <a:t>Network Asset Snapshot (SQLite)</a:t>
            </a:r>
          </a:p>
          <a:p>
            <a:r>
              <a:rPr sz="800" b="0" i="0">
                <a:solidFill>
                  <a:srgbClr val="C9D1D9"/>
                </a:solidFill>
              </a:rPr>
              <a:t>  2,000 assets x 7 snapshots</a:t>
            </a:r>
          </a:p>
          <a:p>
            <a:r>
              <a:rPr sz="800" b="0" i="0">
                <a:solidFill>
                  <a:srgbClr val="C9D1D9"/>
                </a:solidFill>
              </a:rPr>
              <a:t>  14,000 records  |  data/lake/sources/assets.db</a:t>
            </a:r>
          </a:p>
          <a:p>
            <a:r>
              <a:rPr sz="800" b="0" i="0">
                <a:solidFill>
                  <a:srgbClr val="C9D1D9"/>
                </a:solidFill>
              </a:rPr>
              <a:t>  JDBC read in bronze  (org.xerial:sqlite-jdbc)</a:t>
            </a:r>
          </a:p>
          <a:p>
            <a:r>
              <a:rPr sz="800" b="0" i="0">
                <a:solidFill>
                  <a:srgbClr val="C9D1D9"/>
                </a:solidFill>
              </a:rPr>
              <a:t/>
            </a:r>
          </a:p>
          <a:p>
            <a:r>
              <a:rPr sz="800" b="1" i="0">
                <a:solidFill>
                  <a:srgbClr val="58A6FF"/>
                </a:solidFill>
              </a:rPr>
              <a:t>Demand Forecasts (Parquet)</a:t>
            </a:r>
          </a:p>
          <a:p>
            <a:r>
              <a:rPr sz="800" b="0" i="0">
                <a:solidFill>
                  <a:srgbClr val="C9D1D9"/>
                </a:solidFill>
              </a:rPr>
              <a:t>  500 forecasts x 168 hourly points</a:t>
            </a:r>
          </a:p>
          <a:p>
            <a:r>
              <a:rPr sz="800" b="0" i="0">
                <a:solidFill>
                  <a:srgbClr val="C9D1D9"/>
                </a:solidFill>
              </a:rPr>
              <a:t>  84,000 records  |  data/lake/sources/files_parquet/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685800"/>
            <a:ext cx="4663440" cy="196596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685800"/>
            <a:ext cx="4663440" cy="2743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704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② MEDALLION PIPELINE  (PySpark 3.5.1 + Delta Lake 3.1.0)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987552"/>
            <a:ext cx="4526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F7C948"/>
                </a:solidFill>
              </a:rPr>
              <a:t>01  Generate Data</a:t>
            </a:r>
          </a:p>
          <a:p>
            <a:r>
              <a:rPr sz="800" b="0" i="0">
                <a:solidFill>
                  <a:srgbClr val="C9D1D9"/>
                </a:solidFill>
              </a:rPr>
              <a:t>    Synthetic meter + asset + forecast  -&gt;  266K records (CSV/SQLite/Parquet)</a:t>
            </a:r>
          </a:p>
          <a:p>
            <a:r>
              <a:rPr sz="800" b="1" i="0">
                <a:solidFill>
                  <a:srgbClr val="F7C948"/>
                </a:solidFill>
              </a:rPr>
              <a:t>02  Bronze Ingestion</a:t>
            </a:r>
          </a:p>
          <a:p>
            <a:r>
              <a:rPr sz="800" b="0" i="0">
                <a:solidFill>
                  <a:srgbClr val="C9D1D9"/>
                </a:solidFill>
              </a:rPr>
              <a:t>    Raw -&gt; Bronze Delta  |  168K + 14K + 84K  |  Match: 100%</a:t>
            </a:r>
          </a:p>
          <a:p>
            <a:r>
              <a:rPr sz="800" b="1" i="0">
                <a:solidFill>
                  <a:srgbClr val="F7C948"/>
                </a:solidFill>
              </a:rPr>
              <a:t>03  Silver Transformation</a:t>
            </a:r>
          </a:p>
          <a:p>
            <a:r>
              <a:rPr sz="800" b="0" i="0">
                <a:solidFill>
                  <a:srgbClr val="C9D1D9"/>
                </a:solidFill>
              </a:rPr>
              <a:t>    Dedup + validation + derived cols  |  Drop rate: 0.0%  PASS</a:t>
            </a:r>
          </a:p>
          <a:p>
            <a:r>
              <a:rPr sz="800" b="1" i="0">
                <a:solidFill>
                  <a:srgbClr val="F7C948"/>
                </a:solidFill>
              </a:rPr>
              <a:t>04  Gold Aggregation</a:t>
            </a:r>
          </a:p>
          <a:p>
            <a:r>
              <a:rPr sz="800" b="0" i="0">
                <a:solidFill>
                  <a:srgbClr val="C9D1D9"/>
                </a:solidFill>
              </a:rPr>
              <a:t>    4 Gold tables: daily_meter / regional_demand /</a:t>
            </a:r>
          </a:p>
          <a:p>
            <a:r>
              <a:rPr sz="800" b="0" i="0">
                <a:solidFill>
                  <a:srgbClr val="C9D1D9"/>
                </a:solidFill>
              </a:rPr>
              <a:t>    network_assets / forecast_summary  -&gt;  6,760 records</a:t>
            </a:r>
          </a:p>
          <a:p>
            <a:r>
              <a:rPr sz="800" b="1" i="0">
                <a:solidFill>
                  <a:srgbClr val="F7C948"/>
                </a:solidFill>
              </a:rPr>
              <a:t>05  Validation</a:t>
            </a:r>
          </a:p>
          <a:p>
            <a:r>
              <a:rPr sz="800" b="0" i="0">
                <a:solidFill>
                  <a:srgbClr val="C9D1D9"/>
                </a:solidFill>
              </a:rPr>
              <a:t>    19/19 checks PASS  |  Full run: ~234 seconds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685800"/>
            <a:ext cx="4325112" cy="196596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685800"/>
            <a:ext cx="4325112" cy="2743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70408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③ DELTA SHARING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987552"/>
            <a:ext cx="4206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3FB950"/>
                </a:solidFill>
              </a:rPr>
              <a:t>Option A — Python Simulation  [DONE]</a:t>
            </a:r>
          </a:p>
          <a:p>
            <a:r>
              <a:rPr sz="800" b="0" i="0">
                <a:solidFill>
                  <a:srgbClr val="C9D1D9"/>
                </a:solidFill>
              </a:rPr>
              <a:t>  Provider shares 4 Gold tables with Vendor</a:t>
            </a:r>
          </a:p>
          <a:p>
            <a:r>
              <a:rPr sz="800" b="0" i="0">
                <a:solidFill>
                  <a:srgbClr val="C9D1D9"/>
                </a:solidFill>
              </a:rPr>
              <a:t>  Vendor receives + analyses regional demand &amp; assets</a:t>
            </a:r>
          </a:p>
          <a:p>
            <a:r>
              <a:rPr sz="800" b="0" i="0">
                <a:solidFill>
                  <a:srgbClr val="C9D1D9"/>
                </a:solidFill>
              </a:rPr>
              <a:t>  Bi-directional: 5 forecast responses written back</a:t>
            </a:r>
          </a:p>
          <a:p>
            <a:r>
              <a:rPr sz="800" b="0" i="0">
                <a:solidFill>
                  <a:srgbClr val="C9D1D9"/>
                </a:solidFill>
              </a:rPr>
              <a:t>  NORTH region highest peak: 670 kWh</a:t>
            </a:r>
          </a:p>
          <a:p>
            <a:r>
              <a:rPr sz="800" b="0" i="0">
                <a:solidFill>
                  <a:srgbClr val="C9D1D9"/>
                </a:solidFill>
              </a:rPr>
              <a:t>  52.8% of assets flagged for maintenance</a:t>
            </a:r>
          </a:p>
          <a:p>
            <a:r>
              <a:rPr sz="800" b="0" i="0">
                <a:solidFill>
                  <a:srgbClr val="C9D1D9"/>
                </a:solidFill>
              </a:rPr>
              <a:t/>
            </a:r>
          </a:p>
          <a:p>
            <a:r>
              <a:rPr sz="800" b="1" i="0">
                <a:solidFill>
                  <a:srgbClr val="58A6FF"/>
                </a:solidFill>
              </a:rPr>
              <a:t>Option B — Unity Catalog (Part 2)</a:t>
            </a:r>
          </a:p>
          <a:p>
            <a:r>
              <a:rPr sz="800" b="0" i="0">
                <a:solidFill>
                  <a:srgbClr val="C9D1D9"/>
                </a:solidFill>
              </a:rPr>
              <a:t>  Azure Databricks Premium + Unity Catalog provisioned</a:t>
            </a:r>
          </a:p>
          <a:p>
            <a:r>
              <a:rPr sz="800" b="0" i="0">
                <a:solidFill>
                  <a:srgbClr val="C9D1D9"/>
                </a:solidFill>
              </a:rPr>
              <a:t>  Real Delta Sharing via Unity Catalog — NEXT STEP</a:t>
            </a:r>
          </a:p>
          <a:p>
            <a:r>
              <a:rPr sz="800" b="0" i="0">
                <a:solidFill>
                  <a:srgbClr val="C9D1D9"/>
                </a:solidFill>
              </a:rPr>
              <a:t>  Vendor gets read-only token  |  Full audit trail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" y="2788920"/>
            <a:ext cx="3703320" cy="201168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" y="2788920"/>
            <a:ext cx="3703320" cy="27432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" y="2807208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④ CI/CD + NIGHTLY BUILD  [DONE]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3090672"/>
            <a:ext cx="3611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F7C948"/>
                </a:solidFill>
              </a:rPr>
              <a:t>GitHub Actions CI  (.github/workflows/ci.yml)</a:t>
            </a:r>
          </a:p>
          <a:p>
            <a:r>
              <a:rPr sz="800" b="0" i="0">
                <a:solidFill>
                  <a:srgbClr val="C9D1D9"/>
                </a:solidFill>
              </a:rPr>
              <a:t>  check_syntax.py: 25 files, syntax + 6 secret patterns</a:t>
            </a:r>
          </a:p>
          <a:p>
            <a:r>
              <a:rPr sz="800" b="0" i="0">
                <a:solidFill>
                  <a:srgbClr val="C9D1D9"/>
                </a:solidFill>
              </a:rPr>
              <a:t>  Skips: ci/, notebooks/databricks/, vendor delta-sharing</a:t>
            </a:r>
          </a:p>
          <a:p>
            <a:r>
              <a:rPr sz="800" b="0" i="0">
                <a:solidFill>
                  <a:srgbClr val="C9D1D9"/>
                </a:solidFill>
              </a:rPr>
              <a:t/>
            </a:r>
          </a:p>
          <a:p>
            <a:r>
              <a:rPr sz="800" b="1" i="0">
                <a:solidFill>
                  <a:srgbClr val="F7C948"/>
                </a:solidFill>
              </a:rPr>
              <a:t>GitHub Actions CD  (.github/workflows/cd.yml)</a:t>
            </a:r>
          </a:p>
          <a:p>
            <a:r>
              <a:rPr sz="800" b="0" i="0">
                <a:solidFill>
                  <a:srgbClr val="C9D1D9"/>
                </a:solidFill>
              </a:rPr>
              <a:t>  Triggers after CI passes on push to main</a:t>
            </a:r>
          </a:p>
          <a:p>
            <a:r>
              <a:rPr sz="800" b="0" i="0">
                <a:solidFill>
                  <a:srgbClr val="C9D1D9"/>
                </a:solidFill>
              </a:rPr>
              <a:t>  upload_notebooks.py -&gt; 9 notebooks auto-deployed</a:t>
            </a:r>
          </a:p>
          <a:p>
            <a:r>
              <a:rPr sz="800" b="0" i="0">
                <a:solidFill>
                  <a:srgbClr val="C9D1D9"/>
                </a:solidFill>
              </a:rPr>
              <a:t>  Requires: DATABRICKS_HOST + DATABRICKS_TOKEN secrets</a:t>
            </a:r>
          </a:p>
          <a:p>
            <a:r>
              <a:rPr sz="800" b="0" i="0">
                <a:solidFill>
                  <a:srgbClr val="C9D1D9"/>
                </a:solidFill>
              </a:rPr>
              <a:t/>
            </a:r>
          </a:p>
          <a:p>
            <a:r>
              <a:rPr sz="800" b="1" i="0">
                <a:solidFill>
                  <a:srgbClr val="F7C948"/>
                </a:solidFill>
              </a:rPr>
              <a:t>Nightly Build  (ci/nightly_build.py)</a:t>
            </a:r>
          </a:p>
          <a:p>
            <a:r>
              <a:rPr sz="800" b="0" i="0">
                <a:solidFill>
                  <a:srgbClr val="C9D1D9"/>
                </a:solidFill>
              </a:rPr>
              <a:t>  Windows Task Scheduler at 2AM daily</a:t>
            </a:r>
          </a:p>
          <a:p>
            <a:r>
              <a:rPr sz="800" b="0" i="0">
                <a:solidFill>
                  <a:srgbClr val="C9D1D9"/>
                </a:solidFill>
              </a:rPr>
              <a:t>  Runs CI + full pipeline -&gt; WhatsApp alert via Twilio</a:t>
            </a:r>
          </a:p>
          <a:p>
            <a:r>
              <a:rPr sz="800" b="0" i="0">
                <a:solidFill>
                  <a:srgbClr val="C9D1D9"/>
                </a:solidFill>
              </a:rPr>
              <a:t>  setup_nightly.bat registers scheduled task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6200" y="2788920"/>
            <a:ext cx="4663440" cy="201168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86200" y="2788920"/>
            <a:ext cx="4663440" cy="27432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28072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⑤ CHATOPS — WhatsApp Pipeline Control  [LIVE]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090672"/>
            <a:ext cx="4526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58A6FF"/>
                </a:solidFill>
              </a:rPr>
              <a:t>Flow:  WhatsApp -&gt; Twilio -&gt; ngrok -&gt; FastAPI -&gt; Claude AI -&gt; Pipeline</a:t>
            </a:r>
          </a:p>
          <a:p>
            <a:r>
              <a:rPr sz="800" b="0" i="0">
                <a:solidFill>
                  <a:srgbClr val="C9D1D9"/>
                </a:solidFill>
              </a:rPr>
              <a:t/>
            </a:r>
          </a:p>
          <a:p>
            <a:r>
              <a:rPr sz="800" b="1" i="0">
                <a:solidFill>
                  <a:srgbClr val="F7C948"/>
                </a:solidFill>
              </a:rPr>
              <a:t>automation/webhook_server.py  (FastAPI)</a:t>
            </a:r>
          </a:p>
          <a:p>
            <a:r>
              <a:rPr sz="800" b="0" i="0">
                <a:solidFill>
                  <a:srgbClr val="C9D1D9"/>
                </a:solidFill>
              </a:rPr>
              <a:t>  POST /webhook  receives Twilio WhatsApp messages</a:t>
            </a:r>
          </a:p>
          <a:p>
            <a:r>
              <a:rPr sz="800" b="0" i="0">
                <a:solidFill>
                  <a:srgbClr val="C9D1D9"/>
                </a:solidFill>
              </a:rPr>
              <a:t>  Agentic loop: Claude calls tools, executes, replies</a:t>
            </a:r>
          </a:p>
          <a:p>
            <a:r>
              <a:rPr sz="800" b="0" i="0">
                <a:solidFill>
                  <a:srgbClr val="C9D1D9"/>
                </a:solidFill>
              </a:rPr>
              <a:t/>
            </a:r>
          </a:p>
          <a:p>
            <a:r>
              <a:rPr sz="800" b="1" i="0">
                <a:solidFill>
                  <a:srgbClr val="F7C948"/>
                </a:solidFill>
              </a:rPr>
              <a:t>automation/claude_tools.py  (7 tools)</a:t>
            </a:r>
          </a:p>
          <a:p>
            <a:r>
              <a:rPr sz="800" b="0" i="0">
                <a:solidFill>
                  <a:srgbClr val="C9D1D9"/>
                </a:solidFill>
              </a:rPr>
              <a:t>  run_pipeline    run_step      run_sharing</a:t>
            </a:r>
          </a:p>
          <a:p>
            <a:r>
              <a:rPr sz="800" b="0" i="0">
                <a:solidFill>
                  <a:srgbClr val="C9D1D9"/>
                </a:solidFill>
              </a:rPr>
              <a:t>  get_status      get_runtime   set_runtime</a:t>
            </a:r>
          </a:p>
          <a:p>
            <a:r>
              <a:rPr sz="800" b="0" i="0">
                <a:solidFill>
                  <a:srgbClr val="C9D1D9"/>
                </a:solidFill>
              </a:rPr>
              <a:t>  run_ci  (NEW: triggers CI check from WhatsApp)</a:t>
            </a:r>
          </a:p>
          <a:p>
            <a:r>
              <a:rPr sz="800" b="0" i="0">
                <a:solidFill>
                  <a:srgbClr val="C9D1D9"/>
                </a:solidFill>
              </a:rPr>
              <a:t/>
            </a:r>
          </a:p>
          <a:p>
            <a:r>
              <a:rPr sz="800" b="1" i="0">
                <a:solidFill>
                  <a:srgbClr val="3FB950"/>
                </a:solidFill>
              </a:rPr>
              <a:t>Tested live: status, run pipeline, run_ci  [DONE]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2788920"/>
            <a:ext cx="3456432" cy="2011680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41080" y="2788920"/>
            <a:ext cx="3456432" cy="274320"/>
          </a:xfrm>
          <a:prstGeom prst="rect">
            <a:avLst/>
          </a:prstGeom>
          <a:solidFill>
            <a:srgbClr val="6E4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807208"/>
            <a:ext cx="3364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⑥ PART 2 — AZURE CLOUD  [IN PROGRESS]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090672"/>
            <a:ext cx="33649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3FB950"/>
                </a:solidFill>
              </a:rPr>
              <a:t>+ Resource group + ADLS Gen2 provisioned</a:t>
            </a:r>
          </a:p>
          <a:p>
            <a:r>
              <a:rPr sz="800" b="1" i="0">
                <a:solidFill>
                  <a:srgbClr val="3FB950"/>
                </a:solidFill>
              </a:rPr>
              <a:t>+ Databricks Premium + Unity Catalog enabled</a:t>
            </a:r>
          </a:p>
          <a:p>
            <a:r>
              <a:rPr sz="800" b="1" i="0">
                <a:solidFill>
                  <a:srgbClr val="3FB950"/>
                </a:solidFill>
              </a:rPr>
              <a:t>+ Cluster running  (Standard_DS3_v2)</a:t>
            </a:r>
          </a:p>
          <a:p>
            <a:r>
              <a:rPr sz="800" b="1" i="0">
                <a:solidFill>
                  <a:srgbClr val="3FB950"/>
                </a:solidFill>
              </a:rPr>
              <a:t>+ 9 notebooks deployed via CI/CD  (abfss://)</a:t>
            </a:r>
          </a:p>
          <a:p>
            <a:r>
              <a:rPr sz="800" b="1" i="0">
                <a:solidFill>
                  <a:srgbClr val="3FB950"/>
                </a:solidFill>
              </a:rPr>
              <a:t>+ Secret scope configured</a:t>
            </a:r>
          </a:p>
          <a:p>
            <a:r>
              <a:rPr sz="800" b="1" i="0">
                <a:solidFill>
                  <a:srgbClr val="F78C00"/>
                </a:solidFill>
              </a:rPr>
              <a:t>o Run full pipeline 01-&gt;05 on Databricks</a:t>
            </a:r>
          </a:p>
          <a:p>
            <a:r>
              <a:rPr sz="800" b="0" i="0">
                <a:solidFill>
                  <a:srgbClr val="F78C00"/>
                </a:solidFill>
              </a:rPr>
              <a:t>o Register Delta tables in Unity Catalog</a:t>
            </a:r>
          </a:p>
          <a:p>
            <a:r>
              <a:rPr sz="800" b="0" i="0">
                <a:solidFill>
                  <a:srgbClr val="F78C00"/>
                </a:solidFill>
              </a:rPr>
              <a:t>o Real Delta Sharing — Phase 8</a:t>
            </a:r>
          </a:p>
          <a:p>
            <a:r>
              <a:rPr sz="800" b="0" i="0">
                <a:solidFill>
                  <a:srgbClr val="F78C00"/>
                </a:solidFill>
              </a:rPr>
              <a:t>o Databricks Workflows — Phase 9</a:t>
            </a:r>
          </a:p>
          <a:p>
            <a:r>
              <a:rPr sz="800" b="0" i="0">
                <a:solidFill>
                  <a:srgbClr val="F78C00"/>
                </a:solidFill>
              </a:rPr>
              <a:t>o Azure Functions ChatOps — Phase 10</a:t>
            </a:r>
          </a:p>
          <a:p>
            <a:r>
              <a:rPr sz="800" b="0" i="1">
                <a:solidFill>
                  <a:srgbClr val="C9D1D9"/>
                </a:solidFill>
              </a:rPr>
              <a:t>Budget: ~$5-8/month  |  Production: ~$80-120/month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" y="4919472"/>
            <a:ext cx="12006072" cy="475488"/>
          </a:xfrm>
          <a:prstGeom prst="rect">
            <a:avLst/>
          </a:prstGeom>
          <a:solidFill>
            <a:srgbClr val="0D1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" y="4937760"/>
            <a:ext cx="1500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266K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" y="5138928"/>
            <a:ext cx="15007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9D1D9"/>
                </a:solidFill>
              </a:rPr>
              <a:t>Raw Records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92199" y="4937760"/>
            <a:ext cx="1500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19/19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92199" y="5138928"/>
            <a:ext cx="15007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9D1D9"/>
                </a:solidFill>
              </a:rPr>
              <a:t>Checks Passed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2958" y="4937760"/>
            <a:ext cx="1500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6,760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92958" y="5138928"/>
            <a:ext cx="15007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9D1D9"/>
                </a:solidFill>
              </a:rPr>
              <a:t>Gold Records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3717" y="4937760"/>
            <a:ext cx="1500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~234s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3717" y="5138928"/>
            <a:ext cx="15007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9D1D9"/>
                </a:solidFill>
              </a:rPr>
              <a:t>Full Pipeline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4476" y="4937760"/>
            <a:ext cx="1500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4476" y="5138928"/>
            <a:ext cx="15007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9D1D9"/>
                </a:solidFill>
              </a:rPr>
              <a:t>Claude Tools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95235" y="4937760"/>
            <a:ext cx="1500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95235" y="5138928"/>
            <a:ext cx="15007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9D1D9"/>
                </a:solidFill>
              </a:rPr>
              <a:t>Notebooks
Deployed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5994" y="4937760"/>
            <a:ext cx="1500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CI/CD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5994" y="5138928"/>
            <a:ext cx="15007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9D1D9"/>
                </a:solidFill>
              </a:rPr>
              <a:t>GitHub Actions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96753" y="4937760"/>
            <a:ext cx="1500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LIVE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96753" y="5138928"/>
            <a:ext cx="15007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9D1D9"/>
                </a:solidFill>
              </a:rPr>
              <a:t>ChatOps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" y="5486400"/>
            <a:ext cx="7772400" cy="1261872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" y="5504688"/>
            <a:ext cx="7680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8A6FF"/>
                </a:solidFill>
              </a:rPr>
              <a:t>TECH STACK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" y="5715000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</a:rPr>
              <a:t>Python 3.11  |  PySpark 3.5.1  |  Delta Lake 3.1.0  |  SQLite + SQLAlchemy  |  sqlite-jdbc 3.44.1.0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60" y="5961888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</a:rPr>
              <a:t>FastAPI + Uvicorn  |  Twilio WhatsApp API  |  Anthropic Claude API (tool use)  |  ngrok  |  python-dotenv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160" y="6208776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</a:rPr>
              <a:t>Azure Databricks Premium  |  Unity Catalog  |  ADLS Gen2 (abfss://)  |  GitHub Actions CI/CD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" y="6455664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</a:rPr>
              <a:t>Windows 11 (24 GB RAM, 1 TB SSD)  |  Java 11  |  Hadoop winutils  |  venv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79" y="5486400"/>
            <a:ext cx="4142232" cy="1261872"/>
          </a:xfrm>
          <a:prstGeom prst="rect">
            <a:avLst/>
          </a:prstGeom>
          <a:solidFill>
            <a:srgbClr val="0D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01000" y="550468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78C00"/>
                </a:solidFill>
              </a:rPr>
              <a:t>KEY WINDOWS FIXES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01000" y="5687568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9D1D9"/>
                </a:solidFill>
              </a:rPr>
              <a:t>- PYSPARK_PYTHON = sys.executable  (App Execution Alias bypass)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1000" y="5856731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9D1D9"/>
                </a:solidFill>
              </a:rPr>
              <a:t>- data/lake/ path  (ACL-locked lake/ directories — Python creates with write ACL)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6025896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9D1D9"/>
                </a:solidFill>
              </a:rPr>
              <a:t>- CSV via toPandas().to_csv()  (replaces Parquet for time series drop)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0" y="6195059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9D1D9"/>
                </a:solidFill>
              </a:rPr>
              <a:t>- mode(overwrite) + shutil.move()  (Parquet overwrite on Windows)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1000" y="6364224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9D1D9"/>
                </a:solidFill>
              </a:rPr>
              <a:t>- sys.stdout.reconfigure(encoding='utf-8')  (Unicode on Windows)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01000" y="6533388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9D1D9"/>
                </a:solidFill>
              </a:rPr>
              <a:t>- SQLite JDBC type casts  (DateType/DoubleType mismatch)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7160" y="6720840"/>
            <a:ext cx="1188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Utilitics Data Sharing POC  |  Part 1 Complete — Part 2: Azure Cloud In Progress  |  2026-04-08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