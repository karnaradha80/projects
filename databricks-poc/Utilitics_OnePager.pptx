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708" y="2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943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37160" y="73152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UTILITICS — Azure Databricks Data Sharing Platform  |  Local POC — End-to-End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73152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7C948"/>
                </a:solidFill>
              </a:rPr>
              <a:t>Status: Part 1 COMPLETE  ✔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" y="685800"/>
            <a:ext cx="2834640" cy="1965960"/>
          </a:xfrm>
          <a:prstGeom prst="rect">
            <a:avLst/>
          </a:prstGeom>
          <a:solidFill>
            <a:srgbClr val="0D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" y="685800"/>
            <a:ext cx="2834640" cy="27432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" y="7040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① DATA 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987552"/>
            <a:ext cx="274320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 i="0">
                <a:solidFill>
                  <a:srgbClr val="58A6FF"/>
                </a:solidFill>
              </a:rPr>
              <a:t>Time Series (Parquet)</a:t>
            </a:r>
          </a:p>
          <a:p>
            <a:r>
              <a:rPr sz="800" b="0" i="0">
                <a:solidFill>
                  <a:srgbClr val="C9D1D9"/>
                </a:solidFill>
              </a:rPr>
              <a:t>  500 meters × 7 days × 48 readings</a:t>
            </a:r>
          </a:p>
          <a:p>
            <a:r>
              <a:rPr sz="800" b="0" i="0">
                <a:solidFill>
                  <a:srgbClr val="C9D1D9"/>
                </a:solidFill>
              </a:rPr>
              <a:t>  → 168,000 records  |  lake/raw/timeseries/</a:t>
            </a:r>
          </a:p>
          <a:p>
            <a:endParaRPr sz="800" b="0" i="0">
              <a:solidFill>
                <a:srgbClr val="C9D1D9"/>
              </a:solidFill>
            </a:endParaRPr>
          </a:p>
          <a:p>
            <a:r>
              <a:rPr sz="800" b="1" i="0">
                <a:solidFill>
                  <a:srgbClr val="58A6FF"/>
                </a:solidFill>
              </a:rPr>
              <a:t>Network Asset Snapshot (SQLite)</a:t>
            </a:r>
          </a:p>
          <a:p>
            <a:r>
              <a:rPr sz="800" b="0" i="0">
                <a:solidFill>
                  <a:srgbClr val="C9D1D9"/>
                </a:solidFill>
              </a:rPr>
              <a:t>  2,000 assets × 7 snapshots</a:t>
            </a:r>
          </a:p>
          <a:p>
            <a:r>
              <a:rPr sz="800" b="0" i="0">
                <a:solidFill>
                  <a:srgbClr val="C9D1D9"/>
                </a:solidFill>
              </a:rPr>
              <a:t>  → 14,000 records  |  lake/sources/assets.db</a:t>
            </a:r>
          </a:p>
          <a:p>
            <a:r>
              <a:rPr sz="800" b="0" i="0">
                <a:solidFill>
                  <a:srgbClr val="C9D1D9"/>
                </a:solidFill>
              </a:rPr>
              <a:t>  JDBC read in bronze  (org.xerial:sqlite-jdbc)</a:t>
            </a:r>
          </a:p>
          <a:p>
            <a:endParaRPr sz="800" b="0" i="0">
              <a:solidFill>
                <a:srgbClr val="C9D1D9"/>
              </a:solidFill>
            </a:endParaRPr>
          </a:p>
          <a:p>
            <a:r>
              <a:rPr sz="800" b="1" i="0">
                <a:solidFill>
                  <a:srgbClr val="58A6FF"/>
                </a:solidFill>
              </a:rPr>
              <a:t>Vendor Forecasts (Parquet)</a:t>
            </a:r>
          </a:p>
          <a:p>
            <a:r>
              <a:rPr sz="800" b="0" i="0">
                <a:solidFill>
                  <a:srgbClr val="C9D1D9"/>
                </a:solidFill>
              </a:rPr>
              <a:t>  500 forecasts × 168 hourly points</a:t>
            </a:r>
          </a:p>
          <a:p>
            <a:r>
              <a:rPr sz="800" b="0" i="0">
                <a:solidFill>
                  <a:srgbClr val="C9D1D9"/>
                </a:solidFill>
              </a:rPr>
              <a:t>  → 84,000 records  |  lake/raw/files/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685800"/>
            <a:ext cx="4663440" cy="1965960"/>
          </a:xfrm>
          <a:prstGeom prst="rect">
            <a:avLst/>
          </a:prstGeom>
          <a:solidFill>
            <a:srgbClr val="0D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017520" y="685800"/>
            <a:ext cx="4663440" cy="27432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063240" y="70408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② MEDALLION PIPELINE  (PySpark 3.5.1 + Delta Lake 3.1.0)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3240" y="987552"/>
            <a:ext cx="4526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 i="0">
                <a:solidFill>
                  <a:srgbClr val="F7C948"/>
                </a:solidFill>
              </a:rPr>
              <a:t>01  Generate Data</a:t>
            </a:r>
          </a:p>
          <a:p>
            <a:r>
              <a:rPr sz="800" b="0" i="0">
                <a:solidFill>
                  <a:srgbClr val="C9D1D9"/>
                </a:solidFill>
              </a:rPr>
              <a:t>    Synthetic meter + asset + forecast data  →  266K total records</a:t>
            </a:r>
          </a:p>
          <a:p>
            <a:r>
              <a:rPr sz="800" b="1" i="0">
                <a:solidFill>
                  <a:srgbClr val="F7C948"/>
                </a:solidFill>
              </a:rPr>
              <a:t>02  Bronze Ingestion</a:t>
            </a:r>
          </a:p>
          <a:p>
            <a:r>
              <a:rPr sz="800" b="0" i="0">
                <a:solidFill>
                  <a:srgbClr val="C9D1D9"/>
                </a:solidFill>
              </a:rPr>
              <a:t>    Raw → Bronze Delta  |  168K + 14K + 84K  |  Match: 100%</a:t>
            </a:r>
          </a:p>
          <a:p>
            <a:r>
              <a:rPr sz="800" b="1" i="0">
                <a:solidFill>
                  <a:srgbClr val="F7C948"/>
                </a:solidFill>
              </a:rPr>
              <a:t>03  Silver Transformation</a:t>
            </a:r>
          </a:p>
          <a:p>
            <a:r>
              <a:rPr sz="800" b="0" i="0">
                <a:solidFill>
                  <a:srgbClr val="C9D1D9"/>
                </a:solidFill>
              </a:rPr>
              <a:t>    Dedup + validation + derived cols  |  Drop rate: 0.0%  PASS</a:t>
            </a:r>
          </a:p>
          <a:p>
            <a:r>
              <a:rPr sz="800" b="1" i="0">
                <a:solidFill>
                  <a:srgbClr val="F7C948"/>
                </a:solidFill>
              </a:rPr>
              <a:t>04  Gold Aggregation</a:t>
            </a:r>
          </a:p>
          <a:p>
            <a:r>
              <a:rPr sz="800" b="0" i="0">
                <a:solidFill>
                  <a:srgbClr val="C9D1D9"/>
                </a:solidFill>
              </a:rPr>
              <a:t>    4 Gold tables: daily_meter / regional_demand /</a:t>
            </a:r>
          </a:p>
          <a:p>
            <a:r>
              <a:rPr sz="800" b="0" i="0">
                <a:solidFill>
                  <a:srgbClr val="C9D1D9"/>
                </a:solidFill>
              </a:rPr>
              <a:t>    network_assets / forecast_summary  →  6,760 records</a:t>
            </a:r>
          </a:p>
          <a:p>
            <a:r>
              <a:rPr sz="800" b="1" i="0">
                <a:solidFill>
                  <a:srgbClr val="F7C948"/>
                </a:solidFill>
              </a:rPr>
              <a:t>05  Validation</a:t>
            </a:r>
          </a:p>
          <a:p>
            <a:r>
              <a:rPr sz="800" b="0" i="0">
                <a:solidFill>
                  <a:srgbClr val="C9D1D9"/>
                </a:solidFill>
              </a:rPr>
              <a:t>    19/19 checks PASS  (Bronze→Silver drop, Gold counts,</a:t>
            </a:r>
          </a:p>
          <a:p>
            <a:r>
              <a:rPr sz="800" b="0" i="0">
                <a:solidFill>
                  <a:srgbClr val="C9D1D9"/>
                </a:solidFill>
              </a:rPr>
              <a:t>    quality rules, Delta health, SQLite source checks)</a:t>
            </a:r>
          </a:p>
          <a:p>
            <a:r>
              <a:rPr sz="800" b="0" i="0">
                <a:solidFill>
                  <a:srgbClr val="C9D1D9"/>
                </a:solidFill>
              </a:rPr>
              <a:t>    Full run elapsed: ~5 minutes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685800"/>
            <a:ext cx="4325112" cy="1965960"/>
          </a:xfrm>
          <a:prstGeom prst="rect">
            <a:avLst/>
          </a:prstGeom>
          <a:solidFill>
            <a:srgbClr val="0D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772400" y="685800"/>
            <a:ext cx="4325112" cy="274320"/>
          </a:xfrm>
          <a:prstGeom prst="rect">
            <a:avLst/>
          </a:prstGeom>
          <a:solidFill>
            <a:srgbClr val="238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18120" y="70408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③ DELTA SHARING  (Section 13)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987552"/>
            <a:ext cx="4206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 i="0">
                <a:solidFill>
                  <a:srgbClr val="3FB950"/>
                </a:solidFill>
              </a:rPr>
              <a:t>Option A — Python Simulation  ✔</a:t>
            </a:r>
          </a:p>
          <a:p>
            <a:r>
              <a:rPr sz="800" b="0" i="0">
                <a:solidFill>
                  <a:srgbClr val="C9D1D9"/>
                </a:solidFill>
              </a:rPr>
              <a:t>  Provider shares 4 Gold tables with Vendor</a:t>
            </a:r>
          </a:p>
          <a:p>
            <a:r>
              <a:rPr sz="800" b="0" i="0">
                <a:solidFill>
                  <a:srgbClr val="C9D1D9"/>
                </a:solidFill>
              </a:rPr>
              <a:t>  Vendor receives + analyses regional demand &amp; assets</a:t>
            </a:r>
          </a:p>
          <a:p>
            <a:r>
              <a:rPr sz="800" b="0" i="0">
                <a:solidFill>
                  <a:srgbClr val="C9D1D9"/>
                </a:solidFill>
              </a:rPr>
              <a:t>  Bi-directional: 5 forecast responses written back</a:t>
            </a:r>
          </a:p>
          <a:p>
            <a:r>
              <a:rPr sz="800" b="0" i="0">
                <a:solidFill>
                  <a:srgbClr val="C9D1D9"/>
                </a:solidFill>
              </a:rPr>
              <a:t>  NORTH region highest peak: 670 kWh</a:t>
            </a:r>
          </a:p>
          <a:p>
            <a:r>
              <a:rPr sz="800" b="0" i="0">
                <a:solidFill>
                  <a:srgbClr val="C9D1D9"/>
                </a:solidFill>
              </a:rPr>
              <a:t>  52.8% of assets flagged for maintenance</a:t>
            </a:r>
          </a:p>
          <a:p>
            <a:endParaRPr sz="800" b="0" i="0">
              <a:solidFill>
                <a:srgbClr val="C9D1D9"/>
              </a:solidFill>
            </a:endParaRPr>
          </a:p>
          <a:p>
            <a:r>
              <a:rPr sz="800" b="1" i="0">
                <a:solidFill>
                  <a:srgbClr val="58A6FF"/>
                </a:solidFill>
              </a:rPr>
              <a:t>Option B — OSS Delta Sharing Server  (code ready)</a:t>
            </a:r>
          </a:p>
          <a:p>
            <a:r>
              <a:rPr sz="800" b="0" i="0">
                <a:solidFill>
                  <a:srgbClr val="C9D1D9"/>
                </a:solidFill>
              </a:rPr>
              <a:t>  Real delta-sharing-server.jar + Python client</a:t>
            </a:r>
          </a:p>
          <a:p>
            <a:r>
              <a:rPr sz="800" b="0" i="0">
                <a:solidFill>
                  <a:srgbClr val="C9D1D9"/>
                </a:solidFill>
              </a:rPr>
              <a:t>  server_config.yaml + recipient_profile.json configured</a:t>
            </a:r>
          </a:p>
          <a:p>
            <a:r>
              <a:rPr sz="800" b="0" i="0">
                <a:solidFill>
                  <a:srgbClr val="C9D1D9"/>
                </a:solidFill>
              </a:rPr>
              <a:t>  Requires: download JAR → place in delta_sharing/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" y="2788920"/>
            <a:ext cx="3703320" cy="2011680"/>
          </a:xfrm>
          <a:prstGeom prst="rect">
            <a:avLst/>
          </a:prstGeom>
          <a:solidFill>
            <a:srgbClr val="0D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1440" y="2788920"/>
            <a:ext cx="3703320" cy="274320"/>
          </a:xfrm>
          <a:prstGeom prst="rect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7160" y="2807208"/>
            <a:ext cx="3611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④ DATABRICKS PORT + RUNTIME FLAG  (Section 14)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" y="3090672"/>
            <a:ext cx="3611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 i="0">
                <a:solidFill>
                  <a:srgbClr val="F7C948"/>
                </a:solidFill>
              </a:rPr>
              <a:t>run.py  —  Unified Launcher</a:t>
            </a:r>
          </a:p>
          <a:p>
            <a:r>
              <a:rPr sz="800" b="0" i="0">
                <a:solidFill>
                  <a:srgbClr val="C9D1D9"/>
                </a:solidFill>
              </a:rPr>
              <a:t>  --local   → runs local PySpark via subprocess</a:t>
            </a:r>
          </a:p>
          <a:p>
            <a:r>
              <a:rPr sz="800" b="0" i="0">
                <a:solidFill>
                  <a:srgbClr val="C9D1D9"/>
                </a:solidFill>
              </a:rPr>
              <a:t>  --cloud   → submits to Databricks REST API</a:t>
            </a:r>
          </a:p>
          <a:p>
            <a:r>
              <a:rPr sz="800" b="0" i="0">
                <a:solidFill>
                  <a:srgbClr val="C9D1D9"/>
                </a:solidFill>
              </a:rPr>
              <a:t>  --config  → shows RUNTIME, token, workspace URL</a:t>
            </a:r>
          </a:p>
          <a:p>
            <a:r>
              <a:rPr sz="800" b="0" i="0">
                <a:solidFill>
                  <a:srgbClr val="C9D1D9"/>
                </a:solidFill>
              </a:rPr>
              <a:t>  --status  → checks last Databricks run</a:t>
            </a:r>
          </a:p>
          <a:p>
            <a:endParaRPr sz="800" b="0" i="0">
              <a:solidFill>
                <a:srgbClr val="C9D1D9"/>
              </a:solidFill>
            </a:endParaRPr>
          </a:p>
          <a:p>
            <a:r>
              <a:rPr sz="800" b="1" i="0">
                <a:solidFill>
                  <a:srgbClr val="F7C948"/>
                </a:solidFill>
              </a:rPr>
              <a:t>RUNTIME flag in pipeline_config.py</a:t>
            </a:r>
          </a:p>
          <a:p>
            <a:r>
              <a:rPr sz="800" b="0" i="0">
                <a:solidFill>
                  <a:srgbClr val="C9D1D9"/>
                </a:solidFill>
              </a:rPr>
              <a:t>  "local"      — Windows PySpark (default)</a:t>
            </a:r>
          </a:p>
          <a:p>
            <a:r>
              <a:rPr sz="800" b="0" i="0">
                <a:solidFill>
                  <a:srgbClr val="C9D1D9"/>
                </a:solidFill>
              </a:rPr>
              <a:t>  "databricks" — Community Edition via REST API</a:t>
            </a:r>
          </a:p>
          <a:p>
            <a:endParaRPr sz="800" b="0" i="0">
              <a:solidFill>
                <a:srgbClr val="C9D1D9"/>
              </a:solidFill>
            </a:endParaRPr>
          </a:p>
          <a:p>
            <a:r>
              <a:rPr sz="800" b="1" i="0">
                <a:solidFill>
                  <a:srgbClr val="F7C948"/>
                </a:solidFill>
              </a:rPr>
              <a:t>notebooks/databricks/  (7 notebooks)</a:t>
            </a:r>
          </a:p>
          <a:p>
            <a:r>
              <a:rPr sz="800" b="0" i="0">
                <a:solidFill>
                  <a:srgbClr val="C9D1D9"/>
                </a:solidFill>
              </a:rPr>
              <a:t>  DBFS paths  |  dbutils.notebook.run()</a:t>
            </a:r>
          </a:p>
          <a:p>
            <a:r>
              <a:rPr sz="800" b="0" i="0">
                <a:solidFill>
                  <a:srgbClr val="C9D1D9"/>
                </a:solidFill>
              </a:rPr>
              <a:t>  dbutils.notebook.exit("SUCCESS"/"FAILED")</a:t>
            </a:r>
          </a:p>
          <a:p>
            <a:r>
              <a:rPr sz="800" b="0" i="0">
                <a:solidFill>
                  <a:srgbClr val="C9D1D9"/>
                </a:solidFill>
              </a:rPr>
              <a:t>  Snapshot → CSV on DBFS (no SQLite on 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86200" y="2788920"/>
            <a:ext cx="4663440" cy="2011680"/>
          </a:xfrm>
          <a:prstGeom prst="rect">
            <a:avLst/>
          </a:prstGeom>
          <a:solidFill>
            <a:srgbClr val="0D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886200" y="2788920"/>
            <a:ext cx="4663440" cy="274320"/>
          </a:xfrm>
          <a:prstGeom prst="rect">
            <a:avLst/>
          </a:prstGeom>
          <a:solidFill>
            <a:srgbClr val="F7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931920" y="280720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⑤ CHATOPS — WhatsApp Pipeline Control  (LIVE ✔)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3090672"/>
            <a:ext cx="4526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 i="0">
                <a:solidFill>
                  <a:srgbClr val="58A6FF"/>
                </a:solidFill>
              </a:rPr>
              <a:t>Flow:  WhatsApp → Twilio → ngrok → FastAPI → Claude AI → Pipeline</a:t>
            </a:r>
          </a:p>
          <a:p>
            <a:endParaRPr sz="800" b="1" i="0">
              <a:solidFill>
                <a:srgbClr val="58A6FF"/>
              </a:solidFill>
            </a:endParaRPr>
          </a:p>
          <a:p>
            <a:r>
              <a:rPr sz="800" b="1" i="0">
                <a:solidFill>
                  <a:srgbClr val="F7C948"/>
                </a:solidFill>
              </a:rPr>
              <a:t>automation/webhook_server.py  (FastAPI)</a:t>
            </a:r>
          </a:p>
          <a:p>
            <a:r>
              <a:rPr sz="800" b="0" i="0">
                <a:solidFill>
                  <a:srgbClr val="C9D1D9"/>
                </a:solidFill>
              </a:rPr>
              <a:t>  POST /webhook  receives Twilio WhatsApp messages</a:t>
            </a:r>
          </a:p>
          <a:p>
            <a:r>
              <a:rPr sz="800" b="0" i="0">
                <a:solidFill>
                  <a:srgbClr val="C9D1D9"/>
                </a:solidFill>
              </a:rPr>
              <a:t>  Agentic loop: Claude calls tools, executes, replies</a:t>
            </a:r>
          </a:p>
          <a:p>
            <a:endParaRPr sz="800" b="0" i="0">
              <a:solidFill>
                <a:srgbClr val="C9D1D9"/>
              </a:solidFill>
            </a:endParaRPr>
          </a:p>
          <a:p>
            <a:r>
              <a:rPr sz="800" b="1" i="0">
                <a:solidFill>
                  <a:srgbClr val="F7C948"/>
                </a:solidFill>
              </a:rPr>
              <a:t>automation/claude_tools.py  (6 tools)</a:t>
            </a:r>
          </a:p>
          <a:p>
            <a:r>
              <a:rPr sz="800" b="0" i="0">
                <a:solidFill>
                  <a:srgbClr val="C9D1D9"/>
                </a:solidFill>
              </a:rPr>
              <a:t>  run_pipeline   run_step   run_sharing</a:t>
            </a:r>
          </a:p>
          <a:p>
            <a:r>
              <a:rPr sz="800" b="0" i="0">
                <a:solidFill>
                  <a:srgbClr val="C9D1D9"/>
                </a:solidFill>
              </a:rPr>
              <a:t>  get_status     get_runtime   set_runtime</a:t>
            </a:r>
          </a:p>
          <a:p>
            <a:endParaRPr sz="800" b="0" i="0">
              <a:solidFill>
                <a:srgbClr val="C9D1D9"/>
              </a:solidFill>
            </a:endParaRPr>
          </a:p>
          <a:p>
            <a:r>
              <a:rPr sz="800" b="1" i="0">
                <a:solidFill>
                  <a:srgbClr val="F7C948"/>
                </a:solidFill>
              </a:rPr>
              <a:t>automation/pipeline_runner.py</a:t>
            </a:r>
          </a:p>
          <a:p>
            <a:r>
              <a:rPr sz="800" b="0" i="0">
                <a:solidFill>
                  <a:srgbClr val="C9D1D9"/>
                </a:solidFill>
              </a:rPr>
              <a:t>  Subprocess wrapper  |  stdout capture  |  state file</a:t>
            </a:r>
          </a:p>
          <a:p>
            <a:endParaRPr sz="800" b="0" i="0">
              <a:solidFill>
                <a:srgbClr val="C9D1D9"/>
              </a:solidFill>
            </a:endParaRPr>
          </a:p>
          <a:p>
            <a:r>
              <a:rPr sz="800" b="1" i="0">
                <a:solidFill>
                  <a:srgbClr val="3FB950"/>
                </a:solidFill>
              </a:rPr>
              <a:t>Tested live: 'status' + 'Run pipeline' from WhatsApp  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2788920"/>
            <a:ext cx="3456432" cy="2011680"/>
          </a:xfrm>
          <a:prstGeom prst="rect">
            <a:avLst/>
          </a:prstGeom>
          <a:solidFill>
            <a:srgbClr val="0D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641080" y="2788920"/>
            <a:ext cx="3456432" cy="274320"/>
          </a:xfrm>
          <a:prstGeom prst="rect">
            <a:avLst/>
          </a:prstGeom>
          <a:solidFill>
            <a:srgbClr val="6E40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0" y="2807208"/>
            <a:ext cx="33649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⑥ PART 2 — AZURE CLOUD  (planned)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3090672"/>
            <a:ext cx="336499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b="1" i="0">
                <a:solidFill>
                  <a:srgbClr val="BC8CFF"/>
                </a:solidFill>
              </a:rPr>
              <a:t>Azure Data Lake Storage Gen2</a:t>
            </a:r>
          </a:p>
          <a:p>
            <a:r>
              <a:rPr sz="800" b="0" i="0">
                <a:solidFill>
                  <a:srgbClr val="C9D1D9"/>
                </a:solidFill>
              </a:rPr>
              <a:t>  Replaces lake/ local folder</a:t>
            </a:r>
          </a:p>
          <a:p>
            <a:r>
              <a:rPr sz="800" b="1" i="0">
                <a:solidFill>
                  <a:srgbClr val="BC8CFF"/>
                </a:solidFill>
              </a:rPr>
              <a:t>Azure Databricks (paid)</a:t>
            </a:r>
          </a:p>
          <a:p>
            <a:r>
              <a:rPr sz="800" b="0" i="0">
                <a:solidFill>
                  <a:srgbClr val="C9D1D9"/>
                </a:solidFill>
              </a:rPr>
              <a:t>  Full Unity Catalog + Workflows</a:t>
            </a:r>
          </a:p>
          <a:p>
            <a:r>
              <a:rPr sz="800" b="1" i="0">
                <a:solidFill>
                  <a:srgbClr val="BC8CFF"/>
                </a:solidFill>
              </a:rPr>
              <a:t>Azure Data Factory</a:t>
            </a:r>
          </a:p>
          <a:p>
            <a:r>
              <a:rPr sz="800" b="0" i="0">
                <a:solidFill>
                  <a:srgbClr val="C9D1D9"/>
                </a:solidFill>
              </a:rPr>
              <a:t>  Replaces run_pipeline.py orchestrator</a:t>
            </a:r>
          </a:p>
          <a:p>
            <a:r>
              <a:rPr sz="800" b="1" i="0">
                <a:solidFill>
                  <a:srgbClr val="BC8CFF"/>
                </a:solidFill>
              </a:rPr>
              <a:t>Azure SQL Database</a:t>
            </a:r>
          </a:p>
          <a:p>
            <a:r>
              <a:rPr sz="800" b="0" i="0">
                <a:solidFill>
                  <a:srgbClr val="C9D1D9"/>
                </a:solidFill>
              </a:rPr>
              <a:t>  Replaces SQLite (1 JDBC line change)</a:t>
            </a:r>
          </a:p>
          <a:p>
            <a:r>
              <a:rPr sz="800" b="1" i="0">
                <a:solidFill>
                  <a:srgbClr val="BC8CFF"/>
                </a:solidFill>
              </a:rPr>
              <a:t>Azure Functions</a:t>
            </a:r>
          </a:p>
          <a:p>
            <a:r>
              <a:rPr sz="800" b="0" i="0">
                <a:solidFill>
                  <a:srgbClr val="C9D1D9"/>
                </a:solidFill>
              </a:rPr>
              <a:t>  Replaces FastAPI + ngrok</a:t>
            </a:r>
          </a:p>
          <a:p>
            <a:r>
              <a:rPr sz="800" b="1" i="0">
                <a:solidFill>
                  <a:srgbClr val="BC8CFF"/>
                </a:solidFill>
              </a:rPr>
              <a:t>Delta Sharing (managed)</a:t>
            </a:r>
          </a:p>
          <a:p>
            <a:r>
              <a:rPr sz="800" b="0" i="0">
                <a:solidFill>
                  <a:srgbClr val="C9D1D9"/>
                </a:solidFill>
              </a:rPr>
              <a:t>  Real protocol, no simulation needed</a:t>
            </a:r>
          </a:p>
          <a:p>
            <a:r>
              <a:rPr sz="800" b="0" i="0">
                <a:solidFill>
                  <a:srgbClr val="C9D1D9"/>
                </a:solidFill>
              </a:rPr>
              <a:t>Same WhatsApp + Claude AI layer  →  no change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" y="4919472"/>
            <a:ext cx="12006072" cy="475488"/>
          </a:xfrm>
          <a:prstGeom prst="rect">
            <a:avLst/>
          </a:prstGeom>
          <a:solidFill>
            <a:srgbClr val="0D1F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440" y="4937760"/>
            <a:ext cx="1500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</a:rPr>
              <a:t>266K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" y="5138928"/>
            <a:ext cx="15007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9D1D9"/>
                </a:solidFill>
              </a:rPr>
              <a:t>Raw Records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92199" y="4937760"/>
            <a:ext cx="1500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</a:rPr>
              <a:t>19/19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92199" y="5138928"/>
            <a:ext cx="15007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9D1D9"/>
                </a:solidFill>
              </a:rPr>
              <a:t>Checks Passed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2958" y="4937760"/>
            <a:ext cx="1500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</a:rPr>
              <a:t>6,760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92958" y="5138928"/>
            <a:ext cx="15007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9D1D9"/>
                </a:solidFill>
              </a:rPr>
              <a:t>Gold Records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3717" y="4937760"/>
            <a:ext cx="1500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</a:rPr>
              <a:t>~5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93717" y="5138928"/>
            <a:ext cx="15007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9D1D9"/>
                </a:solidFill>
              </a:rPr>
              <a:t>Full Pipeline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4476" y="4937760"/>
            <a:ext cx="1500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4476" y="5138928"/>
            <a:ext cx="15007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9D1D9"/>
                </a:solidFill>
              </a:rPr>
              <a:t>Claude Tools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95235" y="4937760"/>
            <a:ext cx="1500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95235" y="5138928"/>
            <a:ext cx="15007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9D1D9"/>
                </a:solidFill>
              </a:rPr>
              <a:t>Automation Files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95994" y="4937760"/>
            <a:ext cx="1500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</a:rPr>
              <a:t>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5994" y="5138928"/>
            <a:ext cx="15007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9D1D9"/>
                </a:solidFill>
              </a:rPr>
              <a:t>Sections Done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96753" y="4937760"/>
            <a:ext cx="1500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FB950"/>
                </a:solidFill>
              </a:rPr>
              <a:t>✔ LIVE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96753" y="5138928"/>
            <a:ext cx="15007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9D1D9"/>
                </a:solidFill>
              </a:rPr>
              <a:t>ChatOps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" y="5486400"/>
            <a:ext cx="7772400" cy="1261872"/>
          </a:xfrm>
          <a:prstGeom prst="rect">
            <a:avLst/>
          </a:prstGeom>
          <a:solidFill>
            <a:srgbClr val="0D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37160" y="5504688"/>
            <a:ext cx="7680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58A6FF"/>
                </a:solidFill>
              </a:rPr>
              <a:t>TECH STACK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37160" y="5715000"/>
            <a:ext cx="7680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1D9"/>
                </a:solidFill>
              </a:rPr>
              <a:t>Python 3.11  |  PySpark 3.5.1  |  Delta Lake 3.1.0  |  SQLite + SQLAlchemy  |  sqlite-jdbc 3.44.1.0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7160" y="5961888"/>
            <a:ext cx="7680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1D9"/>
                </a:solidFill>
              </a:rPr>
              <a:t>FastAPI + Uvicorn  |  Twilio WhatsApp API  |  Anthropic Claude API (tool use)  |  ngrok  |  python-dotenv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7160" y="6208776"/>
            <a:ext cx="7680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1D9"/>
                </a:solidFill>
              </a:rPr>
              <a:t>Databricks Community Edition  |  DBFS  |  dbutils.notebook.run()  |  REST API 2.1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7160" y="6455664"/>
            <a:ext cx="7680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1D9"/>
                </a:solidFill>
              </a:rPr>
              <a:t>Windows 11 (24 GB RAM, 1 TB SSD)  |  Java 11  |  Hadoop winutils  |  venv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5279" y="5486400"/>
            <a:ext cx="4142232" cy="1261872"/>
          </a:xfrm>
          <a:prstGeom prst="rect">
            <a:avLst/>
          </a:prstGeom>
          <a:solidFill>
            <a:srgbClr val="0D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8001000" y="5504688"/>
            <a:ext cx="4023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78C00"/>
                </a:solidFill>
              </a:rPr>
              <a:t>KEY WINDOWS FIXES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01000" y="5687568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9D1D9"/>
                </a:solidFill>
              </a:rPr>
              <a:t>• PYSPARK_PYTHON = sys.executable  (App Execution Alias bypass)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01000" y="5856731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9D1D9"/>
                </a:solidFill>
              </a:rPr>
              <a:t>• lake/ path  (ACL-locked data/ directories)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01000" y="6025896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9D1D9"/>
                </a:solidFill>
              </a:rPr>
              <a:t>• mode(append) + clear_directory_contents()  (Parquet overwrite)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01000" y="6195059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9D1D9"/>
                </a:solidFill>
              </a:rPr>
              <a:t>• sys.stdout.reconfigure(encoding='utf-8')  (Unicode on Windows)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1000" y="6364224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9D1D9"/>
                </a:solidFill>
              </a:rPr>
              <a:t>• SQLite JDBC type casts  (DateType/DoubleType mismatch)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01000" y="6533388"/>
            <a:ext cx="4023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9D1D9"/>
                </a:solidFill>
              </a:rPr>
              <a:t>• load_dotenv(path)  (explicit .env path for FastAPI)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0" y="6720840"/>
            <a:ext cx="12188952" cy="137160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37160" y="6720840"/>
            <a:ext cx="118872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FFFFFF"/>
                </a:solidFill>
              </a:rPr>
              <a:t>Utilitics Data Sharing POC  |  Part 1 Complete — Part 2: Azure Cloud Migration  |  2026-03-19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843</Words>
  <Application>Microsoft Office PowerPoint</Application>
  <PresentationFormat>Custom</PresentationFormat>
  <Paragraphs>114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Radhakrishnan Karnakumar</cp:lastModifiedBy>
  <cp:revision>1</cp:revision>
  <dcterms:created xsi:type="dcterms:W3CDTF">2013-01-27T09:14:16Z</dcterms:created>
  <dcterms:modified xsi:type="dcterms:W3CDTF">2026-03-19T20:15:59Z</dcterms:modified>
  <cp:category/>
</cp:coreProperties>
</file>