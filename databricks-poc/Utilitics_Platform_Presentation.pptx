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EF"/>
                </a:solidFill>
                <a:latin typeface="Calibri"/>
              </a:rPr>
              <a:t>UTILITICS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Azure Databricks
Data Sharing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00AEEF"/>
                </a:solidFill>
                <a:latin typeface="Calibri"/>
              </a:rPr>
              <a:t>Proof of Concept — Progress &amp; Roadmap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657600"/>
            <a:ext cx="3657600" cy="254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Presented by:  Radhakrishnan Karnakumar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51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F8C8D"/>
                </a:solidFill>
                <a:latin typeface="Calibri"/>
              </a:rPr>
              <a:t>Date: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6634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F8C8D"/>
                </a:solidFill>
                <a:latin typeface="Calibri"/>
              </a:rPr>
              <a:t>Audience:  Executive Leadership + Technical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371600"/>
            <a:ext cx="2286000" cy="4114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011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EEF"/>
                </a:solidFill>
                <a:latin typeface="Calibri"/>
              </a:rPr>
              <a:t>POC
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3200400"/>
            <a:ext cx="1920240" cy="254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BC9C"/>
                </a:solidFill>
                <a:latin typeface="Calibri"/>
              </a:rPr>
              <a:t>Part 1
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023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67E22"/>
                </a:solidFill>
                <a:latin typeface="Calibri"/>
              </a:rPr>
              <a:t>Part 2
In Progress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What we will cover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2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6304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Business Requirement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6642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What was asked of 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938528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93852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9385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Our Approach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396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Why local first, then Azure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14016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1401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4140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What is Databricks?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6151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Origin, platform overview, simple explanation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889504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889504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28895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Databricks Key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090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Delta Lake, Unity Catalog, Medallion, Sharing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364992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3649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3649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Why Azure Databricks?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5661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Azure integration, cost, vs alternatives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1463040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46304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14630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Solution 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16642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End-to-end platform design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1938528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193852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19385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Technology Stack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21396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Tools used and why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414016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241401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24140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Part 1 — Local POC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6151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What we built, fully working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889504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2889504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28895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Part 2 — Azure Migration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090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Current progress on cloud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3364992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3649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3649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Key Achievements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35661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Highlights and live features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1463040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146304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14630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What's Next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6420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Remaining phases and plan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1938528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193852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19385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Business Value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21396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What this delivers when complete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2414016"/>
            <a:ext cx="384048" cy="3474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241401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24140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3E50"/>
                </a:solidFill>
                <a:latin typeface="Calibri"/>
              </a:rPr>
              <a:t>Q&amp;A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26151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Open discussion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Business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What was asked — Statement of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39496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394960" cy="50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F72"/>
                </a:solidFill>
                <a:latin typeface="Calibri"/>
              </a:rPr>
              <a:t>The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574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Build a modern Data Sharing Platform on Azure Databricks</a:t>
            </a:r>
          </a:p>
          <a:p>
            <a:pPr algn="l"/>
            <a:r>
              <a:rPr sz="1300" b="1">
                <a:solidFill>
                  <a:srgbClr val="2C3E50"/>
                </a:solidFill>
                <a:latin typeface="Calibri"/>
              </a:rPr>
              <a:t>Handle 3 types of energy data from Utilitics: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    Time Series — 168,000 smart meter readings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    Snapshot   — 14,000 network asset records (SQL)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    File Data  — 84,000 demand forecast records</a:t>
            </a:r>
          </a:p>
          <a:p>
            <a:pPr algn="l"/>
            <a:r>
              <a:rPr sz="1300" b="1">
                <a:solidFill>
                  <a:srgbClr val="2C3E50"/>
                </a:solidFill>
                <a:latin typeface="Calibri"/>
              </a:rPr>
              <a:t>Implement Medallion architecture (Bronze → Silver → Gold)</a:t>
            </a:r>
          </a:p>
          <a:p>
            <a:pPr algn="l"/>
            <a:r>
              <a:rPr sz="1300" b="1">
                <a:solidFill>
                  <a:srgbClr val="2C3E50"/>
                </a:solidFill>
                <a:latin typeface="Calibri"/>
              </a:rPr>
              <a:t>Enable secure Delta Sharing with external vendors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Automate pipeline execution and monitoring</a:t>
            </a:r>
          </a:p>
          <a:p>
            <a:pPr algn="l"/>
            <a:r>
              <a:rPr sz="1300" b="0">
                <a:solidFill>
                  <a:srgbClr val="2C3E50"/>
                </a:solidFill>
                <a:latin typeface="Calibri"/>
              </a:rPr>
              <a:t>Keep costs under $25/month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463040"/>
            <a:ext cx="5943600" cy="4663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1463040"/>
            <a:ext cx="594360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554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AEEF"/>
                </a:solidFill>
                <a:latin typeface="Calibri"/>
              </a:rPr>
              <a:t>Success Criteria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0574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BC9C"/>
                </a:solidFill>
                <a:latin typeface="Calibri"/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57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Full pipeline runs end-to-end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4688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BC9C"/>
                </a:solidFill>
                <a:latin typeface="Calibri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68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19/19 data quality checks 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8803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BC9C"/>
                </a:solidFill>
                <a:latin typeface="Calibri"/>
              </a:rPr>
              <a:t>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Data shared with vendor (Utilitics→Vendor, read-only)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9184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BC9C"/>
                </a:solidFill>
                <a:latin typeface="Calibri"/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Pipeline controllable via WhatsApp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70332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BC9C"/>
                </a:solidFill>
                <a:latin typeface="Calibri"/>
              </a:rPr>
              <a:t>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03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Gold data visible in Power BI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1148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22"/>
                </a:solidFill>
                <a:latin typeface="Calibri"/>
              </a:rPr>
              <a:t>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114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Runs on Azure cloud (not just local)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22"/>
                </a:solidFill>
                <a:latin typeface="Calibri"/>
              </a:rPr>
              <a:t>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Scheduled automation (Workflows)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Our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Local first — then Azure. Zero risk, zero wasted spend.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577840" cy="4663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577840" cy="635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1097280" cy="5029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4630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057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Local Development (Zero Cost)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060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Build entire platform on Windows 11 laptop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99923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PySpark + Delta Lake — same code as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39242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Validate all logic before spending on cloud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8561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Fast iteration — no cluster startup wait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788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Cost: $0   Duration: 2 weeks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463040"/>
            <a:ext cx="5577840" cy="4663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463040"/>
            <a:ext cx="5577840" cy="635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463040"/>
            <a:ext cx="1097280" cy="50292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4630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  <a:latin typeface="Calibri"/>
              </a:rPr>
              <a:t>PHASE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057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Azure Cloud Migration (~$5-8/month)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6060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Lift-and-shift: 3 path changes, code unchanged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99923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ADLS Gen2 storage + Databricks Premium workspace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39242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Unity Catalog for governance &amp; Delta Sharing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78561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Databricks Workflows for scheduling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1788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4F6F7"/>
                </a:solidFill>
                <a:latin typeface="Calibri"/>
              </a:rPr>
              <a:t>  Azure Functions for permanent ChatOps webhook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3474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AEEF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281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Key Insight:  Same Python code runs locally and on Azure — only file paths change. No rewrite needed.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is Databricks?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Founded 2013 by creators of Apache Spark (UC Berkeley)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5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30352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303520" cy="50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727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4F72"/>
                </a:solidFill>
                <a:latin typeface="Calibri"/>
              </a:rPr>
              <a:t>In Simple Terms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  <a:latin typeface="Calibri"/>
              </a:rPr>
              <a:t>Think of it as...</a:t>
            </a:r>
          </a:p>
          <a:p>
            <a:pPr algn="l"/>
            <a:r>
              <a:rPr sz="1200" b="0">
                <a:solidFill>
                  <a:srgbClr val="2C3E50"/>
                </a:solidFill>
                <a:latin typeface="Calibri"/>
              </a:rPr>
              <a:t>Excel for millions of rows — running in the cloud,</a:t>
            </a:r>
          </a:p>
          <a:p>
            <a:pPr algn="l"/>
            <a:r>
              <a:rPr sz="1200" b="0">
                <a:solidFill>
                  <a:srgbClr val="2C3E50"/>
                </a:solidFill>
                <a:latin typeface="Calibri"/>
              </a:rPr>
              <a:t>processing data 100x faster than traditional tools,</a:t>
            </a:r>
          </a:p>
          <a:p>
            <a:pPr algn="l"/>
            <a:r>
              <a:rPr sz="1200" b="0">
                <a:solidFill>
                  <a:srgbClr val="2C3E50"/>
                </a:solidFill>
                <a:latin typeface="Calibri"/>
              </a:rPr>
              <a:t>with AI, governance, and sharing built in.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200" b="1">
                <a:solidFill>
                  <a:srgbClr val="2C3E50"/>
                </a:solidFill>
                <a:latin typeface="Calibri"/>
              </a:rPr>
              <a:t>What it replaces...</a:t>
            </a:r>
          </a:p>
          <a:p>
            <a:pPr algn="l"/>
            <a:r>
              <a:rPr sz="1200" b="0">
                <a:solidFill>
                  <a:srgbClr val="2C3E50"/>
                </a:solidFill>
                <a:latin typeface="Calibri"/>
              </a:rPr>
              <a:t>Multiple tools: ETL tools + data warehouses +</a:t>
            </a:r>
          </a:p>
          <a:p>
            <a:pPr algn="l"/>
            <a:r>
              <a:rPr sz="1200" b="0">
                <a:solidFill>
                  <a:srgbClr val="2C3E50"/>
                </a:solidFill>
                <a:latin typeface="Calibri"/>
              </a:rPr>
              <a:t>ML platforms + data catalogues + file storage =</a:t>
            </a:r>
          </a:p>
          <a:p>
            <a:pPr algn="l"/>
            <a:r>
              <a:rPr sz="1200" b="0">
                <a:solidFill>
                  <a:srgbClr val="2C3E50"/>
                </a:solidFill>
                <a:latin typeface="Calibri"/>
              </a:rPr>
              <a:t>all unified in one platform.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200" b="1">
                <a:solidFill>
                  <a:srgbClr val="2C3E50"/>
                </a:solidFill>
                <a:latin typeface="Calibri"/>
              </a:rPr>
              <a:t>Who uses it...</a:t>
            </a:r>
          </a:p>
          <a:p>
            <a:pPr algn="l"/>
            <a:r>
              <a:rPr sz="1200" b="0">
                <a:solidFill>
                  <a:srgbClr val="2C3E50"/>
                </a:solidFill>
                <a:latin typeface="Calibri"/>
              </a:rPr>
              <a:t>NHS, Shell, National Grid, HSBC, BT,</a:t>
            </a:r>
          </a:p>
          <a:p>
            <a:pPr algn="l"/>
            <a:r>
              <a:rPr sz="1200" b="0">
                <a:solidFill>
                  <a:srgbClr val="2C3E50"/>
                </a:solidFill>
                <a:latin typeface="Calibri"/>
              </a:rPr>
              <a:t>Netflix, Uber, Airbnb — and now Utilitics.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1463040"/>
            <a:ext cx="6035040" cy="4663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0" y="1463040"/>
            <a:ext cx="603504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5727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EEF"/>
                </a:solidFill>
                <a:latin typeface="Calibri"/>
              </a:rPr>
              <a:t>The Platform Stack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2011680"/>
            <a:ext cx="5486400" cy="658368"/>
          </a:xfrm>
          <a:prstGeom prst="rect">
            <a:avLst/>
          </a:prstGeom>
          <a:solidFill>
            <a:srgbClr val="6E4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4825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DATABRICKS WORKFLOWS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3591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Schedule &amp; automate pipelines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743200"/>
            <a:ext cx="5486400" cy="65836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7797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UNITY CATALOG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0906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Governance · Lineage · Delta Sharing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3474720"/>
            <a:ext cx="5486400" cy="65836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35112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DELTA LAKE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8221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ACID storage · Time Travel · Schema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206240"/>
            <a:ext cx="5486400" cy="65836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2428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APACHE SPARK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55371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Distributed compute — Python/SQL/Scala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4937760"/>
            <a:ext cx="5486400" cy="658368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49743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CLOUD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28523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ADLS Gen2 / S3 / GCS underneath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57424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Each layer builds on the one below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Databricks 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Why it's the industry standard for data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6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508760"/>
            <a:ext cx="3474720" cy="635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508760"/>
            <a:ext cx="63500" cy="192024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EEF"/>
                </a:solidFill>
                <a:latin typeface="Calibri"/>
              </a:rPr>
              <a:t>Apache Spark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0116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Processes data across many machines in parallel.
100x faster than traditional tools.
Same Python code — 1 machine or 1,000 machines.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2232" y="1508760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42232" y="1508760"/>
            <a:ext cx="3474720" cy="635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42232" y="1508760"/>
            <a:ext cx="63500" cy="19202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9392" y="16002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BC9C"/>
                </a:solidFill>
                <a:latin typeface="Calibri"/>
              </a:rPr>
              <a:t>Delta Lake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392" y="20116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ACID transactions — no corrupt data ever.
Time Travel — query data as it was yesterday.
Schema enforcement — bad data rejected at entry.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1508760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1508760"/>
            <a:ext cx="3474720" cy="635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0144" y="1508760"/>
            <a:ext cx="63500" cy="19202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16002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4F72"/>
                </a:solidFill>
                <a:latin typeface="Calibri"/>
              </a:rPr>
              <a:t>Medallion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0116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Bronze (raw) → Silver (clean) → Gold (business).
Industry standard pattern — what we built.
Each layer adds quality and business value.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566160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566160"/>
            <a:ext cx="3474720" cy="63500"/>
          </a:xfrm>
          <a:prstGeom prst="rect">
            <a:avLst/>
          </a:prstGeom>
          <a:solidFill>
            <a:srgbClr val="6E4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566160"/>
            <a:ext cx="63500" cy="1920240"/>
          </a:xfrm>
          <a:prstGeom prst="rect">
            <a:avLst/>
          </a:prstGeom>
          <a:solidFill>
            <a:srgbClr val="6E4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657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E40C9"/>
                </a:solidFill>
                <a:latin typeface="Calibri"/>
              </a:rPr>
              <a:t>Unity Catalog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0690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One place to control who sees what data.
Tracks every read/write — full audit trail.
Required for compliance and governance.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42232" y="3566160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42232" y="3566160"/>
            <a:ext cx="3474720" cy="635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42232" y="3566160"/>
            <a:ext cx="63500" cy="19202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79392" y="3657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7E22"/>
                </a:solidFill>
                <a:latin typeface="Calibri"/>
              </a:rPr>
              <a:t>Delta Sharing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9392" y="40690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Share Gold tables with vendors securely.
Open protocol — vendor needs no Databricks licence.
Read-only — no raw data ever exposed.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10144" y="3566160"/>
            <a:ext cx="34747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10144" y="3566160"/>
            <a:ext cx="3474720" cy="635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3566160"/>
            <a:ext cx="63500" cy="19202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7304" y="3657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Databricks Workflows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47304" y="40690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Schedule pipelines: daily, hourly, on-trigger.
Retry logic + alerting built in.
Replaces manual notebook runs — our Phase 9.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Why Azure Databricks?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Joint product — Microsoft + Databricks. Best of both worlds.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577840" cy="46634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57784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727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EEF"/>
                </a:solidFill>
                <a:latin typeface="Calibri"/>
              </a:rPr>
              <a:t>Azure Databricks vs Alternatives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938528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AEEF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93852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Azure
Databricks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193852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F8C8D"/>
                </a:solidFill>
                <a:latin typeface="Calibri"/>
              </a:rPr>
              <a:t>SQL
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93852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F8C8D"/>
                </a:solidFill>
                <a:latin typeface="Calibri"/>
              </a:rPr>
              <a:t>Self-managed
Spark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1938528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F8C8D"/>
                </a:solidFill>
                <a:latin typeface="Calibri"/>
              </a:rPr>
              <a:t>Azure
Synapse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423160"/>
            <a:ext cx="5440680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23160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Setup 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4231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4231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1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4231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1 week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4231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1 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752344"/>
            <a:ext cx="5440680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752344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Scale to billions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275234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Yes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275234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275234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BC9C"/>
                </a:solidFill>
                <a:latin typeface="Calibri"/>
              </a:rPr>
              <a:t>Yes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275234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BC9C"/>
                </a:solidFill>
                <a:latin typeface="Calibri"/>
              </a:rPr>
              <a:t>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081528"/>
            <a:ext cx="5440680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081528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Delta Lake native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74519" y="308152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08152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308152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Manual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308152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Partial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410712"/>
            <a:ext cx="5440680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41071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Unity Catalog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74519" y="341071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Yes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341071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0" y="341071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341071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739896"/>
            <a:ext cx="5440680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37398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Delta Sharing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37398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Yes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37398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7398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600" y="37398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069080"/>
            <a:ext cx="5440680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4069080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AI/ML built-in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74519" y="406908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Yes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406908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0" y="406908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0600" y="406908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Partial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398264"/>
            <a:ext cx="5440680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4398264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Cost (our POC)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74519" y="439826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£5-8/m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0360" y="439826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£50+/m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439826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£100+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0600" y="4398264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£20+/m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4727448"/>
            <a:ext cx="5440680" cy="310896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4727448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Azure AD integration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74519" y="472744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BC9C"/>
                </a:solidFill>
                <a:latin typeface="Calibri"/>
              </a:rPr>
              <a:t>Native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360" y="472744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40480" y="472744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  <a:latin typeface="Calibri"/>
              </a:rPr>
              <a:t>Manual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4727448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BC9C"/>
                </a:solidFill>
                <a:latin typeface="Calibri"/>
              </a:rPr>
              <a:t>Native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1463040"/>
            <a:ext cx="5760720" cy="46634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26480" y="1463040"/>
            <a:ext cx="5760720" cy="508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0" y="15727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BC9C"/>
                </a:solidFill>
                <a:latin typeface="Calibri"/>
              </a:rPr>
              <a:t>Azure Integrations We Use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2011680"/>
            <a:ext cx="54864" cy="25603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46520" y="201168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C9C"/>
                </a:solidFill>
                <a:latin typeface="Calibri"/>
              </a:rPr>
              <a:t>ADLS Gen2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20116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Our data lake — raw-data + processed-data containers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2395728"/>
            <a:ext cx="54864" cy="25603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46520" y="239572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Calibri"/>
              </a:rPr>
              <a:t>Secret Scope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8160" y="239572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poc-secrets — storage keys never hardcoded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779776"/>
            <a:ext cx="54864" cy="25603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46520" y="277977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72"/>
                </a:solidFill>
                <a:latin typeface="Calibri"/>
              </a:rPr>
              <a:t>Azure Active Directory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38160" y="277977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Workspace login — your Azure account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09360" y="3163824"/>
            <a:ext cx="54864" cy="2560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46520" y="316382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22"/>
                </a:solidFill>
                <a:latin typeface="Calibri"/>
              </a:rPr>
              <a:t>Azure Monitor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8160" y="316382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Budget alerts — ceiling set at $25/month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09360" y="3547872"/>
            <a:ext cx="54864" cy="25603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46520" y="354787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BC9C"/>
                </a:solidFill>
                <a:latin typeface="Calibri"/>
              </a:rPr>
              <a:t>Unity Catalog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0" y="354787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data_sharing_poc + bronze/silver/gold schemas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3931920"/>
            <a:ext cx="54864" cy="256032"/>
          </a:xfrm>
          <a:prstGeom prst="rect">
            <a:avLst/>
          </a:prstGeom>
          <a:solidFill>
            <a:srgbClr val="6E4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39319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E40C9"/>
                </a:solidFill>
                <a:latin typeface="Calibri"/>
              </a:rPr>
              <a:t>Azure Functions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38160" y="393192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Phase 10 — permanent ChatOps webhook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4315968"/>
            <a:ext cx="54864" cy="25603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6520" y="43159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Calibri"/>
              </a:rPr>
              <a:t>Azure SQL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8160" y="4315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6F7"/>
                </a:solidFill>
                <a:latin typeface="Calibri"/>
              </a:rPr>
              <a:t>Phase 10 — replaces SQLite for snapshot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Solution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End-to-end data platform — Medallion + Delta Sharing + ChatOps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8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2377440" cy="292608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5361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74520"/>
            <a:ext cx="21945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116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Smart Meters
(Parquet)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514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Network Assets
(SQL/SQLite)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Demand Forecasts
(Parquet)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6517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Calibri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1463040"/>
            <a:ext cx="2377440" cy="29260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15361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BRONZE LAYER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1874520"/>
            <a:ext cx="21945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20116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Raw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514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Delta Lake tables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Lineage metadata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26517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1463040"/>
            <a:ext cx="2377440" cy="2926080"/>
          </a:xfrm>
          <a:prstGeom prst="rect">
            <a:avLst/>
          </a:prstGeom>
          <a:solidFill>
            <a:srgbClr val="156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15361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SILVER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1874520"/>
            <a:ext cx="21945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32120" y="20116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Deduplication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2514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Derived columns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90688" y="265176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Calibri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1463040"/>
            <a:ext cx="2377440" cy="2926080"/>
          </a:xfrm>
          <a:prstGeom prst="rect">
            <a:avLst/>
          </a:prstGeom>
          <a:solidFill>
            <a:srgbClr val="1A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15361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GOLD LAYER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1874520"/>
            <a:ext cx="21945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20116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daily_meter_summary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2514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regional_demand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3017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network_assets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35204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• forecast_summary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663440"/>
            <a:ext cx="2560320" cy="1463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4663440"/>
            <a:ext cx="2560320" cy="508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BC9C"/>
                </a:solidFill>
                <a:latin typeface="Calibri"/>
              </a:rPr>
              <a:t>DELTA SHARING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5010912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Provider → Vendor
(read-only protocol)
Vendor write-back = separate share / API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54680" y="4663440"/>
            <a:ext cx="2560320" cy="1463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54680" y="4663440"/>
            <a:ext cx="256032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AEEF"/>
                </a:solidFill>
                <a:latin typeface="Calibri"/>
              </a:rPr>
              <a:t>CHATOPS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54680" y="5010912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WhatsApp → Claude AI
→ Pipeline control
(Live &amp; tested)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4663440"/>
            <a:ext cx="2560320" cy="1463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4663440"/>
            <a:ext cx="2560320" cy="50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7E22"/>
                </a:solidFill>
                <a:latin typeface="Calibri"/>
              </a:rPr>
              <a:t>POWER BI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5010912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Gold tables →
Dashboards &amp;
visualisation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15400" y="4663440"/>
            <a:ext cx="2560320" cy="1463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15400" y="4663440"/>
            <a:ext cx="2560320" cy="50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1540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4F72"/>
                </a:solidFill>
                <a:latin typeface="Calibri"/>
              </a:rPr>
              <a:t>WORKFLOWS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5400" y="5010912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Scheduled pipeline
Automation
(Azure — next)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Industry-standard tools — all production-grade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486400" cy="50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73152" cy="21945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536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4F72"/>
                </a:solidFill>
                <a:latin typeface="Calibri"/>
              </a:rPr>
              <a:t>Data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19202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Apache Spark / PySpark 3.5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16712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Distributed data processing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4871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Delta Lake 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27340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ACID transactions, time travel, schema enforcement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0540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Delta Sharing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3009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Open protocol for secure cross-org data sharing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463040"/>
            <a:ext cx="54864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463040"/>
            <a:ext cx="548640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1463040"/>
            <a:ext cx="73152" cy="219456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1536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EF"/>
                </a:solidFill>
                <a:latin typeface="Calibri"/>
              </a:rPr>
              <a:t>Azure Cloud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19202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Azure Databricks Premium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16712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Managed Spark + Unity Catalog + Delta Sharing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24871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ADLS Gen2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27340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Enterprise data lake storage (hierarchical namespace)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30540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Azure Key Vault /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5392" y="33009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Secure credential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794760"/>
            <a:ext cx="54864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3794760"/>
            <a:ext cx="5486400" cy="508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3794760"/>
            <a:ext cx="73152" cy="219456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86791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BC9C"/>
                </a:solidFill>
                <a:latin typeface="Calibri"/>
              </a:rPr>
              <a:t>Automation &amp; ChatOps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42519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Claude AI (Anthropic)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44988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AI reasoning + tool use to control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481888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Twilio WhatsApp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50657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WhatsApp channel for pipeline control messages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53858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FastAPI + ngrok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563270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Webhook server (local) → Azure Functions (cloud)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794760"/>
            <a:ext cx="54864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3794760"/>
            <a:ext cx="5486400" cy="50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3794760"/>
            <a:ext cx="73152" cy="21945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386791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7E22"/>
                </a:solidFill>
                <a:latin typeface="Calibri"/>
              </a:rPr>
              <a:t>Local &amp; Tooling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65392" y="42519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SQLite → Azure SQL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65392" y="44988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Snapshot data source — same JDBC pattern both envs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65392" y="481888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Power BI Desktop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65392" y="50657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Gold table visualisation, connects to Parquet/Delta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65392" y="53858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Python-pptx / python-docx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63270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Auto-generated documentation and 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Part 1 — Local POC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Fully complete. All 15 sections done.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2560320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256032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6002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AEEF"/>
                </a:solidFill>
                <a:latin typeface="Calibri"/>
              </a:rPr>
              <a:t>266,000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Records
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81528" y="1463040"/>
            <a:ext cx="2560320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81528" y="1463040"/>
            <a:ext cx="256032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1528" y="16002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AEEF"/>
                </a:solidFill>
                <a:latin typeface="Calibri"/>
              </a:rPr>
              <a:t>19 / 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1528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Quality Checks
Passed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88736" y="1463040"/>
            <a:ext cx="2560320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88736" y="1463040"/>
            <a:ext cx="256032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8736" y="16002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AEEF"/>
                </a:solidFill>
                <a:latin typeface="Calibri"/>
              </a:rPr>
              <a:t>~5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8736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End-to-End
Pipeline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95944" y="1463040"/>
            <a:ext cx="2560320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95944" y="1463040"/>
            <a:ext cx="256032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16002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AEEF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95944" y="2148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Development
Cost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834640"/>
            <a:ext cx="53949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2834640"/>
            <a:ext cx="5394960" cy="508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4F72"/>
                </a:solidFill>
                <a:latin typeface="Calibri"/>
              </a:rPr>
              <a:t>What We Built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383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✔  Medallion pipeline: Bronze → Silver → Gold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758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✔  3 data sources: Time Series, SQL Snapshot, Forecasts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133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✔  Delta Sharing: simulated Utilitics → vendor (read-only protocol)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5079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✔  ChatOps: WhatsApp → Claude AI → pipeline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8289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✔  Power BI: 4 Gold tables connected as dashboards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257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✔  SQLite as real DB source (Azure SQL in Part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327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✔  Full docs: Word guide, PPT, flow diagram (HTML)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2834640"/>
            <a:ext cx="5943600" cy="3291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2834640"/>
            <a:ext cx="5943600" cy="508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29260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BC9C"/>
                </a:solidFill>
                <a:latin typeface="Calibri"/>
              </a:rPr>
              <a:t>Live Highlight — ChatOps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342900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AEEF"/>
                </a:solidFill>
                <a:latin typeface="Calibr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4290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AEEF"/>
                </a:solidFill>
                <a:latin typeface="Calibri"/>
              </a:rPr>
              <a:t>WhatsApp message: 'Run pipeline'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3813048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AEEF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38130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Twilio receives → sends to webhook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197096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AEEF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419709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FastAPI webhook → Claude AI (tool use)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4581144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AEEF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58114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AEEF"/>
                </a:solidFill>
                <a:latin typeface="Calibri"/>
              </a:rPr>
              <a:t>Claude calls run_pipeline tool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965192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AEEF"/>
                </a:solidFill>
                <a:latin typeface="Calibr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49651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Pipeline runs in background (~3.5 min)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534924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AEEF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53492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BC9C"/>
                </a:solidFill>
                <a:latin typeface="Calibri"/>
              </a:rPr>
              <a:t>Result sent back to WhatsApp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Part 2 — Azure Cloud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Infrastructure complete. Pipeline ready to run.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11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5087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508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Azure Subscription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508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Pay-As-You-Go | Sub ID: d926b212-...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833372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83337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83337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Resource Group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8333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rg-databricks-poc (UK South)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57984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157984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21579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Databricks Workspace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1579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dbw-poc-datasharing — Premium SKU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82596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482596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4825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ADLS Gen2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4825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stpocadls4417 — raw-data + processed-data containers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807208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807208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28072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Data Uploaded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28072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69 files (Parquet) uploaded to ADLS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131820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31318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31318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Secret 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1318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poc-secrets — storage key secured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456432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345643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34564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Cluster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34564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poc-single-node — Standard_E2s_v3, 10 min auto-terminate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781044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3781044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378104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Unity Catalog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37810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Auto-enabled — data_sharing_poc catalog created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1508760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15087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8272" y="15087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Schemas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32520" y="15087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bronze / silver / gold schemas created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1833372"/>
            <a:ext cx="292608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3337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183337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  <a:latin typeface="Calibri"/>
              </a:rPr>
              <a:t>Notebooks Deployed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18333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9 notebooks uploaded to /POC/ workspace folder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2157984"/>
            <a:ext cx="292608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2157984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48272" y="21579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7E22"/>
                </a:solidFill>
                <a:latin typeface="Calibri"/>
              </a:rPr>
              <a:t>Pipeline Run on Azure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21579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01_generate_data → 05_validate — NEXT STEP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2482596"/>
            <a:ext cx="292608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2482596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48272" y="24825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7E22"/>
                </a:solidFill>
                <a:latin typeface="Calibri"/>
              </a:rPr>
              <a:t>Tables in Unity Catalog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2520" y="24825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Register Delta tables after pipeline run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2807208"/>
            <a:ext cx="292608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2807208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48272" y="280720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7E22"/>
                </a:solidFill>
                <a:latin typeface="Calibri"/>
              </a:rPr>
              <a:t>Real Delta Sharing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32520" y="28072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Phase 8 — Unity Catalog sharing setup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3131820"/>
            <a:ext cx="292608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31318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48272" y="31318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7E22"/>
                </a:solidFill>
                <a:latin typeface="Calibri"/>
              </a:rPr>
              <a:t>Databricks Workflows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32520" y="31318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Phase 9 — scheduled pipeline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0" y="3456432"/>
            <a:ext cx="292608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345643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48272" y="34564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7E22"/>
                </a:solidFill>
                <a:latin typeface="Calibri"/>
              </a:rPr>
              <a:t>Azure Functions ChatOps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32520" y="34564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Phase 10 — permanent webhook (no ngrok)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Achievements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What makes this POC stand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12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3474720" cy="1737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508760"/>
            <a:ext cx="3474720" cy="635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508760"/>
            <a:ext cx="63500" cy="173736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61848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EEF"/>
                </a:solidFill>
                <a:latin typeface="Calibri"/>
              </a:rPr>
              <a:t>Zero-Cost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07568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6F7"/>
                </a:solidFill>
                <a:latin typeface="Calibri"/>
              </a:rPr>
              <a:t>$0 spent during entire Part 1. Full platform validated before any Azure spend.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2232" y="1508760"/>
            <a:ext cx="3474720" cy="1737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42232" y="1508760"/>
            <a:ext cx="3474720" cy="635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42232" y="1508760"/>
            <a:ext cx="63500" cy="173736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9392" y="161848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BC9C"/>
                </a:solidFill>
                <a:latin typeface="Calibri"/>
              </a:rPr>
              <a:t>Live End-to-End Automation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392" y="207568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6F7"/>
                </a:solidFill>
                <a:latin typeface="Calibri"/>
              </a:rPr>
              <a:t>WhatsApp message triggers Claude AI which controls the pipeline. Tested live on 2026-03-20.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1508760"/>
            <a:ext cx="3474720" cy="1737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1508760"/>
            <a:ext cx="3474720" cy="635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0144" y="1508760"/>
            <a:ext cx="63500" cy="17373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47304" y="161848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4F72"/>
                </a:solidFill>
                <a:latin typeface="Calibri"/>
              </a:rPr>
              <a:t>Production-Grade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07568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6F7"/>
                </a:solidFill>
                <a:latin typeface="Calibri"/>
              </a:rPr>
              <a:t>Medallion pattern, Delta Lake ACID, Unity Catalog governance — same as enterprise deployments.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474720" cy="1737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429000"/>
            <a:ext cx="3474720" cy="635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63500" cy="1737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5387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7E22"/>
                </a:solidFill>
                <a:latin typeface="Calibri"/>
              </a:rPr>
              <a:t>Mixed Data 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99592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6F7"/>
                </a:solidFill>
                <a:latin typeface="Calibri"/>
              </a:rPr>
              <a:t>Time series (Parquet) + SQL database (SQLite→Azure SQL) + files — realistic real-world setup.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42232" y="3429000"/>
            <a:ext cx="3474720" cy="1737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42232" y="3429000"/>
            <a:ext cx="3474720" cy="635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42232" y="3429000"/>
            <a:ext cx="63500" cy="173736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79392" y="35387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EEF"/>
                </a:solidFill>
                <a:latin typeface="Calibri"/>
              </a:rPr>
              <a:t>Same Code — Two Environments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9392" y="399592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6F7"/>
                </a:solidFill>
                <a:latin typeface="Calibri"/>
              </a:rPr>
              <a:t>Only 3 lines change between local and Azure. No rewrite. No rework. Proven migration path.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10144" y="3429000"/>
            <a:ext cx="3474720" cy="1737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10144" y="3429000"/>
            <a:ext cx="3474720" cy="635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3429000"/>
            <a:ext cx="63500" cy="173736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7304" y="35387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BC9C"/>
                </a:solidFill>
                <a:latin typeface="Calibri"/>
              </a:rPr>
              <a:t>Full Documentation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47304" y="399592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6F7"/>
                </a:solidFill>
                <a:latin typeface="Calibri"/>
              </a:rPr>
              <a:t>Word guide, PowerPoint, interactive HTML flow diagram, conversation log — all auto-generated.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Remaining phases — Azure pipeline to production-ready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13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265176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508760"/>
            <a:ext cx="2651760" cy="635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508760"/>
            <a:ext cx="2651760" cy="41148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5087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011680"/>
            <a:ext cx="54864" cy="27432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116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3E50"/>
                </a:solidFill>
                <a:latin typeface="Calibri"/>
              </a:rPr>
              <a:t>Run Azure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313432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8C8D"/>
                </a:solidFill>
                <a:latin typeface="Calibri"/>
              </a:rPr>
              <a:t>01_generate_data → 05_validate on cloud cluster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00400"/>
            <a:ext cx="54864" cy="27432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004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3E50"/>
                </a:solidFill>
                <a:latin typeface="Calibri"/>
              </a:rPr>
              <a:t>Register Unity Catalog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02152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8C8D"/>
                </a:solidFill>
                <a:latin typeface="Calibri"/>
              </a:rPr>
              <a:t>Register all Delta tables in data_sharing_poc catalog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6120" y="1508760"/>
            <a:ext cx="265176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46120" y="1508760"/>
            <a:ext cx="2651760" cy="635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46120" y="1508760"/>
            <a:ext cx="2651760" cy="4114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15087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2011680"/>
            <a:ext cx="54864" cy="27432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0440" y="20116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3E50"/>
                </a:solidFill>
                <a:latin typeface="Calibri"/>
              </a:rPr>
              <a:t>Real Delta Sharing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2313432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8C8D"/>
                </a:solidFill>
                <a:latin typeface="Calibri"/>
              </a:rPr>
              <a:t>Unity Catalog shares — Utilitics → Vendor (read-only protocol)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3200400"/>
            <a:ext cx="54864" cy="27432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32004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3E50"/>
                </a:solidFill>
                <a:latin typeface="Calibri"/>
              </a:rPr>
              <a:t>Vendor write-back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502152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8C8D"/>
                </a:solidFill>
                <a:latin typeface="Calibri"/>
              </a:rPr>
              <a:t>Separate share or REST API for vendor → Utilitics responses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508760"/>
            <a:ext cx="265176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508760"/>
            <a:ext cx="2651760" cy="635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1508760"/>
            <a:ext cx="2651760" cy="41148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15087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2011680"/>
            <a:ext cx="54864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0116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3E50"/>
                </a:solidFill>
                <a:latin typeface="Calibri"/>
              </a:rPr>
              <a:t>Databricks Workflows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2313432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8C8D"/>
                </a:solidFill>
                <a:latin typeface="Calibri"/>
              </a:rPr>
              <a:t>Scheduled DAG replacing manual notebook runs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3200400"/>
            <a:ext cx="54864" cy="2743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32004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3E50"/>
                </a:solidFill>
                <a:latin typeface="Calibri"/>
              </a:rPr>
              <a:t>Alerting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3502152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8C8D"/>
                </a:solidFill>
                <a:latin typeface="Calibri"/>
              </a:rPr>
              <a:t>Email/WhatsApp on failure, Azure Monitor 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89720" y="1508760"/>
            <a:ext cx="265176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89720" y="1508760"/>
            <a:ext cx="2651760" cy="635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89720" y="1508760"/>
            <a:ext cx="265176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5087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26880" y="2011680"/>
            <a:ext cx="54864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20116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3E50"/>
                </a:solidFill>
                <a:latin typeface="Calibri"/>
              </a:rPr>
              <a:t>Azure Functions webhook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2313432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8C8D"/>
                </a:solidFill>
                <a:latin typeface="Calibri"/>
              </a:rPr>
              <a:t>Permanent ChatOps endpoint — no more ngrok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3200400"/>
            <a:ext cx="54864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4040" y="32004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3E50"/>
                </a:solidFill>
                <a:latin typeface="Calibri"/>
              </a:rPr>
              <a:t>Azure SQL migration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3502152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8C8D"/>
                </a:solidFill>
                <a:latin typeface="Calibri"/>
              </a:rPr>
              <a:t>Replace SQLite with Azure SQL (one connection string change)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Business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AEEF"/>
                </a:solidFill>
                <a:latin typeface="Calibri"/>
              </a:rPr>
              <a:t>What this platform delivers when complete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14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08760"/>
            <a:ext cx="3474720" cy="1691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508760"/>
            <a:ext cx="3474720" cy="635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EEF"/>
                </a:solidFill>
                <a:latin typeface="Calibri"/>
              </a:rPr>
              <a:t>Cost 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03911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6F7"/>
                </a:solidFill>
                <a:latin typeface="Calibri"/>
              </a:rPr>
              <a:t>~$5-8/month on Azure vs enterprise alternatives at $500+/month.
Full Premium Databricks features at minimal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2232" y="1508760"/>
            <a:ext cx="3474720" cy="1691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42232" y="1508760"/>
            <a:ext cx="3474720" cy="635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9392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BC9C"/>
                </a:solidFill>
                <a:latin typeface="Calibri"/>
              </a:rPr>
              <a:t>Data Governance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9392" y="203911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6F7"/>
                </a:solidFill>
                <a:latin typeface="Calibri"/>
              </a:rPr>
              <a:t>Unity Catalog provides centralised access control, lineage tracking,
and auditable data sharing — meets compliance requirements.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1508760"/>
            <a:ext cx="3474720" cy="1691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1508760"/>
            <a:ext cx="3474720" cy="635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7304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4F72"/>
                </a:solidFill>
                <a:latin typeface="Calibri"/>
              </a:rPr>
              <a:t>Vendor Data Sharing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7304" y="203911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6F7"/>
                </a:solidFill>
                <a:latin typeface="Calibri"/>
              </a:rPr>
              <a:t>Delta Sharing protocol allows external vendors to access
Gold data securely without copying or exposing raw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383280"/>
            <a:ext cx="3474720" cy="1691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383280"/>
            <a:ext cx="3474720" cy="635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7E22"/>
                </a:solidFill>
                <a:latin typeface="Calibri"/>
              </a:rPr>
              <a:t>Operational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91363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6F7"/>
                </a:solidFill>
                <a:latin typeface="Calibri"/>
              </a:rPr>
              <a:t>Pipeline controllable via WhatsApp from anywhere.
Claude AI interprets natural language commands — no CLI needed.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2232" y="3383280"/>
            <a:ext cx="3474720" cy="1691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42232" y="3383280"/>
            <a:ext cx="3474720" cy="635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EEF"/>
                </a:solidFill>
                <a:latin typeface="Calibri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391363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6F7"/>
                </a:solidFill>
                <a:latin typeface="Calibri"/>
              </a:rPr>
              <a:t>From 266K records (POC) to millions — same architecture.
Add more data sources by adding one notebook.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10144" y="3383280"/>
            <a:ext cx="3474720" cy="16916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10144" y="3383280"/>
            <a:ext cx="3474720" cy="6350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7304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BC9C"/>
                </a:solidFill>
                <a:latin typeface="Calibri"/>
              </a:rPr>
              <a:t>Team Enablement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7304" y="3913632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6F7"/>
                </a:solidFill>
                <a:latin typeface="Calibri"/>
              </a:rPr>
              <a:t>Full documentation, conversation log, and guides created.
Any team member can pick up, understand, and extend the work.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3657600" cy="381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00AEE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8C8D"/>
                </a:solidFill>
                <a:latin typeface="Calibri"/>
              </a:rPr>
              <a:t>Presenter: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2004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Radhakrishnan Karnakumar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8C8D"/>
                </a:solidFill>
                <a:latin typeface="Calibri"/>
              </a:rPr>
              <a:t>Workspace: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61188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https://adb-7405604806384457.17.azuredatabricks.net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8C8D"/>
                </a:solidFill>
                <a:latin typeface="Calibri"/>
              </a:rPr>
              <a:t>Repo: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02336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C:/Projects/databricks-poc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348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F8C8D"/>
                </a:solidFill>
                <a:latin typeface="Calibri"/>
              </a:rPr>
              <a:t>Docs: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4348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docs/Utilitics_Implementation_Guide.docx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926080" cy="4572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1371600"/>
            <a:ext cx="2926080" cy="50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4447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AEEF"/>
                </a:solidFill>
                <a:latin typeface="Calibri"/>
              </a:rPr>
              <a:t>POC IN NUMBERS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F8C8D"/>
                </a:solidFill>
                <a:latin typeface="Calibri"/>
              </a:rPr>
              <a:t>UTILITICS | Azure Databricks Data Sharing Platform |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5105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F8C8D"/>
                </a:solidFill>
                <a:latin typeface="Calibri"/>
              </a:rPr>
              <a:t>15 /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92024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AEEF"/>
                </a:solidFill>
                <a:latin typeface="Calibri"/>
              </a:rPr>
              <a:t>266,000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19202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records generated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30428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AEEF"/>
                </a:solidFill>
                <a:latin typeface="Calibri"/>
              </a:rPr>
              <a:t>19 / 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23042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quality checks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68833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AEEF"/>
                </a:solidFill>
                <a:latin typeface="Calibri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68833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Azure components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07238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AEE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0723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notebooks deployed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345643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AEE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4564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Claude AI tools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8404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AEEF"/>
                </a:solidFill>
                <a:latin typeface="Calibri"/>
              </a:rPr>
              <a:t>$0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38404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local dev 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22452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AEEF"/>
                </a:solidFill>
                <a:latin typeface="Calibri"/>
              </a:rPr>
              <a:t>~$5-8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2245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per month on Azure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