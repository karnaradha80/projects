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UTILITICS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Azure Databricks
Data Sharing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AEEF"/>
                </a:solidFill>
                <a:latin typeface="Calibri"/>
              </a:rPr>
              <a:t>Proof of Concept — Progress &amp; Roadmap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657600"/>
            <a:ext cx="3657600" cy="254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Presented by:  Radhakrishnan Karnakumar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8C8D"/>
                </a:solidFill>
                <a:latin typeface="Calibri"/>
              </a:rPr>
              <a:t>Date: 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663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F8C8D"/>
                </a:solidFill>
                <a:latin typeface="Calibri"/>
              </a:rPr>
              <a:t>Audience:  Executive Leadership + Technical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1371600"/>
            <a:ext cx="2286000" cy="41148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0116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EEF"/>
                </a:solidFill>
                <a:latin typeface="Calibri"/>
              </a:rPr>
              <a:t>POC
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3200400"/>
            <a:ext cx="1920240" cy="254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BC9C"/>
                </a:solidFill>
                <a:latin typeface="Calibri"/>
              </a:rPr>
              <a:t>Part 1
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4023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  <a:latin typeface="Calibri"/>
              </a:rPr>
              <a:t>Part 2
In Progress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What we will cover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2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6576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50800" cy="6583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" y="1563624"/>
            <a:ext cx="347472" cy="3474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5636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5087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Business Requirement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80136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What was asked of 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30552"/>
            <a:ext cx="36576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130552"/>
            <a:ext cx="50800" cy="6583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" y="2276856"/>
            <a:ext cx="347472" cy="3474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2768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2219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Our Approach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51460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Local first, then Azure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43784"/>
            <a:ext cx="36576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843784"/>
            <a:ext cx="50800" cy="6583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" y="2990088"/>
            <a:ext cx="347472" cy="3474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9900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93522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What is Databricks?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22783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Platform overview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557016"/>
            <a:ext cx="36576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557016"/>
            <a:ext cx="50800" cy="6583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" y="3703320"/>
            <a:ext cx="347472" cy="3474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703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64845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Databricks Key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94106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Delta Lake, Unity Catalog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270248"/>
            <a:ext cx="36576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270248"/>
            <a:ext cx="50800" cy="6583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7472" y="4416552"/>
            <a:ext cx="347472" cy="3474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44165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36168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Why Azure Databricks?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65429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Cost, integration, vs alternatives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1417320"/>
            <a:ext cx="36576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06240" y="1417320"/>
            <a:ext cx="50800" cy="6583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79392" y="1563624"/>
            <a:ext cx="347472" cy="3474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9392" y="15636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15087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Solution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180136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End-to-end design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2130552"/>
            <a:ext cx="36576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06240" y="2130552"/>
            <a:ext cx="50800" cy="6583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79392" y="2276856"/>
            <a:ext cx="347472" cy="3474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79392" y="22768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60" y="22219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Technology Stack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60" y="251460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Tools used and why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2843784"/>
            <a:ext cx="36576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06240" y="2843784"/>
            <a:ext cx="50800" cy="6583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79392" y="2990088"/>
            <a:ext cx="347472" cy="3474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79392" y="29900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60" y="293522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Part 1 — Local POC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60" y="322783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What we built, fully working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40" y="3557016"/>
            <a:ext cx="36576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06240" y="3557016"/>
            <a:ext cx="50800" cy="6583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79392" y="3703320"/>
            <a:ext cx="347472" cy="3474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79392" y="3703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9160" y="3648456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Part 2 — Azure Migration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9160" y="3941064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Current cloud progress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06240" y="4270248"/>
            <a:ext cx="36576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06240" y="4270248"/>
            <a:ext cx="50800" cy="6583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79392" y="4416552"/>
            <a:ext cx="347472" cy="3474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79392" y="44165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09160" y="436168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Key Achievements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9160" y="4654296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Highlights and live features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38160" y="1417320"/>
            <a:ext cx="36576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138160" y="1417320"/>
            <a:ext cx="50800" cy="6583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1312" y="1563624"/>
            <a:ext cx="347472" cy="3474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11312" y="15636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11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41080" y="15087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What's Next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41080" y="1801368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Remaining phases and plan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38160" y="2130552"/>
            <a:ext cx="36576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38160" y="2130552"/>
            <a:ext cx="50800" cy="6583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211312" y="2276856"/>
            <a:ext cx="347472" cy="3474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11312" y="22768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41080" y="22219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Business Value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41080" y="2514600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What this delivers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38160" y="2843784"/>
            <a:ext cx="36576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138160" y="2843784"/>
            <a:ext cx="50800" cy="6583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211312" y="2990088"/>
            <a:ext cx="347472" cy="3474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11312" y="29900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13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41080" y="2935224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Q &amp; 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41080" y="3227832"/>
            <a:ext cx="3063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Open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Business 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What was asked — Statement of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3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5394960" cy="508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F72"/>
                </a:solidFill>
                <a:latin typeface="Calibri"/>
              </a:rPr>
              <a:t>The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574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Build a modern Data Sharing Platform on Azure Databricks</a:t>
            </a:r>
          </a:p>
          <a:p>
            <a:pPr algn="l"/>
            <a:r>
              <a:rPr sz="1300" b="1">
                <a:solidFill>
                  <a:srgbClr val="2C3E50"/>
                </a:solidFill>
                <a:latin typeface="Calibri"/>
              </a:rPr>
              <a:t>Handle 3 types of energy data from Utilitics:</a:t>
            </a:r>
          </a:p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    Time Series — 168,000 meter readings (CSV file drops)</a:t>
            </a:r>
          </a:p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    Snapshot   — 14,000 network asset records (SQLite DB)</a:t>
            </a:r>
          </a:p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    File Data  — 84,000 demand forecast records (Parquet)</a:t>
            </a:r>
          </a:p>
          <a:p>
            <a:pPr algn="l"/>
            <a:r>
              <a:rPr sz="1300" b="1">
                <a:solidFill>
                  <a:srgbClr val="2C3E50"/>
                </a:solidFill>
                <a:latin typeface="Calibri"/>
              </a:rPr>
              <a:t>Implement Medallion architecture (Bronze → Silver → Gold)</a:t>
            </a:r>
          </a:p>
          <a:p>
            <a:pPr algn="l"/>
            <a:r>
              <a:rPr sz="1300" b="1">
                <a:solidFill>
                  <a:srgbClr val="2C3E50"/>
                </a:solidFill>
                <a:latin typeface="Calibri"/>
              </a:rPr>
              <a:t>Enable secure Delta Sharing with external vendors</a:t>
            </a:r>
          </a:p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Automate pipeline execution and monitoring</a:t>
            </a:r>
          </a:p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Keep costs under $25/month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463040"/>
            <a:ext cx="5943600" cy="4663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463040"/>
            <a:ext cx="594360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554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EEF"/>
                </a:solidFill>
                <a:latin typeface="Calibri"/>
              </a:rPr>
              <a:t>Success Criteria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  <a:latin typeface="Calibri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57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Full pipeline runs end-to-end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4688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  <a:latin typeface="Calibri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468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19/19 data quality checks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8803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  <a:latin typeface="Calibri"/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8803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Data shared with vendor (Utilitics→Vendor, read-only)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9184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  <a:latin typeface="Calibri"/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291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Pipeline controllable via WhatsApp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70332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  <a:latin typeface="Calibri"/>
              </a:rPr>
              <a:t>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03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Gold data visible in Power 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1148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114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Runs on Azure cloud (not just local)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5262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526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Scheduled automation (Workflows)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Our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Local first — then Azure. Zero risk, zero wasted spend.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4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577840" cy="4663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5577840" cy="635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1097280" cy="5029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4630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57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Local Development (Zero Cost)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060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7"/>
                </a:solidFill>
                <a:latin typeface="Calibri"/>
              </a:rPr>
              <a:t>  Build entire platform on Windows 11 laptop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9992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7"/>
                </a:solidFill>
                <a:latin typeface="Calibri"/>
              </a:rPr>
              <a:t>  PySpark + Delta Lake — same code as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3924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7"/>
                </a:solidFill>
                <a:latin typeface="Calibri"/>
              </a:rPr>
              <a:t>  Validate all logic before spending on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78561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7"/>
                </a:solidFill>
                <a:latin typeface="Calibri"/>
              </a:rPr>
              <a:t>  Fast iteration — no cluster startup 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1788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7"/>
                </a:solidFill>
                <a:latin typeface="Calibri"/>
              </a:rPr>
              <a:t>  Cost: $0   Duration: 2 weeks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5577840" cy="4663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463040"/>
            <a:ext cx="5577840" cy="635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463040"/>
            <a:ext cx="1097280" cy="50292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4630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57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Azure Cloud Migration (~$5-8/month)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6060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7"/>
                </a:solidFill>
                <a:latin typeface="Calibri"/>
              </a:rPr>
              <a:t>  Lift-and-shift: 3 path changes, code unchanged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9992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7"/>
                </a:solidFill>
                <a:latin typeface="Calibri"/>
              </a:rPr>
              <a:t>  ADLS Gen2 storage + Databricks Premium workspace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3924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7"/>
                </a:solidFill>
                <a:latin typeface="Calibri"/>
              </a:rPr>
              <a:t>  Unity Catalog for governance &amp; Delta Sharing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78561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7"/>
                </a:solidFill>
                <a:latin typeface="Calibri"/>
              </a:rPr>
              <a:t>  Databricks Workflows for scheduling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1788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7"/>
                </a:solidFill>
                <a:latin typeface="Calibri"/>
              </a:rPr>
              <a:t>  Azure Functions for permanent ChatOps webhook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3474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AEEF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2819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Insight:  Same Python code runs locally and on Azure — only file paths change. No rewrite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is Databricks?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Founded 2013 by creators of Apache Spark (UC Berkeley)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5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30352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5303520" cy="508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72"/>
                </a:solidFill>
                <a:latin typeface="Calibri"/>
              </a:rPr>
              <a:t>In Simple Terms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latin typeface="Calibri"/>
              </a:rPr>
              <a:t>Think of it as...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Calibri"/>
              </a:rPr>
              <a:t>Excel for millions of rows — running in the cloud,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Calibri"/>
              </a:rPr>
              <a:t>processing data 100x faster than traditional tools,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Calibri"/>
              </a:rPr>
              <a:t>with AI, governance, and sharing built in.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1">
                <a:solidFill>
                  <a:srgbClr val="2C3E50"/>
                </a:solidFill>
                <a:latin typeface="Calibri"/>
              </a:rPr>
              <a:t>What it replaces...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Calibri"/>
              </a:rPr>
              <a:t>Multiple tools: ETL tools + data warehouses +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Calibri"/>
              </a:rPr>
              <a:t>ML platforms + data catalogues + file storage =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Calibri"/>
              </a:rPr>
              <a:t>all unified in one platform.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1">
                <a:solidFill>
                  <a:srgbClr val="2C3E50"/>
                </a:solidFill>
                <a:latin typeface="Calibri"/>
              </a:rPr>
              <a:t>Who uses it...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Calibri"/>
              </a:rPr>
              <a:t>NHS, Shell, National Grid, HSBC, BT,</a:t>
            </a:r>
          </a:p>
          <a:p>
            <a:pPr algn="l"/>
            <a:r>
              <a:rPr sz="1200" b="0">
                <a:solidFill>
                  <a:srgbClr val="2C3E50"/>
                </a:solidFill>
                <a:latin typeface="Calibri"/>
              </a:rPr>
              <a:t>Netflix, Uber, Airbnb — and now Utilitics.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463040"/>
            <a:ext cx="6035040" cy="4663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1463040"/>
            <a:ext cx="603504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57276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EEF"/>
                </a:solidFill>
                <a:latin typeface="Calibri"/>
              </a:rPr>
              <a:t>The Platform 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011680"/>
            <a:ext cx="5486400" cy="658368"/>
          </a:xfrm>
          <a:prstGeom prst="rect">
            <a:avLst/>
          </a:prstGeom>
          <a:solidFill>
            <a:srgbClr val="6E4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0482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DATABRICKS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3591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Schedule &amp; automate pipelines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743200"/>
            <a:ext cx="5486400" cy="6583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7797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UNITY CATALOG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0906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Governance · Lineage · Delta Sharing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474720"/>
            <a:ext cx="5486400" cy="6583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35112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DELTA LAKE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8221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ACID storage · Time Travel · Schema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206240"/>
            <a:ext cx="5486400" cy="65836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2428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APACHE SPARK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5537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Distributed compute — Python/SQL/Scala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937760"/>
            <a:ext cx="5486400" cy="6583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9743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CLOUD 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2852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ADLS Gen2 / S3 / GCS underneath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57424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  <a:latin typeface="Calibri"/>
              </a:rPr>
              <a:t>Each layer builds on the one below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Databricks 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Why it's the industry standard for data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6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34747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508760"/>
            <a:ext cx="3474720" cy="635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508760"/>
            <a:ext cx="63500" cy="192024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002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EEF"/>
                </a:solidFill>
                <a:latin typeface="Calibri"/>
              </a:rPr>
              <a:t>Apache Spark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01168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Processes data across many machines in parallel.
100x faster than traditional tools.
Same Python code — 1 machine or 1,000 machines.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42232" y="1508760"/>
            <a:ext cx="34747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42232" y="1508760"/>
            <a:ext cx="3474720" cy="635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42232" y="1508760"/>
            <a:ext cx="63500" cy="19202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16002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  <a:latin typeface="Calibri"/>
              </a:rPr>
              <a:t>Delta Lake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2" y="201168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ACID transactions — no corrupt data ever.
Time Travel — query data as it was yesterday.
Schema enforcement — bad data rejected at entry.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0144" y="1508760"/>
            <a:ext cx="34747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0144" y="1508760"/>
            <a:ext cx="3474720" cy="635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1508760"/>
            <a:ext cx="63500" cy="1920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4" y="16002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4F72"/>
                </a:solidFill>
                <a:latin typeface="Calibri"/>
              </a:rPr>
              <a:t>Medallion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201168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Bronze (raw) → Silver (clean) → Gold (business).
Industry standard pattern — what we built.
Each layer adds quality and business value.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566160"/>
            <a:ext cx="34747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566160"/>
            <a:ext cx="3474720" cy="63500"/>
          </a:xfrm>
          <a:prstGeom prst="rect">
            <a:avLst/>
          </a:prstGeom>
          <a:solidFill>
            <a:srgbClr val="6E4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566160"/>
            <a:ext cx="63500" cy="1920240"/>
          </a:xfrm>
          <a:prstGeom prst="rect">
            <a:avLst/>
          </a:prstGeom>
          <a:solidFill>
            <a:srgbClr val="6E4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6576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40C9"/>
                </a:solidFill>
                <a:latin typeface="Calibri"/>
              </a:rPr>
              <a:t>Unity Catalog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06908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One place to control who sees what data.
Tracks every read/write — full audit trail.
Required for compliance and governance.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42232" y="3566160"/>
            <a:ext cx="34747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42232" y="3566160"/>
            <a:ext cx="3474720" cy="635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42232" y="3566160"/>
            <a:ext cx="63500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79392" y="36576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Delta Sharing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406908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Share Gold tables with vendors securely.
Open protocol — vendor needs no Databricks licence.
Read-only — no raw data ever exposed.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10144" y="3566160"/>
            <a:ext cx="34747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10144" y="3566160"/>
            <a:ext cx="3474720" cy="6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10144" y="3566160"/>
            <a:ext cx="6350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47304" y="365760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Databricks Workflows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47304" y="406908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Schedule pipelines: daily, hourly, on-trigger.
Retry logic + alerting built in.
Replaces manual notebook runs — our Phase 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Azure Databricks?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Joint product — Microsoft + Databricks. Best of both worlds.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7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577840" cy="4663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557784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EEF"/>
                </a:solidFill>
                <a:latin typeface="Calibri"/>
              </a:rPr>
              <a:t>Azure Databricks vs Alternatives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9385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AEEF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93852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  <a:latin typeface="Calibri"/>
              </a:rPr>
              <a:t>Azure
Databricks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193852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F8C8D"/>
                </a:solidFill>
                <a:latin typeface="Calibri"/>
              </a:rPr>
              <a:t>SQL
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93852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F8C8D"/>
                </a:solidFill>
                <a:latin typeface="Calibri"/>
              </a:rPr>
              <a:t>Self-managed
Spark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193852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F8C8D"/>
                </a:solidFill>
                <a:latin typeface="Calibri"/>
              </a:rPr>
              <a:t>Azure
Synapse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423160"/>
            <a:ext cx="5440680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423160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Setup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42316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  <a:latin typeface="Calibri"/>
              </a:rPr>
              <a:t>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42316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8C8D"/>
                </a:solidFill>
                <a:latin typeface="Calibri"/>
              </a:rPr>
              <a:t>1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42316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8C8D"/>
                </a:solidFill>
                <a:latin typeface="Calibri"/>
              </a:rPr>
              <a:t>1 week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42316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8C8D"/>
                </a:solidFill>
                <a:latin typeface="Calibri"/>
              </a:rPr>
              <a:t>1 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752344"/>
            <a:ext cx="5440680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752344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Scale to billions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275234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  <a:latin typeface="Calibri"/>
              </a:rPr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275234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75234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BC9C"/>
                </a:solidFill>
                <a:latin typeface="Calibri"/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275234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BC9C"/>
                </a:solidFill>
                <a:latin typeface="Calibri"/>
              </a:rPr>
              <a:t>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081528"/>
            <a:ext cx="5440680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08152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Delta Lake native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308152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  <a:latin typeface="Calibri"/>
              </a:rPr>
              <a:t>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08152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308152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Manual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308152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8C8D"/>
                </a:solidFill>
                <a:latin typeface="Calibri"/>
              </a:rPr>
              <a:t>Partial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410712"/>
            <a:ext cx="5440680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41071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Unity Catalog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74519" y="3410712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  <a:latin typeface="Calibri"/>
              </a:rPr>
              <a:t>Yes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3410712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3410712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3410712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739896"/>
            <a:ext cx="5440680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373989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Delta Sharing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74519" y="373989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  <a:latin typeface="Calibri"/>
              </a:rPr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373989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373989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373989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069080"/>
            <a:ext cx="5440680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4069080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AI/ML built-in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74519" y="406908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  <a:latin typeface="Calibri"/>
              </a:rPr>
              <a:t>Yes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406908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406908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0600" y="406908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8C8D"/>
                </a:solidFill>
                <a:latin typeface="Calibri"/>
              </a:rPr>
              <a:t>Partial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398264"/>
            <a:ext cx="5440680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398264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Cost (our POC)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74519" y="439826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  <a:latin typeface="Calibri"/>
              </a:rPr>
              <a:t>£5-8/m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80360" y="439826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8C8D"/>
                </a:solidFill>
                <a:latin typeface="Calibri"/>
              </a:rPr>
              <a:t>£50+/m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439826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8C8D"/>
                </a:solidFill>
                <a:latin typeface="Calibri"/>
              </a:rPr>
              <a:t>£100+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00600" y="439826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8C8D"/>
                </a:solidFill>
                <a:latin typeface="Calibri"/>
              </a:rPr>
              <a:t>£20+/m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727448"/>
            <a:ext cx="5440680" cy="31089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472744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Azure AD integration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74519" y="472744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BC9C"/>
                </a:solidFill>
                <a:latin typeface="Calibri"/>
              </a:rPr>
              <a:t>Native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80360" y="472744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40480" y="472744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392B"/>
                </a:solidFill>
                <a:latin typeface="Calibri"/>
              </a:rPr>
              <a:t>Manual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0600" y="472744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BC9C"/>
                </a:solidFill>
                <a:latin typeface="Calibri"/>
              </a:rPr>
              <a:t>Native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0" y="1463040"/>
            <a:ext cx="5760720" cy="4663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26480" y="1463040"/>
            <a:ext cx="5760720" cy="508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0" y="15727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  <a:latin typeface="Calibri"/>
              </a:rPr>
              <a:t>Azure Integrations We Use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09360" y="2011680"/>
            <a:ext cx="54864" cy="25603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46520" y="201168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BC9C"/>
                </a:solidFill>
                <a:latin typeface="Calibri"/>
              </a:rPr>
              <a:t>ADLS Gen2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201168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Our data lake — raw-data + processed-data containers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2395728"/>
            <a:ext cx="54864" cy="25603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46520" y="23957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EF"/>
                </a:solidFill>
                <a:latin typeface="Calibri"/>
              </a:rPr>
              <a:t>Secret Scope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38160" y="23957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poc-secrets — storage keys never hardcoded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09360" y="2779776"/>
            <a:ext cx="54864" cy="25603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46520" y="27797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72"/>
                </a:solidFill>
                <a:latin typeface="Calibri"/>
              </a:rPr>
              <a:t>Azure Active Directory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38160" y="277977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Workspace login — your Azure account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09360" y="3163824"/>
            <a:ext cx="54864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46520" y="3163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alibri"/>
              </a:rPr>
              <a:t>Azure Monitor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38160" y="316382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Budget alerts — ceiling set at $25/month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309360" y="3547872"/>
            <a:ext cx="54864" cy="25603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46520" y="35478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BC9C"/>
                </a:solidFill>
                <a:latin typeface="Calibri"/>
              </a:rPr>
              <a:t>Unity Catalog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38160" y="35478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data_sharing_poc + bronze/silver/gold schemas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09360" y="3931920"/>
            <a:ext cx="54864" cy="256032"/>
          </a:xfrm>
          <a:prstGeom prst="rect">
            <a:avLst/>
          </a:prstGeom>
          <a:solidFill>
            <a:srgbClr val="6E4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46520" y="39319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40C9"/>
                </a:solidFill>
                <a:latin typeface="Calibri"/>
              </a:rPr>
              <a:t>Azure Functions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38160" y="39319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Phase 10 — permanent ChatOps webhook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4315968"/>
            <a:ext cx="54864" cy="25603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46520" y="43159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EF"/>
                </a:solidFill>
                <a:latin typeface="Calibri"/>
              </a:rPr>
              <a:t>Azure SQL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38160" y="43159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6F7"/>
                </a:solidFill>
                <a:latin typeface="Calibri"/>
              </a:rPr>
              <a:t>Phase 10 — replaces SQLite for snapshot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Solution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End-to-end data platform — Medallion + Delta Sharing + ChatOps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8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2377440" cy="29260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5361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74520"/>
            <a:ext cx="21945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11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Smart Meters
(CSV)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514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Network Assets
(SQLite DB)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Demand Forecasts
(Parquet)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6517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EEF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1463040"/>
            <a:ext cx="2377440" cy="2926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15361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BRONZE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1874520"/>
            <a:ext cx="21945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2011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Raw ingestion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2514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Delta Lake 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Lineage metadata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6517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EEF"/>
                </a:solidFill>
                <a:latin typeface="Calibri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1463040"/>
            <a:ext cx="2377440" cy="2926080"/>
          </a:xfrm>
          <a:prstGeom prst="rect">
            <a:avLst/>
          </a:prstGeom>
          <a:solidFill>
            <a:srgbClr val="156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15361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SILVER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1874520"/>
            <a:ext cx="21945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2011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Deduplication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2514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Derived columns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26517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EEF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1463040"/>
            <a:ext cx="2377440" cy="2926080"/>
          </a:xfrm>
          <a:prstGeom prst="rect">
            <a:avLst/>
          </a:prstGeom>
          <a:solidFill>
            <a:srgbClr val="1A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0" y="15361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GOLD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1874520"/>
            <a:ext cx="219456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20116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daily_meter_summary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2514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regional_demand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network_assets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3520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forecast_summary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663440"/>
            <a:ext cx="2560320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4663440"/>
            <a:ext cx="2560320" cy="508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BC9C"/>
                </a:solidFill>
                <a:latin typeface="Calibri"/>
              </a:rPr>
              <a:t>DELTA SHARING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5010912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Provider → Vendor
(read-only protocol)
Vendor write-back = separate share / 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4663440"/>
            <a:ext cx="2560320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54680" y="4663440"/>
            <a:ext cx="256032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5468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EEF"/>
                </a:solidFill>
                <a:latin typeface="Calibri"/>
              </a:rPr>
              <a:t>CHATOPS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54680" y="5010912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WhatsApp → Claude AI
→ Pipeline control
(Live &amp; tested)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4663440"/>
            <a:ext cx="2560320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4663440"/>
            <a:ext cx="2560320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7E22"/>
                </a:solidFill>
                <a:latin typeface="Calibri"/>
              </a:rPr>
              <a:t>POWER BI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5010912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Gold tables →
Dashboards &amp;
visualisation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15400" y="4663440"/>
            <a:ext cx="2560320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15400" y="4663440"/>
            <a:ext cx="2560320" cy="508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1540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4F72"/>
                </a:solidFill>
                <a:latin typeface="Calibri"/>
              </a:rPr>
              <a:t>WORKFLOWS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5010912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Scheduled pipeline
Automation
(Azure — next)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Industry-standard tools — all production-grade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9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5486400" cy="508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73152" cy="21945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5361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72"/>
                </a:solidFill>
                <a:latin typeface="Calibri"/>
              </a:rPr>
              <a:t>Data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1920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Apache Spark / PySpark 3.5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1671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Distributed data processing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4871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Delta Lake 3.1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27340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ACID transactions, time travel, schema 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30540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Delta Sharing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30098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Open protocol for secure cross-org data sharing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48640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463040"/>
            <a:ext cx="73152" cy="21945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15361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EF"/>
                </a:solidFill>
                <a:latin typeface="Calibri"/>
              </a:rPr>
              <a:t>Azure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1920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Azure Databricks Premium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21671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Managed Spark + Unity Catalog + Delta Sharing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24871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ADLS Gen2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27340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Enterprise data lake storage (hierarchical namespace)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30540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Azure Key Vault / Secrets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330098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Secure credential management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9476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794760"/>
            <a:ext cx="5486400" cy="508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794760"/>
            <a:ext cx="73152" cy="21945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38679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  <a:latin typeface="Calibri"/>
              </a:rPr>
              <a:t>Automation &amp; ChatOps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2519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Claude AI (Anthropic)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4988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AI reasoning + tool use — 7 pipeline control tools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48188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Twilio WhatsApp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50657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WhatsApp channel for pipeline control messages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53858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FastAPI + ngrok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563270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Webhook server (local) → Azure Functions (cloud)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794760"/>
            <a:ext cx="54864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3794760"/>
            <a:ext cx="5486400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3794760"/>
            <a:ext cx="73152" cy="2194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38679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  <a:latin typeface="Calibri"/>
              </a:rPr>
              <a:t>Local &amp; Tooling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42519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SQLite → Azure SQL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392" y="44988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Snapshot source — same JDBC pattern both environments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65392" y="48188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GitHub Actions CI/CD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5392" y="50657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Syntax + secrets check on push, auto-deploy notebooks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5392" y="53858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Nightly Build (Task Scheduler)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65392" y="563270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2 AM pipeline run + WhatsApp result notification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Part 1 — Local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Fully complete. All 15 sections done.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10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2560320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256032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600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EEF"/>
                </a:solidFill>
                <a:latin typeface="Calibri"/>
              </a:rPr>
              <a:t>266,000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Records
Generated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81528" y="1463040"/>
            <a:ext cx="2560320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81528" y="1463040"/>
            <a:ext cx="256032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1528" y="1600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EEF"/>
                </a:solidFill>
                <a:latin typeface="Calibri"/>
              </a:rPr>
              <a:t>19 / 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Quality Checks
Passed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88736" y="1463040"/>
            <a:ext cx="2560320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88736" y="1463040"/>
            <a:ext cx="256032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88736" y="1600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EEF"/>
                </a:solidFill>
                <a:latin typeface="Calibri"/>
              </a:rPr>
              <a:t>~5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8736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End-to-End
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95944" y="1463040"/>
            <a:ext cx="2560320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95944" y="1463040"/>
            <a:ext cx="256032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4" y="1600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EEF"/>
                </a:solidFill>
                <a:latin typeface="Calibri"/>
              </a:rPr>
              <a:t>$0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95944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Development
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834640"/>
            <a:ext cx="53949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2834640"/>
            <a:ext cx="5394960" cy="508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72"/>
                </a:solidFill>
                <a:latin typeface="Calibri"/>
              </a:rPr>
              <a:t>What We Built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✔  Medallion pipeline: Bronze → Silver → Gold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7581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✔  3 source formats: CSV (meters), SQLite DB (assets), Parquet (forecasts)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330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✔  Delta Sharing: simulated Utilitics → vendor (read-only protocol)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5079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✔  ChatOps: WhatsApp → Claude AI → pipeline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828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✔  Power BI: 4 Gold tables connected as dashboards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257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✔  SQLite as real DB source (Azure SQL in Part 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6327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✔  Full docs: Word guide, PPT, flow diagram (HTML)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0076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✔  CI/CD: GitHub Actions + nightly build + WhatsApp alerts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2834640"/>
            <a:ext cx="5943600" cy="3291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0" y="2834640"/>
            <a:ext cx="5943600" cy="508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2926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BC9C"/>
                </a:solidFill>
                <a:latin typeface="Calibri"/>
              </a:rPr>
              <a:t>Live Highlight — ChatOps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4290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EEF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3429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AEEF"/>
                </a:solidFill>
                <a:latin typeface="Calibri"/>
              </a:rPr>
              <a:t>WhatsApp message: 'Run pipeline'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381304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EE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3813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Twilio receives → sends to webhook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19709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EEF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41970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FastAPI webhook → Claude AI (tool use)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4581144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EE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458114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AEEF"/>
                </a:solidFill>
                <a:latin typeface="Calibri"/>
              </a:rPr>
              <a:t>Claude calls run_pipeline tool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496519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EEF"/>
                </a:solidFill>
                <a:latin typeface="Calibri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49651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Pipeline runs in background (~3.5 min)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534924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EEF"/>
                </a:solidFill>
                <a:latin typeface="Calibri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5349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BC9C"/>
                </a:solidFill>
                <a:latin typeface="Calibri"/>
              </a:rPr>
              <a:t>Result sent back to WhatsApp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Part 2 — Azure Cloud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Infrastructure complete. Pipeline ready to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11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292608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50876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508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Azure Subscription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508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Pay-As-You-Go | Sub ID: d926b212-...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33372"/>
            <a:ext cx="292608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83337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8333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Resource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18333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rg-databricks-poc (UK South)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57984"/>
            <a:ext cx="292608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15798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21579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Databricks Workspace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21579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dbw-poc-datasharing — Premium SKU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482596"/>
            <a:ext cx="292608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48259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4825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ADLS Gen2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24825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stpocadls4417 — raw-data + processed-data containers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807208"/>
            <a:ext cx="292608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807208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28072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Data Uploaded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28072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69 files (Parquet) uploaded to ADLS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131820"/>
            <a:ext cx="292608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13182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31318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Secret 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31318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poc-secrets — storage key secured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456432"/>
            <a:ext cx="292608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45643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34564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Cluster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34564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poc-single-node — Standard_E2s_v3, 10 min auto-terminate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781044"/>
            <a:ext cx="292608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78104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37810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Unity Catalog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37810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Auto-enabled — data_sharing_poc catalog created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1508760"/>
            <a:ext cx="292608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150876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1508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Schemas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1508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bronze / silver / gold schemas created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1833372"/>
            <a:ext cx="292608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183337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8272" y="18333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Notebooks Deployed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18333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9 notebooks uploaded to /POC/ workspace folder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157984"/>
            <a:ext cx="292608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215798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48272" y="21579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  <a:latin typeface="Calibri"/>
              </a:rPr>
              <a:t>CI/CD Implemented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21579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GitHub Actions CI + CD + nightly build + WhatsApp alerts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482596"/>
            <a:ext cx="292608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248259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48272" y="24825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Pipeline Run on Azure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24825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01_generate_data → 05_validate — NEXT STEP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2807208"/>
            <a:ext cx="292608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2807208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48272" y="28072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Tables in Unity Catalog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28072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Register Delta tables after pipeline run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131820"/>
            <a:ext cx="292608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313182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8272" y="31318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Real Delta Sharing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32520" y="31318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Phase 8 — Unity Catalog sharing setup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3456432"/>
            <a:ext cx="292608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0" y="345643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48272" y="34564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Databricks Workflows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32520" y="34564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Phase 9 — scheduled pipeline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781044"/>
            <a:ext cx="292608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0" y="378104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48272" y="37810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Azure Functions ChatOps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32520" y="37810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Phase 10 — permanent webhook (no ngrok)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What makes this POC stand 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12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3474720" cy="1737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508760"/>
            <a:ext cx="3474720" cy="635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508760"/>
            <a:ext cx="63500" cy="17373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184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EEF"/>
                </a:solidFill>
                <a:latin typeface="Calibri"/>
              </a:rPr>
              <a:t>Zero-Cost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07568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7"/>
                </a:solidFill>
                <a:latin typeface="Calibri"/>
              </a:rPr>
              <a:t>$0 spent during entire Part 1. Full platform validated before any Azure spend.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42232" y="1508760"/>
            <a:ext cx="3474720" cy="1737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42232" y="1508760"/>
            <a:ext cx="3474720" cy="635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42232" y="1508760"/>
            <a:ext cx="63500" cy="17373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16184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BC9C"/>
                </a:solidFill>
                <a:latin typeface="Calibri"/>
              </a:rPr>
              <a:t>Live End-to-End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2" y="207568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7"/>
                </a:solidFill>
                <a:latin typeface="Calibri"/>
              </a:rPr>
              <a:t>WhatsApp message triggers Claude AI which controls the pipeline. Tested live on 2026-03-20.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0144" y="1508760"/>
            <a:ext cx="3474720" cy="1737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0144" y="1508760"/>
            <a:ext cx="3474720" cy="635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1508760"/>
            <a:ext cx="63500" cy="17373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4" y="16184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72"/>
                </a:solidFill>
                <a:latin typeface="Calibri"/>
              </a:rPr>
              <a:t>Production-Grade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207568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7"/>
                </a:solidFill>
                <a:latin typeface="Calibri"/>
              </a:rPr>
              <a:t>Medallion pattern, Delta Lake ACID, Unity Catalog governance — same as enterprise deployments.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429000"/>
            <a:ext cx="3474720" cy="1737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429000"/>
            <a:ext cx="3474720" cy="635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429000"/>
            <a:ext cx="63500" cy="1737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5387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  <a:latin typeface="Calibri"/>
              </a:rPr>
              <a:t>Mixed Data 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99592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7"/>
                </a:solidFill>
                <a:latin typeface="Calibri"/>
              </a:rPr>
              <a:t>CSV (meter readings) + SQLite DB (assets) + Parquet (forecasts) — 3 real-world source formats ingested in one pipeline.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42232" y="3429000"/>
            <a:ext cx="3474720" cy="1737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42232" y="3429000"/>
            <a:ext cx="3474720" cy="635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42232" y="3429000"/>
            <a:ext cx="63500" cy="17373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79392" y="35387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EEF"/>
                </a:solidFill>
                <a:latin typeface="Calibri"/>
              </a:rPr>
              <a:t>Same Code — Two Environments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399592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7"/>
                </a:solidFill>
                <a:latin typeface="Calibri"/>
              </a:rPr>
              <a:t>Only 3 lines change between local and Azure. No rewrite. No rework. Proven migration path.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10144" y="3429000"/>
            <a:ext cx="3474720" cy="1737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10144" y="3429000"/>
            <a:ext cx="3474720" cy="635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10144" y="3429000"/>
            <a:ext cx="63500" cy="17373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47304" y="35387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BC9C"/>
                </a:solidFill>
                <a:latin typeface="Calibri"/>
              </a:rPr>
              <a:t>CI/CD + Documentation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47304" y="399592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6F7"/>
                </a:solidFill>
                <a:latin typeface="Calibri"/>
              </a:rPr>
              <a:t>GitHub Actions CI (syntax &amp; secrets) + CD (auto-deploy) + nightly build + WhatsApp alerts. Full docs auto-generated.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Remaining phases — Azure pipeline to production-ready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13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508760"/>
            <a:ext cx="2651760" cy="635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508760"/>
            <a:ext cx="2651760" cy="4114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508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011680"/>
            <a:ext cx="54864" cy="27432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116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Run Azure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31343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01_generate_data → 05_validate on cloud cluster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200400"/>
            <a:ext cx="54864" cy="27432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Register Unity Catalog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0215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Register Delta tables — CI/CD + nightly build already 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50876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1508760"/>
            <a:ext cx="2651760" cy="635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1508760"/>
            <a:ext cx="2651760" cy="4114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1508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2011680"/>
            <a:ext cx="54864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20116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Real Delta Sharing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231343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Unity Catalog shares — Utilitics → Vendor (read-only protocol)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3200400"/>
            <a:ext cx="54864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32004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Vendor write-back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50215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Separate share or REST API for vendor → Utilitics responses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50876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1508760"/>
            <a:ext cx="2651760" cy="635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508760"/>
            <a:ext cx="2651760" cy="4114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1508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2011680"/>
            <a:ext cx="54864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0116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Databricks Workflows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31343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Scheduled DAG replacing manual notebook runs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3200400"/>
            <a:ext cx="54864" cy="2743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2004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Alerting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50215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Email/WhatsApp on failure, Azure Monitor integration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150876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89720" y="1508760"/>
            <a:ext cx="2651760" cy="635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89720" y="1508760"/>
            <a:ext cx="265176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1508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2011680"/>
            <a:ext cx="54864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64040" y="20116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Azure Functions webhook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40" y="231343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Permanent ChatOps endpoint — no more ngrok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3200400"/>
            <a:ext cx="54864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32004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Azure SQL migration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3502152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8D"/>
                </a:solidFill>
                <a:latin typeface="Calibri"/>
              </a:rPr>
              <a:t>Replace SQLite with Azure SQL (one connection string change)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What this platform delivers when complete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14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3474720" cy="1691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508760"/>
            <a:ext cx="3474720" cy="635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EEF"/>
                </a:solidFill>
                <a:latin typeface="Calibri"/>
              </a:rPr>
              <a:t>Cost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03911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7"/>
                </a:solidFill>
                <a:latin typeface="Calibri"/>
              </a:rPr>
              <a:t>~$5-8/month on Azure vs enterprise alternatives at $500+/month.
Full Premium Databricks features at minimal cost.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2232" y="1508760"/>
            <a:ext cx="3474720" cy="1691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42232" y="1508760"/>
            <a:ext cx="3474720" cy="635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BC9C"/>
                </a:solidFill>
                <a:latin typeface="Calibri"/>
              </a:rPr>
              <a:t>Data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2" y="203911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7"/>
                </a:solidFill>
                <a:latin typeface="Calibri"/>
              </a:rPr>
              <a:t>Unity Catalog provides centralised access control, lineage tracking,
and auditable data sharing — meets compliance requirements.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1508760"/>
            <a:ext cx="3474720" cy="1691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1508760"/>
            <a:ext cx="3474720" cy="635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72"/>
                </a:solidFill>
                <a:latin typeface="Calibri"/>
              </a:rPr>
              <a:t>Vendor Data Sharing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203911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7"/>
                </a:solidFill>
                <a:latin typeface="Calibri"/>
              </a:rPr>
              <a:t>Delta Sharing protocol allows external vendors to access
Gold data securely without copying or exposing raw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83280"/>
            <a:ext cx="3474720" cy="1691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383280"/>
            <a:ext cx="3474720" cy="635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  <a:latin typeface="Calibri"/>
              </a:rPr>
              <a:t>Operational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91363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7"/>
                </a:solidFill>
                <a:latin typeface="Calibri"/>
              </a:rPr>
              <a:t>Pipeline controllable via WhatsApp from anywhere.
Claude AI interprets natural language commands — no CLI needed.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42232" y="3383280"/>
            <a:ext cx="3474720" cy="1691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42232" y="3383280"/>
            <a:ext cx="3474720" cy="635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9392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EEF"/>
                </a:solidFill>
                <a:latin typeface="Calibri"/>
              </a:rPr>
              <a:t>Scalability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391363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7"/>
                </a:solidFill>
                <a:latin typeface="Calibri"/>
              </a:rPr>
              <a:t>From 266K records (POC) to millions — same architecture.
Add more data sources by adding one notebook.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10144" y="3383280"/>
            <a:ext cx="3474720" cy="1691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10144" y="3383280"/>
            <a:ext cx="3474720" cy="635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47304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BC9C"/>
                </a:solidFill>
                <a:latin typeface="Calibri"/>
              </a:rPr>
              <a:t>Team Enablement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47304" y="391363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6F7"/>
                </a:solidFill>
                <a:latin typeface="Calibri"/>
              </a:rPr>
              <a:t>Full documentation, conversation log, and guides created.
Any team member can pick up, understand, and extend the work.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657600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00AEE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8C8D"/>
                </a:solidFill>
                <a:latin typeface="Calibri"/>
              </a:rPr>
              <a:t>Presenter: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2004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Radhakrishnan Karnakumar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8C8D"/>
                </a:solidFill>
                <a:latin typeface="Calibri"/>
              </a:rPr>
              <a:t>Workspace: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61188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https://adb-7405604806384457.17.azuredatabricks.net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8C8D"/>
                </a:solidFill>
                <a:latin typeface="Calibri"/>
              </a:rPr>
              <a:t>Repo: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0233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C:/Projects/databricks-poc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348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8C8D"/>
                </a:solidFill>
                <a:latin typeface="Calibri"/>
              </a:rPr>
              <a:t>Docs: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4348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docs/Utilitics_Implementation_Guide.docx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371600"/>
            <a:ext cx="2926080" cy="4572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371600"/>
            <a:ext cx="2926080" cy="50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4447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EEF"/>
                </a:solidFill>
                <a:latin typeface="Calibri"/>
              </a:rPr>
              <a:t>POC IN NUMBERS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  <a:latin typeface="Calibri"/>
              </a:rPr>
              <a:t>UTILITICS | Azure Databricks Data Sharing Platform |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F8C8D"/>
                </a:solidFill>
                <a:latin typeface="Calibri"/>
              </a:rPr>
              <a:t>15 /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9202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AEEF"/>
                </a:solidFill>
                <a:latin typeface="Calibri"/>
              </a:rPr>
              <a:t>266,000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19202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records generated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3042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AEEF"/>
                </a:solidFill>
                <a:latin typeface="Calibri"/>
              </a:rPr>
              <a:t>19 / 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23042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quality checks 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68833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AEEF"/>
                </a:solidFill>
                <a:latin typeface="Calibri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6883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Azure components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07238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AEEF"/>
                </a:solidFill>
                <a:latin typeface="Calibr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307238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notebooks deployed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45643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AEE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34564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Claude AI 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8404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AEEF"/>
                </a:solidFill>
                <a:latin typeface="Calibri"/>
              </a:rPr>
              <a:t>$0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3840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local dev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22452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AEEF"/>
                </a:solidFill>
                <a:latin typeface="Calibri"/>
              </a:rPr>
              <a:t>~$5-8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4224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per month on Azure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