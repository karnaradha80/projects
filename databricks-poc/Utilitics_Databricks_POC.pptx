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UTILITICS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Azure Databricks
Data Sharing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AEEF"/>
                </a:solidFill>
                <a:latin typeface="Calibri"/>
              </a:rPr>
              <a:t>Proof of Concept — Progress &amp; Roadmap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3657600" cy="254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Presented by:  Radhakrishnan Karnakumar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Date: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Audience:  Executive Leadership + Technical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371600"/>
            <a:ext cx="2286000" cy="4114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011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EEF"/>
                </a:solidFill>
                <a:latin typeface="Calibri"/>
              </a:rPr>
              <a:t>POC
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3200400"/>
            <a:ext cx="1920240" cy="254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BC9C"/>
                </a:solidFill>
                <a:latin typeface="Calibri"/>
              </a:rPr>
              <a:t>Part 1
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023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  <a:latin typeface="Calibri"/>
              </a:rPr>
              <a:t>Part 2
In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Requirement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What was asked — and how we tackled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2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4864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48640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  <a:latin typeface="Calibri"/>
              </a:rPr>
              <a:t>What Was Asked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Build a Data Sharing Platform on Azure Databricks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76271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Handle 3 types of real energy data from Utilitics: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7802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4F72"/>
                </a:solidFill>
                <a:latin typeface="Calibri"/>
              </a:rPr>
              <a:t>  Time Series  — 168K meter readings  (CSV file drops)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79775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4F72"/>
                </a:solidFill>
                <a:latin typeface="Calibri"/>
              </a:rPr>
              <a:t>  Snapshot     — 14K network assets   (SQLite database)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8152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4F72"/>
                </a:solidFill>
                <a:latin typeface="Calibri"/>
              </a:rPr>
              <a:t>  File Data    — 84K demand forecasts (Parquet files)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7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Medallion architecture: Bronze -&gt; Silver -&gt; 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85031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Secure Delta Sharing with external vendors (read-only)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8678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Pipeline automation &amp; monitoring (ChatOps via WhatsApp)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88535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Budget: under $25 / month on Azure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00600"/>
            <a:ext cx="5486400" cy="25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  <a:latin typeface="Calibri"/>
              </a:rPr>
              <a:t>Success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93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C9C"/>
                </a:solidFill>
                <a:latin typeface="Calibri"/>
              </a:rPr>
              <a:t>+ Full pipeline end-to-end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93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C9C"/>
                </a:solidFill>
                <a:latin typeface="Calibri"/>
              </a:rPr>
              <a:t>+ 19/19 quality checks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681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C9C"/>
                </a:solidFill>
                <a:latin typeface="Calibri"/>
              </a:rPr>
              <a:t>+ Delta Sharing: Utilitics -&gt; Vendor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681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C9C"/>
                </a:solidFill>
                <a:latin typeface="Calibri"/>
              </a:rPr>
              <a:t>+ Pipeline via WhatsApp (live tested)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42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o Azure cloud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742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o Workflows scheduling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371600"/>
            <a:ext cx="5852160" cy="5166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1371600"/>
            <a:ext cx="585216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4447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  <a:latin typeface="Calibri"/>
              </a:rPr>
              <a:t>Our Approach  —  Local First, Then Azure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874519"/>
            <a:ext cx="5394960" cy="1417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74519"/>
            <a:ext cx="5394960" cy="381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901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  <a:latin typeface="Calibri"/>
              </a:rPr>
              <a:t>PHASE 1 - Local Development  [DONE]  ($0 cost)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2219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  Full pipeline on Windows 11 laptop - PySpark + Delta Lake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46888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  Same code as cloud - validated before any Azure spend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7157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  ChatOps live: WhatsApp -&gt; Claude AI -&gt; pipeline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296265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  CI/CD: GitHub Actions + nightly build + WhatsApp alerts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364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Calibri"/>
              </a:rPr>
              <a:t>   Same code - only 3 config path changes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703320"/>
            <a:ext cx="5394960" cy="2606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703320"/>
            <a:ext cx="539496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730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alibri"/>
              </a:rPr>
              <a:t>PHASE 2 - Azure Migration  [IN PROGRESS]  (~$5-8/month)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0690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+ Resource group, ADLS Gen2, Databricks Premium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3342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+ Unity Catalog, secret scope, cluster running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5994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+ 9 notebooks deployed (abfss:// paths)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8646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+ CI/CD auto-deploys on every push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1297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o Run Azure pipeline (01-05) - NEXT STEP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3949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o Real Delta Sharing via Unity Catalog (Phase 8)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6601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o Databricks Workflows scheduling (Phase 9)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9253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o Azure Functions ChatOps (Phase 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Azure Databricks?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Unified analytics platform — built for big data at cloud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3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749039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087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EEF"/>
                </a:solidFill>
                <a:latin typeface="Calibri"/>
              </a:rPr>
              <a:t>Unified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92024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  <a:latin typeface="Calibri"/>
              </a:rPr>
              <a:t>One platform for data engineering, ML, and BI analytics.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77440"/>
            <a:ext cx="3474719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8716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Apache Spark compute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87121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Delta Lake storage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255264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SQL, Python, Scala, 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3931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Notebooks + Jobs + Dashboards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417320"/>
            <a:ext cx="3749039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1417320"/>
            <a:ext cx="3749039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19" y="15087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BC9C"/>
                </a:solidFill>
                <a:latin typeface="Calibri"/>
              </a:rPr>
              <a:t>Cloud-Native on Azure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192024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  <a:latin typeface="Calibri"/>
              </a:rPr>
              <a:t>Deep Azure integration — secure, scalable, pay-per-use.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19" y="2377440"/>
            <a:ext cx="3474719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248716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ADLS Gen2 (abfss://)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287121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Azure AD + Unity Catalog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9" y="3255264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Auto-scaling clusters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363931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DevOps &amp; GitHub 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8" y="1417320"/>
            <a:ext cx="3749039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598" y="1417320"/>
            <a:ext cx="3749039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8" y="15087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Why We Chose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8" y="192024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  <a:latin typeface="Calibri"/>
              </a:rPr>
              <a:t>Best fit for energy data: volume, variety, and sharing.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58" y="2377440"/>
            <a:ext cx="3474719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8" y="248716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Handles TB-scale time-series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8" y="287121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Delta Sharing: vendor read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8" y="3255264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Medallion (Bronze/Silver/Gold)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8" y="363931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  Same code local + cloud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2362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EF"/>
                </a:solidFill>
                <a:latin typeface="Calibri"/>
              </a:rPr>
              <a:t>10,000+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64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customers worldwide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62362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EF"/>
                </a:solidFill>
                <a:latin typeface="Calibri"/>
              </a:rPr>
              <a:t>$43B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6464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Databricks 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62362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EF"/>
                </a:solidFill>
                <a:latin typeface="Calibri"/>
              </a:rPr>
              <a:t>Apache Spark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6464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open-source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62362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EF"/>
                </a:solidFill>
                <a:latin typeface="Calibri"/>
              </a:rPr>
              <a:t>Delta 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6464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ACID transactions on data lake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62362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EF"/>
                </a:solidFill>
                <a:latin typeface="Calibri"/>
              </a:rPr>
              <a:t>Unity Catalog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6464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single governance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End-to-end data flow: Sources -&gt; Bronze -&gt; Silver -&gt; Gold -&gt; Sharing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4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2240280" cy="4389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417320"/>
            <a:ext cx="22402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4630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Calibri"/>
              </a:rPr>
              <a:t>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874519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CSV (meter readings)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203703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SQLite (network assets)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532887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Parquet (ERM forecasts)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4612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EF"/>
                </a:solidFill>
                <a:latin typeface="Calibri"/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417320"/>
            <a:ext cx="2240280" cy="4389120"/>
          </a:xfrm>
          <a:prstGeom prst="rect">
            <a:avLst/>
          </a:prstGeom>
          <a:solidFill>
            <a:srgbClr val="6E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1417320"/>
            <a:ext cx="22402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14630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Calibri"/>
              </a:rPr>
              <a:t>BRONZE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1874519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Raw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203703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Metadata columns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532887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Partition by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862071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Delta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4612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EF"/>
                </a:solidFill>
                <a:latin typeface="Calibri"/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1417320"/>
            <a:ext cx="2240280" cy="438912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1417320"/>
            <a:ext cx="22402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14630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Calibri"/>
              </a:rPr>
              <a:t>SILVER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1874519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Quality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203703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Deduplication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532887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Type 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862071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19 DQ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24612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EF"/>
                </a:solidFill>
                <a:latin typeface="Calibri"/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1417320"/>
            <a:ext cx="2240280" cy="4389120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60920" y="1417320"/>
            <a:ext cx="22402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14630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Calibri"/>
              </a:rPr>
              <a:t>GOLD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1874519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Business aggregates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203703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Daily meter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532887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Regional demand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2862071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Forecast KPIs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24612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EF"/>
                </a:solidFill>
                <a:latin typeface="Calibri"/>
              </a:rPr>
              <a:t>-&gt;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8360" y="1417320"/>
            <a:ext cx="2240280" cy="4389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38360" y="1417320"/>
            <a:ext cx="22402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14630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Calibri"/>
              </a:rPr>
              <a:t>DELTA SHARING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1874519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Unity Catalog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2203703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Read-only tokens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2532887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Vendor access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2862071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Audit logs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943600"/>
            <a:ext cx="1170432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" y="5943600"/>
            <a:ext cx="1170432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96188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AUTOMATION  |  ChatOps: WhatsApp -&gt; Twilio -&gt; Claude AI (7 tools) -&gt; Pipeline   |   CI/CD: GitHub Actions -&gt; Databricks   |   Nightly Build: Task Scheduler 2AM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F8C8D"/>
                </a:solidFill>
                <a:latin typeface="Calibri"/>
              </a:rPr>
              <a:t>MODE flag: local (Windows) -&gt; azure (cloud) — same notebooks, 3 path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Sources &amp; Medallion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Three source formats ingested, quality-checked, and aggregated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5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3749039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463040"/>
            <a:ext cx="3529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  <a:latin typeface="Calibri"/>
              </a:rPr>
              <a:t>Time 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01368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Smart meter half-hourly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0312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Format: CSV file drops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3774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EEF"/>
                </a:solidFill>
                <a:latin typeface="Calibri"/>
              </a:rPr>
              <a:t>168,000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670048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500 meters x 7 days x 48 readings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7160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371600"/>
            <a:ext cx="3749039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7" y="1463040"/>
            <a:ext cx="3529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7" y="1801368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Daily network asset status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7" y="210312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Format: SQLite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7" y="23774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C9C"/>
                </a:solidFill>
                <a:latin typeface="Calibri"/>
              </a:rPr>
              <a:t>14,000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7" y="2670048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2,000 assets x 7 daily snapshots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8" y="137160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598" y="1371600"/>
            <a:ext cx="3749039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6" y="1463040"/>
            <a:ext cx="3529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File / Forecast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6" y="1801368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ERM demand forecast with confidence bands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6" y="210312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Format: Parquet columnar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6" y="23774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84,000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6" y="2670048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500 forecasts x 168 horizon hours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"/>
              </a:rPr>
              <a:t>Medallion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94760"/>
            <a:ext cx="116128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931920"/>
            <a:ext cx="3657600" cy="2148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931920"/>
            <a:ext cx="3657600" cy="635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977639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7F32"/>
                </a:solidFill>
                <a:latin typeface="Calibri"/>
              </a:rPr>
              <a:t>BRONZE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279392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Raw ingestion — no transforms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55371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Append-only Delta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87375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Metadata: source, date,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19379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Partition by ingestion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51383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Preserves raw data forever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3931920"/>
            <a:ext cx="3657600" cy="2148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60520" y="3931920"/>
            <a:ext cx="3657600" cy="635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8" y="3977639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C0C0"/>
                </a:solidFill>
                <a:latin typeface="Calibri"/>
              </a:rPr>
              <a:t>SILVER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279392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Cleaned &amp; validated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455371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19 data quality checks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487375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Dedup, null filter, range checks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8" y="519379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Quality flags retained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0248" y="551383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Rejects &lt; 20% drop 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3931920"/>
            <a:ext cx="3657600" cy="2148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3931920"/>
            <a:ext cx="3657600" cy="635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6448" y="3977639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GOLD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56448" y="4279392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Business-ready aggregates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455371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Daily meter 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448" y="487375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Regional demand totals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519379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Network asset health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6448" y="5513832"/>
            <a:ext cx="343814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Forecast confidence KPIs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POC Status &amp; 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Part 1 complete — Part 2 Azure migration in progress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6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14884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214884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EEF"/>
                </a:solidFill>
                <a:latin typeface="Calibri"/>
              </a:rPr>
              <a:t>266K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031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Total Records
Generated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417320"/>
            <a:ext cx="214884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417320"/>
            <a:ext cx="214884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15544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BC9C"/>
                </a:solidFill>
                <a:latin typeface="Calibri"/>
              </a:rPr>
              <a:t>19/19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1031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Quality Checks
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417320"/>
            <a:ext cx="214884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417320"/>
            <a:ext cx="214884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5544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F72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1031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Notebooks
Deployed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417320"/>
            <a:ext cx="214884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1417320"/>
            <a:ext cx="214884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5544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67E22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1031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ChatOps AI
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417320"/>
            <a:ext cx="214884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417320"/>
            <a:ext cx="214884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5544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BC9C"/>
                </a:solidFill>
                <a:latin typeface="Calibri"/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1031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Cloud Cost
Part 1 (Local)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51760"/>
            <a:ext cx="55778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651760"/>
            <a:ext cx="557784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6883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Calibri"/>
              </a:rPr>
              <a:t>Part 1 — Local POC  [COMPLETE]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10896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27248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1272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108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Data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108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168K + 14K + 84K records, 3 formats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3438144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456432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456432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4381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Bronze ingestion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34381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CSV, SQLite, Parquet -&gt; Delta Lake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376732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785616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7856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3767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Silver quality checks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767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19 DQ rules, dedup, null filter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09651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114800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11480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40965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Gold aggregations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096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4 gold tables: meter, demand, assets, forecast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425696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443984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44398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44256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Delta Sharing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4256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Vendor token, profile JSON, read-only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75488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73168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477316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4754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ChatOps (WhatsApp)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4754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7 tools: run, status, quality, logs, CI...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5084064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102352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102352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0840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CI/CD pipeline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50840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GitHub Actions -&gt; Databricks auto-deploy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541324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431536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43153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54132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Nightly build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54132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Windows Task Scheduler 2AM + WhatsApp alert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574243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760720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576072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7424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Full pipeline run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34640" y="57424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234.5 sec, ALL STEPS PASSED on laptop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2651760"/>
            <a:ext cx="5852160" cy="3566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035040" y="2651760"/>
            <a:ext cx="585216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26883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Part 2 — Azure Migration  [IN PROGRESS]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72200" y="3127248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72200" y="31272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46520" y="31089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group + ADLS Gen2 provisioned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3429000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342900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46520" y="3410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Databricks Premium + Unity Catalog enabled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3730752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72200" y="3730752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46520" y="37124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Cluster running (Standard_DS3_v2)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4032504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2200" y="403250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6520" y="40142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 notebooks uploaded via CI/CD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72200" y="4334256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72200" y="433425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46520" y="43159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abfss:// paths configured in config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72200" y="4636008"/>
            <a:ext cx="201168" cy="21945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72200" y="463600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46520" y="46177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Secret scope for credentials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72200" y="4937760"/>
            <a:ext cx="201168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72200" y="493776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46520" y="4919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Run full pipeline 01-&gt;05 on Databricks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72200" y="5239512"/>
            <a:ext cx="201168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72200" y="5239512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46520" y="52212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Register Delta tables in Unity Catalog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72200" y="5541264"/>
            <a:ext cx="201168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72200" y="554126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46520" y="55229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Real Delta Sharing (Phase 8)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72200" y="5843016"/>
            <a:ext cx="201168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72200" y="58430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46520" y="58247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Databricks Workflows scheduling (Phase 9)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72200" y="6144768"/>
            <a:ext cx="201168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72200" y="614476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46520" y="6126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  <a:latin typeface="Calibri"/>
              </a:rPr>
              <a:t>Azure Functions for permanent ChatOps (Phase 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ChatOps &amp; CI/CD — Pipeline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Control the entire pipeline from WhatsApp — and deploy code via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7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66928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6692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ChatOps — WhatsApp Pipeline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5303520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56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WhatsApp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9568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User sends: 'run pipeline'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774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EEF"/>
                </a:solidFill>
                <a:latin typeface="Calibri"/>
              </a:rPr>
              <a:t>  |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87168"/>
            <a:ext cx="530352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237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Twilio Webhook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5237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Routes message to FastAPI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94436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EEF"/>
                </a:solidFill>
                <a:latin typeface="Calibri"/>
              </a:rPr>
              <a:t>  |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54096"/>
            <a:ext cx="530352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ngrok Tunnel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0906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Exposes localhost:8000 to 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51129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EEF"/>
                </a:solidFill>
                <a:latin typeface="Calibri"/>
              </a:rPr>
              <a:t>  |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21024"/>
            <a:ext cx="53035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FastAPI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657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automation/chatops_server.py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07822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EEF"/>
                </a:solidFill>
                <a:latin typeface="Calibri"/>
              </a:rPr>
              <a:t>  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87952"/>
            <a:ext cx="530352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24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Claude AI (7 tools)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2245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Interprets intent, calls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64515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EEF"/>
                </a:solidFill>
                <a:latin typeface="Calibri"/>
              </a:rPr>
              <a:t>  |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54880"/>
            <a:ext cx="530352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914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Pipeline / CI /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7914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Executes action, returns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40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Calibri"/>
              </a:rPr>
              <a:t>7 Available Tools: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F6F7"/>
                </a:solidFill>
                <a:latin typeface="Calibri"/>
              </a:rPr>
              <a:t>run_pipeline  |  get_status  |  get_quality_report  |  get_logs  |  get_pipeline_config  |  run_ci  |  share_data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417320"/>
            <a:ext cx="566928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417320"/>
            <a:ext cx="566928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463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Calibri"/>
              </a:rPr>
              <a:t>CI/CD — Automated Code Quality &amp; Deploy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920240"/>
            <a:ext cx="530352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1956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git push -&gt; main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19568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Developer pushes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237744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  |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487168"/>
            <a:ext cx="5303520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5237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GitHub Actions (CI)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5237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.github/workflows/ci.yml triggers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94436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  |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054096"/>
            <a:ext cx="5303520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check_syntax.py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30906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25 files: syntax + 6 secret patterns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351129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  |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621024"/>
            <a:ext cx="530352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3657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CI passes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657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0 errors, 0 secret leaks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407822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  |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187952"/>
            <a:ext cx="530352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4224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GitHub Actions (CD)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2245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.github/workflows/cd.yml triggers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464515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  <a:latin typeface="Calibri"/>
              </a:rPr>
              <a:t>  |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47914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upload_notebooks.py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47914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9 notebooks auto-deployed to Databricks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5440680"/>
            <a:ext cx="5303520" cy="5029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55046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Nightly Build: Windows Task Scheduler @ 2AM  -&gt;  full pipeline  -&gt;  WhatsApp alert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Value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What this delivers — and what comes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8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6692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66928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  <a:latin typeface="Calibri"/>
              </a:rPr>
              <a:t>Business Value Delivered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530352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63500" cy="685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568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EEF"/>
                </a:solidFill>
                <a:latin typeface="Calibri"/>
              </a:rPr>
              <a:t>Zero-Copy Data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Vendors read Gold data without copy/export. No PII exposure, full audit trail.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80"/>
            <a:ext cx="530352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63500" cy="685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340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C9C"/>
                </a:solidFill>
                <a:latin typeface="Calibri"/>
              </a:rPr>
              <a:t>Cost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083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POC at $0 (local). Azure run &lt;$25/month. Scales to TB without RDBMS licensing.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30352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635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5112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Pipeline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85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19 DQ checks catch bad data before it reaches Gold. Nightly alerts via WhatsApp.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1960"/>
            <a:ext cx="530352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51960"/>
            <a:ext cx="63500" cy="685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88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  <a:latin typeface="Calibri"/>
              </a:rPr>
              <a:t>Developer Velocity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62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CI/CD auto-deploys on push. Same code local and cloud — no manual notebook uploads.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5303520" cy="6858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63500" cy="685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065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C9C"/>
                </a:solidFill>
                <a:latin typeface="Calibri"/>
              </a:rPr>
              <a:t>Real-Time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40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Operations team controls pipeline from WhatsApp — no VPN, no dashboard login needed.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417320"/>
            <a:ext cx="5669280" cy="4663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417320"/>
            <a:ext cx="56692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463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  <a:latin typeface="Calibri"/>
              </a:rPr>
              <a:t>Remaining Roadmap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920240"/>
            <a:ext cx="530352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920240"/>
            <a:ext cx="63500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19568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alibri"/>
              </a:rPr>
              <a:t>Phase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9568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Run full pipeline on Azure Databricks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2677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NEXT: Execute 01-&gt;05 on cluster — validates cloud config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724912"/>
            <a:ext cx="530352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2724912"/>
            <a:ext cx="63500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27614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alibri"/>
              </a:rPr>
              <a:t>Phase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27614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Real Delta Sharing via Unity Catalog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8" y="3072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Register Gold tables, issue vendor share tokens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529584"/>
            <a:ext cx="530352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3529584"/>
            <a:ext cx="63500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3566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alibri"/>
              </a:rPr>
              <a:t>Phase 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Databricks Workflows scheduling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3877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Replace manual runs with cron-scheduled jobs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334256"/>
            <a:ext cx="530352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4334256"/>
            <a:ext cx="63500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0528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alibri"/>
              </a:rPr>
              <a:t>Phase 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Azure Functions for ChatOps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4681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Permanent webhook (replaces ngrok) — production-ready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138928"/>
            <a:ext cx="5303520" cy="7132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0" y="5138928"/>
            <a:ext cx="63500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10528" y="51755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alibri"/>
              </a:rPr>
              <a:t>Phase 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5175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Power BI / Databricks SQL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0528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Dashboard on Gold layer for business users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6126480"/>
            <a:ext cx="1161288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1447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Budget:  Part 1 = $0 (laptop)  |  Part 2 = ~$5-8/month (Azure Premium)  |  Production estimate = $80-120/month (auto-scale clusters)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AEEF"/>
                </a:solidFill>
                <a:latin typeface="Calibri"/>
              </a:rPr>
              <a:t>Questions &amp; Open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4572000" cy="254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Presenter: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Radhakrishnan Karnakumar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GitHub: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github.com/RadhaK / databricks-poc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ChatOps: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WhatsApp -&gt; Twilio -&gt; Claude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Azure Tenant: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Databricks Premium + Unity Catalog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371600"/>
            <a:ext cx="4114800" cy="4846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411480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42646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Calibri"/>
              </a:rPr>
              <a:t>Key Takeaways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901952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190195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8836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Full end-to-end pipeline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2404872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4048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3865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266K records across 3 data formats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2907792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90779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8895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19/19 quality checks passing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3410712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410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3924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Live ChatOps via WhatsApp + Claude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3913632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391363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8953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CI/CD auto-deploys to Databricks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4416552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41655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3982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Azure infrastructure provisioned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4919472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49194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4901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Ready to run on cloud - next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Confidential |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